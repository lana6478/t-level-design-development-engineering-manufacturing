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Constraints: budget, cost, quality, time, safety, resources, communication, reputation, changing requirements. Collaborative working includes matrix working and collaborative technologies.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The brief, goals and success criteria are set.</a:t>
            </a:r>
          </a:p>
          <a:p>
            <a:r>
              <a:t>2. E.g. budget, time, quality.</a:t>
            </a:r>
          </a:p>
          <a:p>
            <a:r>
              <a:t>3. To learn lessons for future projects.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The shortest possible project length.</a:t>
            </a:r>
          </a:p>
          <a:p>
            <a:r>
              <a:t>2. Escalating only when limits are exceeded.</a:t>
            </a:r>
          </a:p>
          <a:p>
            <a:r>
              <a:t>3. Optimistic, likely and pessimistic time estimates.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ordering can start during design, the path is order, machine, assemble, test = 12 days; if it waits for design, 15 days. Discuss both.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ENGINEERING CORE</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Project and Programme Management</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topic 17</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17.1, 17.2, 17.3</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Design and Development for Engineering and Manufacturing T Level  ·  Lesson slides</a:t>
            </a:r>
          </a:p>
          <a:p>
            <a:pPr algn="l"/>
            <a:r>
              <a:rPr sz="1100" b="0" i="0">
                <a:solidFill>
                  <a:srgbClr val="A9C8F0"/>
                </a:solidFill>
                <a:latin typeface="Calibri"/>
              </a:rPr>
              <a:t>Unofficial teaching resource. Check the official City &amp; Guilds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17</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Project and Programme Management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Describe the project life cycle, constraints and risk management.</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Describe project roles and responsibilities.</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Plan a project using Gantt charts, CPA and PERT.</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Monitor and control a project by stages and by exception.</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Building a bridge involves hundreds of tasks. How would you know which ones can't be allowed to slip?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17</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project life cycle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Project and Programme Management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Projects follow a life cycle. Initiation sets the brief, goals and success criteria. Planning works out resources, schedule and risks. Implementation does the work. Monitoring tracks progress against the plan. Reporting keeps stakeholders informed. Evaluation reviews what went well and what to improve.</a:t>
            </a:r>
          </a:p>
          <a:p>
            <a:pPr>
              <a:spcAft>
                <a:spcPts val="1260"/>
              </a:spcAft>
            </a:pPr>
            <a:r>
              <a:rPr sz="2100" b="0">
                <a:solidFill>
                  <a:srgbClr val="202122"/>
                </a:solidFill>
                <a:latin typeface="Calibri"/>
              </a:rPr>
              <a:t>Constraints include budget, cost, quality, time, safety, resources, communication, reputation and changing requirements. Risks are managed throughout.</a:t>
            </a:r>
          </a:p>
          <a:p>
            <a:pPr>
              <a:spcAft>
                <a:spcPts val="1260"/>
              </a:spcAft>
            </a:pPr>
            <a:r>
              <a:rPr sz="2100" b="0">
                <a:solidFill>
                  <a:srgbClr val="202122"/>
                </a:solidFill>
                <a:latin typeface="Calibri"/>
              </a:rPr>
              <a:t>Collaborative working, including matrix structures and shared digital tools, helps teams work together.</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Designing a new jig: the brief sets the target cycle time, the plan schedules design, manufacture and testing, and the evaluation records lessons for the next jig.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17</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project life cycle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Project and Programme Management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ectangle 5"/>
          <p:cNvSpPr/>
          <p:nvPr/>
        </p:nvSpPr>
        <p:spPr>
          <a:xfrm>
            <a:off x="1416024" y="2816352"/>
            <a:ext cx="9359646"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95984" y="251460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291840"/>
            <a:ext cx="1734769" cy="731520"/>
          </a:xfrm>
          <a:prstGeom prst="rect">
            <a:avLst/>
          </a:prstGeom>
          <a:noFill/>
        </p:spPr>
        <p:txBody>
          <a:bodyPr wrap="square" anchor="t" lIns="0" rIns="0" tIns="0" bIns="0"/>
          <a:lstStyle/>
          <a:p>
            <a:pPr algn="ctr"/>
            <a:r>
              <a:rPr sz="1700" b="1" i="0">
                <a:solidFill>
                  <a:srgbClr val="03306E"/>
                </a:solidFill>
                <a:latin typeface="Calibri"/>
              </a:rPr>
              <a:t>Initiate</a:t>
            </a:r>
          </a:p>
        </p:txBody>
      </p:sp>
      <p:sp>
        <p:nvSpPr>
          <p:cNvPr id="9" name="Rounded Rectangle 8"/>
          <p:cNvSpPr/>
          <p:nvPr/>
        </p:nvSpPr>
        <p:spPr>
          <a:xfrm>
            <a:off x="548640" y="4069080"/>
            <a:ext cx="1734769" cy="11887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206240"/>
            <a:ext cx="1460449" cy="914400"/>
          </a:xfrm>
          <a:prstGeom prst="rect">
            <a:avLst/>
          </a:prstGeom>
          <a:noFill/>
        </p:spPr>
        <p:txBody>
          <a:bodyPr wrap="square" anchor="t" lIns="0" rIns="0" tIns="0" bIns="0"/>
          <a:lstStyle/>
          <a:p>
            <a:pPr algn="l"/>
            <a:r>
              <a:rPr sz="1700" b="0" i="0">
                <a:solidFill>
                  <a:srgbClr val="202122"/>
                </a:solidFill>
                <a:latin typeface="Calibri"/>
              </a:rPr>
              <a:t>Brief, goals and success criteria.</a:t>
            </a:r>
          </a:p>
        </p:txBody>
      </p:sp>
      <p:sp>
        <p:nvSpPr>
          <p:cNvPr id="11" name="Oval 10"/>
          <p:cNvSpPr/>
          <p:nvPr/>
        </p:nvSpPr>
        <p:spPr>
          <a:xfrm>
            <a:off x="2967913" y="251460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420569" y="3291840"/>
            <a:ext cx="1734769" cy="731520"/>
          </a:xfrm>
          <a:prstGeom prst="rect">
            <a:avLst/>
          </a:prstGeom>
          <a:noFill/>
        </p:spPr>
        <p:txBody>
          <a:bodyPr wrap="square" anchor="t" lIns="0" rIns="0" tIns="0" bIns="0"/>
          <a:lstStyle/>
          <a:p>
            <a:pPr algn="ctr"/>
            <a:r>
              <a:rPr sz="1700" b="1" i="0">
                <a:solidFill>
                  <a:srgbClr val="03306E"/>
                </a:solidFill>
                <a:latin typeface="Calibri"/>
              </a:rPr>
              <a:t>Plan</a:t>
            </a:r>
          </a:p>
        </p:txBody>
      </p:sp>
      <p:sp>
        <p:nvSpPr>
          <p:cNvPr id="13" name="Rounded Rectangle 12"/>
          <p:cNvSpPr/>
          <p:nvPr/>
        </p:nvSpPr>
        <p:spPr>
          <a:xfrm>
            <a:off x="2420569" y="4069080"/>
            <a:ext cx="1734769" cy="11887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57729" y="4206240"/>
            <a:ext cx="1460449" cy="914400"/>
          </a:xfrm>
          <a:prstGeom prst="rect">
            <a:avLst/>
          </a:prstGeom>
          <a:noFill/>
        </p:spPr>
        <p:txBody>
          <a:bodyPr wrap="square" anchor="t" lIns="0" rIns="0" tIns="0" bIns="0"/>
          <a:lstStyle/>
          <a:p>
            <a:pPr algn="l"/>
            <a:r>
              <a:rPr sz="1700" b="0" i="0">
                <a:solidFill>
                  <a:srgbClr val="202122"/>
                </a:solidFill>
                <a:latin typeface="Calibri"/>
              </a:rPr>
              <a:t>Resources, schedule, risks.</a:t>
            </a:r>
          </a:p>
        </p:txBody>
      </p:sp>
      <p:sp>
        <p:nvSpPr>
          <p:cNvPr id="15" name="Oval 14"/>
          <p:cNvSpPr/>
          <p:nvPr/>
        </p:nvSpPr>
        <p:spPr>
          <a:xfrm>
            <a:off x="4839843" y="251460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4292498" y="3291840"/>
            <a:ext cx="1734769" cy="731520"/>
          </a:xfrm>
          <a:prstGeom prst="rect">
            <a:avLst/>
          </a:prstGeom>
          <a:noFill/>
        </p:spPr>
        <p:txBody>
          <a:bodyPr wrap="square" anchor="t" lIns="0" rIns="0" tIns="0" bIns="0"/>
          <a:lstStyle/>
          <a:p>
            <a:pPr algn="ctr"/>
            <a:r>
              <a:rPr sz="1700" b="1" i="0">
                <a:solidFill>
                  <a:srgbClr val="03306E"/>
                </a:solidFill>
                <a:latin typeface="Calibri"/>
              </a:rPr>
              <a:t>Implement</a:t>
            </a:r>
          </a:p>
        </p:txBody>
      </p:sp>
      <p:sp>
        <p:nvSpPr>
          <p:cNvPr id="17" name="Rounded Rectangle 16"/>
          <p:cNvSpPr/>
          <p:nvPr/>
        </p:nvSpPr>
        <p:spPr>
          <a:xfrm>
            <a:off x="4292498" y="4069080"/>
            <a:ext cx="1734769" cy="11887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29658" y="4206240"/>
            <a:ext cx="1460449" cy="914400"/>
          </a:xfrm>
          <a:prstGeom prst="rect">
            <a:avLst/>
          </a:prstGeom>
          <a:noFill/>
        </p:spPr>
        <p:txBody>
          <a:bodyPr wrap="square" anchor="t" lIns="0" rIns="0" tIns="0" bIns="0"/>
          <a:lstStyle/>
          <a:p>
            <a:pPr algn="l"/>
            <a:r>
              <a:rPr sz="1700" b="0" i="0">
                <a:solidFill>
                  <a:srgbClr val="202122"/>
                </a:solidFill>
                <a:latin typeface="Calibri"/>
              </a:rPr>
              <a:t>Do the work.</a:t>
            </a:r>
          </a:p>
        </p:txBody>
      </p:sp>
      <p:sp>
        <p:nvSpPr>
          <p:cNvPr id="19" name="Oval 18"/>
          <p:cNvSpPr/>
          <p:nvPr/>
        </p:nvSpPr>
        <p:spPr>
          <a:xfrm>
            <a:off x="6711772" y="251460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6164427" y="3291840"/>
            <a:ext cx="1734769" cy="731520"/>
          </a:xfrm>
          <a:prstGeom prst="rect">
            <a:avLst/>
          </a:prstGeom>
          <a:noFill/>
        </p:spPr>
        <p:txBody>
          <a:bodyPr wrap="square" anchor="t" lIns="0" rIns="0" tIns="0" bIns="0"/>
          <a:lstStyle/>
          <a:p>
            <a:pPr algn="ctr"/>
            <a:r>
              <a:rPr sz="1700" b="1" i="0">
                <a:solidFill>
                  <a:srgbClr val="03306E"/>
                </a:solidFill>
                <a:latin typeface="Calibri"/>
              </a:rPr>
              <a:t>Monitor</a:t>
            </a:r>
          </a:p>
        </p:txBody>
      </p:sp>
      <p:sp>
        <p:nvSpPr>
          <p:cNvPr id="21" name="Rounded Rectangle 20"/>
          <p:cNvSpPr/>
          <p:nvPr/>
        </p:nvSpPr>
        <p:spPr>
          <a:xfrm>
            <a:off x="6164427" y="4069080"/>
            <a:ext cx="1734769" cy="11887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01587" y="4206240"/>
            <a:ext cx="1460449" cy="914400"/>
          </a:xfrm>
          <a:prstGeom prst="rect">
            <a:avLst/>
          </a:prstGeom>
          <a:noFill/>
        </p:spPr>
        <p:txBody>
          <a:bodyPr wrap="square" anchor="t" lIns="0" rIns="0" tIns="0" bIns="0"/>
          <a:lstStyle/>
          <a:p>
            <a:pPr algn="l"/>
            <a:r>
              <a:rPr sz="1700" b="0" i="0">
                <a:solidFill>
                  <a:srgbClr val="202122"/>
                </a:solidFill>
                <a:latin typeface="Calibri"/>
              </a:rPr>
              <a:t>Track against the plan.</a:t>
            </a:r>
          </a:p>
        </p:txBody>
      </p:sp>
      <p:sp>
        <p:nvSpPr>
          <p:cNvPr id="23" name="Oval 22"/>
          <p:cNvSpPr/>
          <p:nvPr/>
        </p:nvSpPr>
        <p:spPr>
          <a:xfrm>
            <a:off x="8583701" y="251460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8036356" y="3291840"/>
            <a:ext cx="1734769" cy="731520"/>
          </a:xfrm>
          <a:prstGeom prst="rect">
            <a:avLst/>
          </a:prstGeom>
          <a:noFill/>
        </p:spPr>
        <p:txBody>
          <a:bodyPr wrap="square" anchor="t" lIns="0" rIns="0" tIns="0" bIns="0"/>
          <a:lstStyle/>
          <a:p>
            <a:pPr algn="ctr"/>
            <a:r>
              <a:rPr sz="1700" b="1" i="0">
                <a:solidFill>
                  <a:srgbClr val="03306E"/>
                </a:solidFill>
                <a:latin typeface="Calibri"/>
              </a:rPr>
              <a:t>Report</a:t>
            </a:r>
          </a:p>
        </p:txBody>
      </p:sp>
      <p:sp>
        <p:nvSpPr>
          <p:cNvPr id="25" name="Rounded Rectangle 24"/>
          <p:cNvSpPr/>
          <p:nvPr/>
        </p:nvSpPr>
        <p:spPr>
          <a:xfrm>
            <a:off x="8036356" y="4069080"/>
            <a:ext cx="1734769" cy="11887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73516" y="4206240"/>
            <a:ext cx="1460449" cy="914400"/>
          </a:xfrm>
          <a:prstGeom prst="rect">
            <a:avLst/>
          </a:prstGeom>
          <a:noFill/>
        </p:spPr>
        <p:txBody>
          <a:bodyPr wrap="square" anchor="t" lIns="0" rIns="0" tIns="0" bIns="0"/>
          <a:lstStyle/>
          <a:p>
            <a:pPr algn="l"/>
            <a:r>
              <a:rPr sz="1700" b="0" i="0">
                <a:solidFill>
                  <a:srgbClr val="202122"/>
                </a:solidFill>
                <a:latin typeface="Calibri"/>
              </a:rPr>
              <a:t>Keep stakeholders informed.</a:t>
            </a:r>
          </a:p>
        </p:txBody>
      </p:sp>
      <p:sp>
        <p:nvSpPr>
          <p:cNvPr id="27" name="Oval 26"/>
          <p:cNvSpPr/>
          <p:nvPr/>
        </p:nvSpPr>
        <p:spPr>
          <a:xfrm>
            <a:off x="10455630" y="251460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6</a:t>
            </a:r>
          </a:p>
        </p:txBody>
      </p:sp>
      <p:sp>
        <p:nvSpPr>
          <p:cNvPr id="28" name="TextBox 27"/>
          <p:cNvSpPr txBox="1"/>
          <p:nvPr/>
        </p:nvSpPr>
        <p:spPr>
          <a:xfrm>
            <a:off x="9908286" y="3291840"/>
            <a:ext cx="1734769" cy="731520"/>
          </a:xfrm>
          <a:prstGeom prst="rect">
            <a:avLst/>
          </a:prstGeom>
          <a:noFill/>
        </p:spPr>
        <p:txBody>
          <a:bodyPr wrap="square" anchor="t" lIns="0" rIns="0" tIns="0" bIns="0"/>
          <a:lstStyle/>
          <a:p>
            <a:pPr algn="ctr"/>
            <a:r>
              <a:rPr sz="1700" b="1" i="0">
                <a:solidFill>
                  <a:srgbClr val="03306E"/>
                </a:solidFill>
                <a:latin typeface="Calibri"/>
              </a:rPr>
              <a:t>Evaluate</a:t>
            </a:r>
          </a:p>
        </p:txBody>
      </p:sp>
      <p:sp>
        <p:nvSpPr>
          <p:cNvPr id="29" name="Rounded Rectangle 28"/>
          <p:cNvSpPr/>
          <p:nvPr/>
        </p:nvSpPr>
        <p:spPr>
          <a:xfrm>
            <a:off x="9908286" y="4069080"/>
            <a:ext cx="1734769" cy="11887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45446" y="4206240"/>
            <a:ext cx="1460449" cy="914400"/>
          </a:xfrm>
          <a:prstGeom prst="rect">
            <a:avLst/>
          </a:prstGeom>
          <a:noFill/>
        </p:spPr>
        <p:txBody>
          <a:bodyPr wrap="square" anchor="t" lIns="0" rIns="0" tIns="0" bIns="0"/>
          <a:lstStyle/>
          <a:p>
            <a:pPr algn="l"/>
            <a:r>
              <a:rPr sz="1700" b="0" i="0">
                <a:solidFill>
                  <a:srgbClr val="202122"/>
                </a:solidFill>
                <a:latin typeface="Calibri"/>
              </a:rPr>
              <a:t>Review and learn.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17</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The project life cycle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Project and Programme Management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happens at initiation?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Name three project constraints.</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evaluate a finished project?</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17</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Roles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Project and Programme Management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Stakeholders</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Clients, regulators and others with an interest.</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Project manager</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Plans, monitors and controls the project.</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Team members</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Deliver the tasks and report progress.</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Responsibilities</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Communication, monitoring, planning, finance, reporting.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17</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Planning and control</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Project and Programme Management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Planning starts by identifying the resources needed: time, budget, people, training, communication and production facilities.</a:t>
            </a:r>
          </a:p>
          <a:p>
            <a:pPr>
              <a:spcAft>
                <a:spcPts val="1260"/>
              </a:spcAft>
            </a:pPr>
            <a:r>
              <a:rPr sz="2100" b="0">
                <a:solidFill>
                  <a:srgbClr val="202122"/>
                </a:solidFill>
                <a:latin typeface="Calibri"/>
              </a:rPr>
              <a:t>A Gantt chart shows tasks as bars on a timeline. Critical path analysis (CPA) finds the longest chain of dependent tasks, which sets the shortest possible project length. PERT uses optimistic, likely and pessimistic estimates. Contingency plans prepare for things going wrong.</a:t>
            </a:r>
          </a:p>
          <a:p>
            <a:pPr>
              <a:spcAft>
                <a:spcPts val="1260"/>
              </a:spcAft>
            </a:pPr>
            <a:r>
              <a:rPr sz="2100" b="0">
                <a:solidFill>
                  <a:srgbClr val="202122"/>
                </a:solidFill>
                <a:latin typeface="Calibri"/>
              </a:rPr>
              <a:t>Control uses monitoring reports on budget, quality, cost and time. Managing by stages approves each stage before the next; managing by exception escalates only when agreed limits are exceeded.</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Tasks: design 3 days, order parts 5, machine 4, assemble 2, test 1. If ordering can start during design, the critical path is order, machine, assemble, test: 12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17</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Planning and control</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Project and Programme Management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Planning tools</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Gantt charts:</a:t>
            </a:r>
            <a:r>
              <a:rPr sz="2200" b="0">
                <a:solidFill>
                  <a:srgbClr val="202122"/>
                </a:solidFill>
                <a:latin typeface="Calibri"/>
              </a:rPr>
              <a:t> tasks on a timeline</a:t>
            </a:r>
          </a:p>
          <a:p>
            <a:pPr marL="274320" indent="-274320">
              <a:spcAft>
                <a:spcPts val="990"/>
              </a:spcAft>
              <a:buClr>
                <a:srgbClr val="0645AD"/>
              </a:buClr>
              <a:buFont typeface="Arial"/>
              <a:buChar char="•"/>
            </a:pPr>
            <a:r>
              <a:rPr sz="2200" b="1">
                <a:solidFill>
                  <a:srgbClr val="202122"/>
                </a:solidFill>
                <a:latin typeface="Calibri"/>
              </a:rPr>
              <a:t>Critical path analysis:</a:t>
            </a:r>
            <a:r>
              <a:rPr sz="2200" b="0">
                <a:solidFill>
                  <a:srgbClr val="202122"/>
                </a:solidFill>
                <a:latin typeface="Calibri"/>
              </a:rPr>
              <a:t> the longest chain of dependent tasks</a:t>
            </a:r>
          </a:p>
          <a:p>
            <a:pPr marL="274320" indent="-274320">
              <a:spcAft>
                <a:spcPts val="990"/>
              </a:spcAft>
              <a:buClr>
                <a:srgbClr val="0645AD"/>
              </a:buClr>
              <a:buFont typeface="Arial"/>
              <a:buChar char="•"/>
            </a:pPr>
            <a:r>
              <a:rPr sz="2200" b="1">
                <a:solidFill>
                  <a:srgbClr val="202122"/>
                </a:solidFill>
                <a:latin typeface="Calibri"/>
              </a:rPr>
              <a:t>PERT:</a:t>
            </a:r>
            <a:r>
              <a:rPr sz="2200" b="0">
                <a:solidFill>
                  <a:srgbClr val="202122"/>
                </a:solidFill>
                <a:latin typeface="Calibri"/>
              </a:rPr>
              <a:t> optimistic, likely and pessimistic estimates</a:t>
            </a:r>
          </a:p>
          <a:p>
            <a:pPr marL="274320" indent="-274320">
              <a:spcAft>
                <a:spcPts val="990"/>
              </a:spcAft>
              <a:buClr>
                <a:srgbClr val="0645AD"/>
              </a:buClr>
              <a:buFont typeface="Arial"/>
              <a:buChar char="•"/>
            </a:pPr>
            <a:r>
              <a:rPr sz="2200" b="0">
                <a:solidFill>
                  <a:srgbClr val="202122"/>
                </a:solidFill>
                <a:latin typeface="Calibri"/>
              </a:rPr>
              <a:t>Contingency planning and managing interdependencies</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Control methods</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Monitoring reports:</a:t>
            </a:r>
            <a:r>
              <a:rPr sz="2200" b="0">
                <a:solidFill>
                  <a:srgbClr val="202122"/>
                </a:solidFill>
                <a:latin typeface="Calibri"/>
              </a:rPr>
              <a:t> budget, quality, cost, time</a:t>
            </a:r>
          </a:p>
          <a:p>
            <a:pPr marL="274320" indent="-274320">
              <a:spcAft>
                <a:spcPts val="990"/>
              </a:spcAft>
              <a:buClr>
                <a:srgbClr val="0645AD"/>
              </a:buClr>
              <a:buFont typeface="Arial"/>
              <a:buChar char="•"/>
            </a:pPr>
            <a:r>
              <a:rPr sz="2200" b="1">
                <a:solidFill>
                  <a:srgbClr val="202122"/>
                </a:solidFill>
                <a:latin typeface="Calibri"/>
              </a:rPr>
              <a:t>Managing by stages:</a:t>
            </a:r>
            <a:r>
              <a:rPr sz="2200" b="0">
                <a:solidFill>
                  <a:srgbClr val="202122"/>
                </a:solidFill>
                <a:latin typeface="Calibri"/>
              </a:rPr>
              <a:t> approve each stage before the next</a:t>
            </a:r>
          </a:p>
          <a:p>
            <a:pPr marL="274320" indent="-274320">
              <a:spcAft>
                <a:spcPts val="990"/>
              </a:spcAft>
              <a:buClr>
                <a:srgbClr val="0645AD"/>
              </a:buClr>
              <a:buFont typeface="Arial"/>
              <a:buChar char="•"/>
            </a:pPr>
            <a:r>
              <a:rPr sz="2200" b="1">
                <a:solidFill>
                  <a:srgbClr val="202122"/>
                </a:solidFill>
                <a:latin typeface="Calibri"/>
              </a:rPr>
              <a:t>Managing by exception:</a:t>
            </a:r>
            <a:r>
              <a:rPr sz="2200" b="0">
                <a:solidFill>
                  <a:srgbClr val="202122"/>
                </a:solidFill>
                <a:latin typeface="Calibri"/>
              </a:rPr>
              <a:t> escalate only when limits are exceeded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17</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Planning and control</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Project and Programme Management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does the critical path determine?</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managing by exception?</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does PERT use?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17</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Project and Programme Management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What happens if a critical path task is delayed?</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What is managing by exception?</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What does PERT use for time estimates?</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Name three project constraints.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17</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Project and Programme Management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What happens if a critical path task is delayed?</a:t>
            </a:r>
          </a:p>
          <a:p>
            <a:r>
              <a:rPr sz="1800" b="1">
                <a:solidFill>
                  <a:srgbClr val="03306E"/>
                </a:solidFill>
                <a:latin typeface="Calibri"/>
              </a:rPr>
              <a:t>The whole project is delayed.</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What is managing by exception?</a:t>
            </a:r>
          </a:p>
          <a:p>
            <a:r>
              <a:rPr sz="1800" b="1">
                <a:solidFill>
                  <a:srgbClr val="03306E"/>
                </a:solidFill>
                <a:latin typeface="Calibri"/>
              </a:rPr>
              <a:t>Only escalating issues when agreed tolerances are exceeded.</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What does PERT use for time estimates?</a:t>
            </a:r>
          </a:p>
          <a:p>
            <a:r>
              <a:rPr sz="1800" b="1">
                <a:solidFill>
                  <a:srgbClr val="03306E"/>
                </a:solidFill>
                <a:latin typeface="Calibri"/>
              </a:rPr>
              <a:t>Optimistic, most likely and pessimistic estimates.</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Name three project constraints.</a:t>
            </a:r>
          </a:p>
          <a:p>
            <a:r>
              <a:rPr sz="1800" b="1">
                <a:solidFill>
                  <a:srgbClr val="03306E"/>
                </a:solidFill>
                <a:latin typeface="Calibri"/>
              </a:rPr>
              <a:t>Any three, e.g. budget, time, quality.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17</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Plan a workshop project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Project and Programme Management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30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Tasks: design (3 days), order parts (5), machine parts (4), assemble (2), test (1). Machining can't start until parts arrive.</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Draw a Gantt chart.</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Find the critical path and total duration.</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Write one contingency plan.</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Dependencies correct</a:t>
            </a:r>
          </a:p>
          <a:p>
            <a:pPr marL="274320" indent="-274320">
              <a:spcAft>
                <a:spcPts val="810"/>
              </a:spcAft>
              <a:buClr>
                <a:srgbClr val="0645AD"/>
              </a:buClr>
              <a:buFont typeface="Arial"/>
              <a:buChar char="•"/>
            </a:pPr>
            <a:r>
              <a:rPr sz="1800" b="0">
                <a:solidFill>
                  <a:srgbClr val="202122"/>
                </a:solidFill>
                <a:latin typeface="Calibri"/>
              </a:rPr>
              <a:t>Critical path identified</a:t>
            </a:r>
          </a:p>
          <a:p>
            <a:pPr marL="274320" indent="-274320">
              <a:spcAft>
                <a:spcPts val="810"/>
              </a:spcAft>
              <a:buClr>
                <a:srgbClr val="0645AD"/>
              </a:buClr>
              <a:buFont typeface="Arial"/>
              <a:buChar char="•"/>
            </a:pPr>
            <a:r>
              <a:rPr sz="1800" b="0">
                <a:solidFill>
                  <a:srgbClr val="202122"/>
                </a:solidFill>
                <a:latin typeface="Calibri"/>
              </a:rPr>
              <a:t>Contingency is realistic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ENGINEERING CORE  ·  Core topic 17</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involve regulators as stakeholders?</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is float?</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When would you manage by stages?</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Engineering Core, Part 2</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https://lana6478.github.io/T-level-Design-Development-Engineering-Manufacturing/#/01-core-component/02-engineering-core-part2.md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and Programme Management</dc:title>
  <dc:subject>Design and Development for Engineering and Manufacturing T Level: Core topic 17</dc:subject>
  <dc:creator>Samuel O'Connell</dc:creator>
  <cp:keywords>T Level; Design and Development for Engineering and Manufacturing; lesson slides; 17.1, 17.2, 17.3</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