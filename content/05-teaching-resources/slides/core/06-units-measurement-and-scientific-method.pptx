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newton (N).</a:t>
            </a:r>
          </a:p>
          <a:p>
            <a:r>
              <a:t>2. 1,000.</a:t>
            </a:r>
          </a:p>
          <a:p>
            <a:r>
              <a:t>3. 101.6 mm.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scalar.</a:t>
            </a:r>
          </a:p>
          <a:p>
            <a:r>
              <a:t>2. x = r cos angle.</a:t>
            </a:r>
          </a:p>
          <a:p>
            <a:r>
              <a:t>3. E.g. velocity, displacement, force.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testable explanation.</a:t>
            </a:r>
          </a:p>
          <a:p>
            <a:r>
              <a:t>2. How close repeated readings are to each other.</a:t>
            </a:r>
          </a:p>
          <a:p>
            <a:r>
              <a:t>3. To check results are reliable.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Principles: precision (repeatability), accuracy (closeness to the true value), uncertainty, resolution, calibration and tolerance.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micrometer.</a:t>
            </a:r>
          </a:p>
          <a:p>
            <a:r>
              <a:t>2. The smallest change an instrument can show.</a:t>
            </a:r>
          </a:p>
          <a:p>
            <a:r>
              <a:t>3. So readings match a known standard.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ENGINEERING CORE</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Units, Measurement and Scientific Method</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topic 5</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5.1, 5.2, 5.3, 5.4</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Use SI and imperial units and convert between them.</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Distinguish vectors and scalars, and polar and Cartesian coordinates.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Apply the scientific method to testing.</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Choose measurement equipment and explain accuracy, precision and calibration.</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Is 'the car travelled 30 miles' a speed, a velocity or a distance? What would make it a velocity?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Units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SI base units include the metre (length), kilogram (mass) and second (time). Derived units combine them: the newton (N) for force, the pascal (Pa, newtons per square metre) for pressure, the newton metre for torque, metres per second for velocity and kilograms per cubic metre for density.</a:t>
            </a:r>
          </a:p>
          <a:p>
            <a:pPr>
              <a:spcAft>
                <a:spcPts val="1260"/>
              </a:spcAft>
            </a:pPr>
            <a:r>
              <a:rPr sz="2100" b="0">
                <a:solidFill>
                  <a:srgbClr val="202122"/>
                </a:solidFill>
                <a:latin typeface="Calibri"/>
              </a:rPr>
              <a:t>Prefixes scale units from tera (10 to the power 12) to pico (10 to the power -12). Common ones: kilo (1,000), mega (1,000,000), milli (0.001) and micro (0.000001).</a:t>
            </a:r>
          </a:p>
          <a:p>
            <a:pPr>
              <a:spcAft>
                <a:spcPts val="1260"/>
              </a:spcAft>
            </a:pPr>
            <a:r>
              <a:rPr sz="2100" b="0">
                <a:solidFill>
                  <a:srgbClr val="202122"/>
                </a:solidFill>
                <a:latin typeface="Calibri"/>
              </a:rPr>
              <a:t>Some industries still use imperial units, such as the inch (25.4 mm) and foot, so conversions matter.</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pressure of 2.5 MPa is 2,500,000 Pa. A 2 inch pipe is 50.8 mm.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Units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graphicFrame>
        <p:nvGraphicFramePr>
          <p:cNvPr id="6" name="Table 5"/>
          <p:cNvGraphicFramePr>
            <a:graphicFrameLocks noGrp="1"/>
          </p:cNvGraphicFramePr>
          <p:nvPr/>
        </p:nvGraphicFramePr>
        <p:xfrm>
          <a:off x="548640" y="1600200"/>
          <a:ext cx="11094413" cy="3977638"/>
        </p:xfrm>
        <a:graphic>
          <a:graphicData uri="http://schemas.openxmlformats.org/drawingml/2006/table">
            <a:tbl>
              <a:tblPr firstRow="1" bandRow="1">
                <a:tableStyleId>{5C22544A-7EE6-4342-B048-85BDC9FD1C3A}</a:tableStyleId>
              </a:tblPr>
              <a:tblGrid>
                <a:gridCol w="3096115"/>
                <a:gridCol w="3096115"/>
                <a:gridCol w="4902183"/>
              </a:tblGrid>
              <a:tr h="568234">
                <a:tc>
                  <a:txBody>
                    <a:bodyPr wrap="square"/>
                    <a:lstStyle/>
                    <a:p>
                      <a:r>
                        <a:rPr sz="1600" b="1">
                          <a:solidFill>
                            <a:srgbClr val="FFFFFF"/>
                          </a:solidFill>
                          <a:latin typeface="Calibri"/>
                        </a:rPr>
                        <a:t>Quantity</a:t>
                      </a:r>
                    </a:p>
                  </a:txBody>
                  <a:tcPr marL="91440" marR="91440" anchor="ctr">
                    <a:solidFill>
                      <a:srgbClr val="03306E"/>
                    </a:solidFill>
                  </a:tcPr>
                </a:tc>
                <a:tc>
                  <a:txBody>
                    <a:bodyPr wrap="square"/>
                    <a:lstStyle/>
                    <a:p>
                      <a:r>
                        <a:rPr sz="1600" b="1">
                          <a:solidFill>
                            <a:srgbClr val="FFFFFF"/>
                          </a:solidFill>
                          <a:latin typeface="Calibri"/>
                        </a:rPr>
                        <a:t>SI unit</a:t>
                      </a:r>
                    </a:p>
                  </a:txBody>
                  <a:tcPr marL="91440" marR="91440" anchor="ctr">
                    <a:solidFill>
                      <a:srgbClr val="03306E"/>
                    </a:solidFill>
                  </a:tcPr>
                </a:tc>
                <a:tc>
                  <a:txBody>
                    <a:bodyPr wrap="square"/>
                    <a:lstStyle/>
                    <a:p>
                      <a:r>
                        <a:rPr sz="1600" b="1">
                          <a:solidFill>
                            <a:srgbClr val="FFFFFF"/>
                          </a:solidFill>
                          <a:latin typeface="Calibri"/>
                        </a:rPr>
                        <a:t>Note</a:t>
                      </a:r>
                    </a:p>
                  </a:txBody>
                  <a:tcPr marL="91440" marR="91440" anchor="ctr">
                    <a:solidFill>
                      <a:srgbClr val="03306E"/>
                    </a:solidFill>
                  </a:tcPr>
                </a:tc>
              </a:tr>
              <a:tr h="568234">
                <a:tc>
                  <a:txBody>
                    <a:bodyPr wrap="square"/>
                    <a:lstStyle/>
                    <a:p>
                      <a:r>
                        <a:rPr sz="1600" b="1">
                          <a:solidFill>
                            <a:srgbClr val="03306E"/>
                          </a:solidFill>
                          <a:latin typeface="Calibri"/>
                        </a:rPr>
                        <a:t>Length, mass, time</a:t>
                      </a:r>
                    </a:p>
                  </a:txBody>
                  <a:tcPr marL="91440" marR="91440" anchor="ctr">
                    <a:solidFill>
                      <a:srgbClr val="FFFFFF"/>
                    </a:solidFill>
                  </a:tcPr>
                </a:tc>
                <a:tc>
                  <a:txBody>
                    <a:bodyPr wrap="square"/>
                    <a:lstStyle/>
                    <a:p>
                      <a:r>
                        <a:rPr sz="1600" b="0">
                          <a:solidFill>
                            <a:srgbClr val="202122"/>
                          </a:solidFill>
                          <a:latin typeface="Calibri"/>
                        </a:rPr>
                        <a:t>m, kg, s</a:t>
                      </a:r>
                    </a:p>
                  </a:txBody>
                  <a:tcPr marL="91440" marR="91440" anchor="ctr">
                    <a:solidFill>
                      <a:srgbClr val="FFFFFF"/>
                    </a:solidFill>
                  </a:tcPr>
                </a:tc>
                <a:tc>
                  <a:txBody>
                    <a:bodyPr wrap="square"/>
                    <a:lstStyle/>
                    <a:p>
                      <a:r>
                        <a:rPr sz="1600" b="0">
                          <a:solidFill>
                            <a:srgbClr val="202122"/>
                          </a:solidFill>
                          <a:latin typeface="Calibri"/>
                        </a:rPr>
                        <a:t>Base units</a:t>
                      </a:r>
                    </a:p>
                  </a:txBody>
                  <a:tcPr marL="91440" marR="91440" anchor="ctr">
                    <a:solidFill>
                      <a:srgbClr val="FFFFFF"/>
                    </a:solidFill>
                  </a:tcPr>
                </a:tc>
              </a:tr>
              <a:tr h="568234">
                <a:tc>
                  <a:txBody>
                    <a:bodyPr wrap="square"/>
                    <a:lstStyle/>
                    <a:p>
                      <a:r>
                        <a:rPr sz="1600" b="1">
                          <a:solidFill>
                            <a:srgbClr val="03306E"/>
                          </a:solidFill>
                          <a:latin typeface="Calibri"/>
                        </a:rPr>
                        <a:t>Force</a:t>
                      </a:r>
                    </a:p>
                  </a:txBody>
                  <a:tcPr marL="91440" marR="91440" anchor="ctr">
                    <a:solidFill>
                      <a:srgbClr val="EAF3FF"/>
                    </a:solidFill>
                  </a:tcPr>
                </a:tc>
                <a:tc>
                  <a:txBody>
                    <a:bodyPr wrap="square"/>
                    <a:lstStyle/>
                    <a:p>
                      <a:r>
                        <a:rPr sz="1600" b="0">
                          <a:solidFill>
                            <a:srgbClr val="202122"/>
                          </a:solidFill>
                          <a:latin typeface="Calibri"/>
                        </a:rPr>
                        <a:t>newton (N)</a:t>
                      </a:r>
                    </a:p>
                  </a:txBody>
                  <a:tcPr marL="91440" marR="91440" anchor="ctr">
                    <a:solidFill>
                      <a:srgbClr val="EAF3FF"/>
                    </a:solidFill>
                  </a:tcPr>
                </a:tc>
                <a:tc>
                  <a:txBody>
                    <a:bodyPr wrap="square"/>
                    <a:lstStyle/>
                    <a:p>
                      <a:r>
                        <a:rPr sz="1600" b="0">
                          <a:solidFill>
                            <a:srgbClr val="202122"/>
                          </a:solidFill>
                          <a:latin typeface="Calibri"/>
                        </a:rPr>
                        <a:t>Derived: kg m/s squared</a:t>
                      </a:r>
                    </a:p>
                  </a:txBody>
                  <a:tcPr marL="91440" marR="91440" anchor="ctr">
                    <a:solidFill>
                      <a:srgbClr val="EAF3FF"/>
                    </a:solidFill>
                  </a:tcPr>
                </a:tc>
              </a:tr>
              <a:tr h="568234">
                <a:tc>
                  <a:txBody>
                    <a:bodyPr wrap="square"/>
                    <a:lstStyle/>
                    <a:p>
                      <a:r>
                        <a:rPr sz="1600" b="1">
                          <a:solidFill>
                            <a:srgbClr val="03306E"/>
                          </a:solidFill>
                          <a:latin typeface="Calibri"/>
                        </a:rPr>
                        <a:t>Pressure</a:t>
                      </a:r>
                    </a:p>
                  </a:txBody>
                  <a:tcPr marL="91440" marR="91440" anchor="ctr">
                    <a:solidFill>
                      <a:srgbClr val="FFFFFF"/>
                    </a:solidFill>
                  </a:tcPr>
                </a:tc>
                <a:tc>
                  <a:txBody>
                    <a:bodyPr wrap="square"/>
                    <a:lstStyle/>
                    <a:p>
                      <a:r>
                        <a:rPr sz="1600" b="0">
                          <a:solidFill>
                            <a:srgbClr val="202122"/>
                          </a:solidFill>
                          <a:latin typeface="Calibri"/>
                        </a:rPr>
                        <a:t>pascal (Pa)</a:t>
                      </a:r>
                    </a:p>
                  </a:txBody>
                  <a:tcPr marL="91440" marR="91440" anchor="ctr">
                    <a:solidFill>
                      <a:srgbClr val="FFFFFF"/>
                    </a:solidFill>
                  </a:tcPr>
                </a:tc>
                <a:tc>
                  <a:txBody>
                    <a:bodyPr wrap="square"/>
                    <a:lstStyle/>
                    <a:p>
                      <a:r>
                        <a:rPr sz="1600" b="0">
                          <a:solidFill>
                            <a:srgbClr val="202122"/>
                          </a:solidFill>
                          <a:latin typeface="Calibri"/>
                        </a:rPr>
                        <a:t>N per square metre</a:t>
                      </a:r>
                    </a:p>
                  </a:txBody>
                  <a:tcPr marL="91440" marR="91440" anchor="ctr">
                    <a:solidFill>
                      <a:srgbClr val="FFFFFF"/>
                    </a:solidFill>
                  </a:tcPr>
                </a:tc>
              </a:tr>
              <a:tr h="568234">
                <a:tc>
                  <a:txBody>
                    <a:bodyPr wrap="square"/>
                    <a:lstStyle/>
                    <a:p>
                      <a:r>
                        <a:rPr sz="1600" b="1">
                          <a:solidFill>
                            <a:srgbClr val="03306E"/>
                          </a:solidFill>
                          <a:latin typeface="Calibri"/>
                        </a:rPr>
                        <a:t>Torque</a:t>
                      </a:r>
                    </a:p>
                  </a:txBody>
                  <a:tcPr marL="91440" marR="91440" anchor="ctr">
                    <a:solidFill>
                      <a:srgbClr val="EAF3FF"/>
                    </a:solidFill>
                  </a:tcPr>
                </a:tc>
                <a:tc>
                  <a:txBody>
                    <a:bodyPr wrap="square"/>
                    <a:lstStyle/>
                    <a:p>
                      <a:r>
                        <a:rPr sz="1600" b="0">
                          <a:solidFill>
                            <a:srgbClr val="202122"/>
                          </a:solidFill>
                          <a:latin typeface="Calibri"/>
                        </a:rPr>
                        <a:t>newton metre (N m)</a:t>
                      </a:r>
                    </a:p>
                  </a:txBody>
                  <a:tcPr marL="91440" marR="91440" anchor="ctr">
                    <a:solidFill>
                      <a:srgbClr val="EAF3FF"/>
                    </a:solidFill>
                  </a:tcPr>
                </a:tc>
                <a:tc>
                  <a:txBody>
                    <a:bodyPr wrap="square"/>
                    <a:lstStyle/>
                    <a:p>
                      <a:r>
                        <a:rPr sz="1600" b="0">
                          <a:solidFill>
                            <a:srgbClr val="202122"/>
                          </a:solidFill>
                          <a:latin typeface="Calibri"/>
                        </a:rPr>
                        <a:t>Force x distance</a:t>
                      </a:r>
                    </a:p>
                  </a:txBody>
                  <a:tcPr marL="91440" marR="91440" anchor="ctr">
                    <a:solidFill>
                      <a:srgbClr val="EAF3FF"/>
                    </a:solidFill>
                  </a:tcPr>
                </a:tc>
              </a:tr>
              <a:tr h="568234">
                <a:tc>
                  <a:txBody>
                    <a:bodyPr wrap="square"/>
                    <a:lstStyle/>
                    <a:p>
                      <a:r>
                        <a:rPr sz="1600" b="1">
                          <a:solidFill>
                            <a:srgbClr val="03306E"/>
                          </a:solidFill>
                          <a:latin typeface="Calibri"/>
                        </a:rPr>
                        <a:t>Density</a:t>
                      </a:r>
                    </a:p>
                  </a:txBody>
                  <a:tcPr marL="91440" marR="91440" anchor="ctr">
                    <a:solidFill>
                      <a:srgbClr val="FFFFFF"/>
                    </a:solidFill>
                  </a:tcPr>
                </a:tc>
                <a:tc>
                  <a:txBody>
                    <a:bodyPr wrap="square"/>
                    <a:lstStyle/>
                    <a:p>
                      <a:r>
                        <a:rPr sz="1600" b="0">
                          <a:solidFill>
                            <a:srgbClr val="202122"/>
                          </a:solidFill>
                          <a:latin typeface="Calibri"/>
                        </a:rPr>
                        <a:t>kg per cubic metre</a:t>
                      </a:r>
                    </a:p>
                  </a:txBody>
                  <a:tcPr marL="91440" marR="91440" anchor="ctr">
                    <a:solidFill>
                      <a:srgbClr val="FFFFFF"/>
                    </a:solidFill>
                  </a:tcPr>
                </a:tc>
                <a:tc>
                  <a:txBody>
                    <a:bodyPr wrap="square"/>
                    <a:lstStyle/>
                    <a:p>
                      <a:r>
                        <a:rPr sz="1600" b="0">
                          <a:solidFill>
                            <a:srgbClr val="202122"/>
                          </a:solidFill>
                          <a:latin typeface="Calibri"/>
                        </a:rPr>
                        <a:t>Mass / volume</a:t>
                      </a:r>
                    </a:p>
                  </a:txBody>
                  <a:tcPr marL="91440" marR="91440" anchor="ctr">
                    <a:solidFill>
                      <a:srgbClr val="FFFFFF"/>
                    </a:solidFill>
                  </a:tcPr>
                </a:tc>
              </a:tr>
              <a:tr h="568234">
                <a:tc>
                  <a:txBody>
                    <a:bodyPr wrap="square"/>
                    <a:lstStyle/>
                    <a:p>
                      <a:r>
                        <a:rPr sz="1600" b="1">
                          <a:solidFill>
                            <a:srgbClr val="03306E"/>
                          </a:solidFill>
                          <a:latin typeface="Calibri"/>
                        </a:rPr>
                        <a:t>Prefixes</a:t>
                      </a:r>
                    </a:p>
                  </a:txBody>
                  <a:tcPr marL="91440" marR="91440" anchor="ctr">
                    <a:solidFill>
                      <a:srgbClr val="EAF3FF"/>
                    </a:solidFill>
                  </a:tcPr>
                </a:tc>
                <a:tc>
                  <a:txBody>
                    <a:bodyPr wrap="square"/>
                    <a:lstStyle/>
                    <a:p>
                      <a:r>
                        <a:rPr sz="1600" b="0">
                          <a:solidFill>
                            <a:srgbClr val="202122"/>
                          </a:solidFill>
                          <a:latin typeface="Calibri"/>
                        </a:rPr>
                        <a:t>tera to pico</a:t>
                      </a:r>
                    </a:p>
                  </a:txBody>
                  <a:tcPr marL="91440" marR="91440" anchor="ctr">
                    <a:solidFill>
                      <a:srgbClr val="EAF3FF"/>
                    </a:solidFill>
                  </a:tcPr>
                </a:tc>
                <a:tc>
                  <a:txBody>
                    <a:bodyPr wrap="square"/>
                    <a:lstStyle/>
                    <a:p>
                      <a:r>
                        <a:rPr sz="1600" b="0">
                          <a:solidFill>
                            <a:srgbClr val="202122"/>
                          </a:solidFill>
                          <a:latin typeface="Calibri"/>
                        </a:rPr>
                        <a:t>k = 1,000; m = 0.001; micro = 0.000001</a:t>
                      </a:r>
                    </a:p>
                  </a:txBody>
                  <a:tcPr marL="91440" marR="91440" anchor="ctr">
                    <a:solidFill>
                      <a:srgbClr val="EAF3FF"/>
                    </a:solidFill>
                  </a:tcPr>
                </a:tc>
              </a:tr>
            </a:tbl>
          </a:graphicData>
        </a:graphic>
      </p:graphicFrame>
      <p:sp>
        <p:nvSpPr>
          <p:cNvPr id="7" name="TextBox 6"/>
          <p:cNvSpPr txBox="1"/>
          <p:nvPr/>
        </p:nvSpPr>
        <p:spPr>
          <a:xfrm>
            <a:off x="548640" y="5715000"/>
            <a:ext cx="11094415" cy="457200"/>
          </a:xfrm>
          <a:prstGeom prst="rect">
            <a:avLst/>
          </a:prstGeom>
          <a:noFill/>
        </p:spPr>
        <p:txBody>
          <a:bodyPr wrap="square" anchor="t" lIns="0" rIns="0" tIns="0" bIns="0"/>
          <a:lstStyle/>
          <a:p>
            <a:pPr algn="l"/>
            <a:r>
              <a:rPr sz="1300" b="0" i="1">
                <a:solidFill>
                  <a:srgbClr val="54595D"/>
                </a:solidFill>
                <a:latin typeface="Calibri"/>
              </a:rPr>
              <a:t>Imperial units: foot, inch, yard, ounce, gallon. 1 inch = 25.4 mm.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Units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SI unit of force?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How many pascals in 1 kPa?</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Convert 4 inches to millimetres.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Vectors and coordinates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 scalar has size only, such as distance, speed or mass. A vector has size and direction, such as displacement, velocity, acceleration or force. Walking 5 km is a distance; walking 5 km north is a displacement.</a:t>
            </a:r>
          </a:p>
          <a:p>
            <a:pPr>
              <a:spcAft>
                <a:spcPts val="1320"/>
              </a:spcAft>
            </a:pPr>
            <a:r>
              <a:rPr sz="2200" b="0">
                <a:solidFill>
                  <a:srgbClr val="202122"/>
                </a:solidFill>
                <a:latin typeface="Calibri"/>
              </a:rPr>
              <a:t>Positions can be described with Cartesian coordinates (x, y) or polar coordinates (a distance r and an angle). To convert polar to Cartesian: x = r cos angle, y = r sin angle. To convert back: r = square root of (x squared + y squared).</a:t>
            </a:r>
          </a:p>
          <a:p>
            <a:pPr>
              <a:spcAft>
                <a:spcPts val="1320"/>
              </a:spcAft>
            </a:pPr>
            <a:r>
              <a:rPr sz="2200" b="0">
                <a:solidFill>
                  <a:srgbClr val="202122"/>
                </a:solidFill>
                <a:latin typeface="Calibri"/>
              </a:rPr>
              <a:t>CNC machines and robots use both systems to position tools.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robot arm reaches 0.5 m at 30 degrees: x = 0.5 cos 30 = 0.43 m, y = 0.5 sin 30 = 0.25 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Vectors and coordinates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Scalars and vectors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Scalar:</a:t>
            </a:r>
            <a:r>
              <a:rPr sz="2200" b="0">
                <a:solidFill>
                  <a:srgbClr val="202122"/>
                </a:solidFill>
                <a:latin typeface="Calibri"/>
              </a:rPr>
              <a:t> size only, e.g. distance, speed</a:t>
            </a:r>
          </a:p>
          <a:p>
            <a:pPr marL="274320" indent="-274320">
              <a:spcAft>
                <a:spcPts val="990"/>
              </a:spcAft>
              <a:buClr>
                <a:srgbClr val="0645AD"/>
              </a:buClr>
              <a:buFont typeface="Arial"/>
              <a:buChar char="•"/>
            </a:pPr>
            <a:r>
              <a:rPr sz="2200" b="1">
                <a:solidFill>
                  <a:srgbClr val="202122"/>
                </a:solidFill>
                <a:latin typeface="Calibri"/>
              </a:rPr>
              <a:t>Vector:</a:t>
            </a:r>
            <a:r>
              <a:rPr sz="2200" b="0">
                <a:solidFill>
                  <a:srgbClr val="202122"/>
                </a:solidFill>
                <a:latin typeface="Calibri"/>
              </a:rPr>
              <a:t> size and direction, e.g. displacement, velocity, acceleration</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Coordinates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Cartesian:</a:t>
            </a:r>
            <a:r>
              <a:rPr sz="2200" b="0">
                <a:solidFill>
                  <a:srgbClr val="202122"/>
                </a:solidFill>
                <a:latin typeface="Calibri"/>
              </a:rPr>
              <a:t> (x, y)</a:t>
            </a:r>
          </a:p>
          <a:p>
            <a:pPr marL="274320" indent="-274320">
              <a:spcAft>
                <a:spcPts val="990"/>
              </a:spcAft>
              <a:buClr>
                <a:srgbClr val="0645AD"/>
              </a:buClr>
              <a:buFont typeface="Arial"/>
              <a:buChar char="•"/>
            </a:pPr>
            <a:r>
              <a:rPr sz="2200" b="1">
                <a:solidFill>
                  <a:srgbClr val="202122"/>
                </a:solidFill>
                <a:latin typeface="Calibri"/>
              </a:rPr>
              <a:t>Polar:</a:t>
            </a:r>
            <a:r>
              <a:rPr sz="2200" b="0">
                <a:solidFill>
                  <a:srgbClr val="202122"/>
                </a:solidFill>
                <a:latin typeface="Calibri"/>
              </a:rPr>
              <a:t> (r, angle)</a:t>
            </a:r>
          </a:p>
          <a:p>
            <a:pPr marL="274320" indent="-274320">
              <a:spcAft>
                <a:spcPts val="990"/>
              </a:spcAft>
              <a:buClr>
                <a:srgbClr val="0645AD"/>
              </a:buClr>
              <a:buFont typeface="Arial"/>
              <a:buChar char="•"/>
            </a:pPr>
            <a:r>
              <a:rPr sz="2200" b="0">
                <a:solidFill>
                  <a:srgbClr val="202122"/>
                </a:solidFill>
                <a:latin typeface="Calibri"/>
              </a:rPr>
              <a:t>x = r cos angle, y = r sin angle</a:t>
            </a:r>
          </a:p>
          <a:p>
            <a:pPr marL="274320" indent="-274320">
              <a:spcAft>
                <a:spcPts val="990"/>
              </a:spcAft>
              <a:buClr>
                <a:srgbClr val="0645AD"/>
              </a:buClr>
              <a:buFont typeface="Arial"/>
              <a:buChar char="•"/>
            </a:pPr>
            <a:r>
              <a:rPr sz="2200" b="0">
                <a:solidFill>
                  <a:srgbClr val="202122"/>
                </a:solidFill>
                <a:latin typeface="Calibri"/>
              </a:rPr>
              <a:t>r = square root of (x squared + y squared)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Vectors and coordinates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Is speed a scalar or a vector?</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How do you convert polar to Cartesian x?</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an example of a vector.</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scientific method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Engineers test ideas scientifically rather than guessing.</a:t>
            </a:r>
          </a:p>
          <a:p>
            <a:pPr>
              <a:spcAft>
                <a:spcPts val="1320"/>
              </a:spcAft>
            </a:pPr>
            <a:r>
              <a:rPr sz="2200" b="0">
                <a:solidFill>
                  <a:srgbClr val="202122"/>
                </a:solidFill>
                <a:latin typeface="Calibri"/>
              </a:rPr>
              <a:t>Observe something, ask a question, form a hypothesis (a testable explanation), make a prediction or run a simulation, carry out a fair test, and draw a conclusion. Then iterate: refine the hypothesis and test again.</a:t>
            </a:r>
          </a:p>
          <a:p>
            <a:pPr>
              <a:spcAft>
                <a:spcPts val="1320"/>
              </a:spcAft>
            </a:pPr>
            <a:r>
              <a:rPr sz="2200" b="0">
                <a:solidFill>
                  <a:srgbClr val="202122"/>
                </a:solidFill>
                <a:latin typeface="Calibri"/>
              </a:rPr>
              <a:t>Judge results by accuracy (how close to the true value), reliability (consistent results), precision (how close repeated readings are to each other) and replication (whether others get the same result).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Hypothesis: a thicker bracket won't crack under vibration. Test three thicknesses on a vibration rig, repeat each test, and compare with the prediction.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scientific method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ectangle 5"/>
          <p:cNvSpPr/>
          <p:nvPr/>
        </p:nvSpPr>
        <p:spPr>
          <a:xfrm>
            <a:off x="1416024" y="2404872"/>
            <a:ext cx="935964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95984" y="21031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2880360"/>
            <a:ext cx="1734769" cy="731520"/>
          </a:xfrm>
          <a:prstGeom prst="rect">
            <a:avLst/>
          </a:prstGeom>
          <a:noFill/>
        </p:spPr>
        <p:txBody>
          <a:bodyPr wrap="square" anchor="t" lIns="0" rIns="0" tIns="0" bIns="0"/>
          <a:lstStyle/>
          <a:p>
            <a:pPr algn="ctr"/>
            <a:r>
              <a:rPr sz="1700" b="1" i="0">
                <a:solidFill>
                  <a:srgbClr val="03306E"/>
                </a:solidFill>
                <a:latin typeface="Calibri"/>
              </a:rPr>
              <a:t>Observe</a:t>
            </a:r>
          </a:p>
        </p:txBody>
      </p:sp>
      <p:sp>
        <p:nvSpPr>
          <p:cNvPr id="9" name="Rounded Rectangle 8"/>
          <p:cNvSpPr/>
          <p:nvPr/>
        </p:nvSpPr>
        <p:spPr>
          <a:xfrm>
            <a:off x="548640" y="365760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794760"/>
            <a:ext cx="1460449" cy="914400"/>
          </a:xfrm>
          <a:prstGeom prst="rect">
            <a:avLst/>
          </a:prstGeom>
          <a:noFill/>
        </p:spPr>
        <p:txBody>
          <a:bodyPr wrap="square" anchor="t" lIns="0" rIns="0" tIns="0" bIns="0"/>
          <a:lstStyle/>
          <a:p>
            <a:pPr algn="l"/>
            <a:r>
              <a:rPr sz="1700" b="0" i="0">
                <a:solidFill>
                  <a:srgbClr val="202122"/>
                </a:solidFill>
                <a:latin typeface="Calibri"/>
              </a:rPr>
              <a:t>Notice something.</a:t>
            </a:r>
          </a:p>
        </p:txBody>
      </p:sp>
      <p:sp>
        <p:nvSpPr>
          <p:cNvPr id="11" name="Oval 10"/>
          <p:cNvSpPr/>
          <p:nvPr/>
        </p:nvSpPr>
        <p:spPr>
          <a:xfrm>
            <a:off x="2967913" y="21031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420569" y="2880360"/>
            <a:ext cx="1734769" cy="731520"/>
          </a:xfrm>
          <a:prstGeom prst="rect">
            <a:avLst/>
          </a:prstGeom>
          <a:noFill/>
        </p:spPr>
        <p:txBody>
          <a:bodyPr wrap="square" anchor="t" lIns="0" rIns="0" tIns="0" bIns="0"/>
          <a:lstStyle/>
          <a:p>
            <a:pPr algn="ctr"/>
            <a:r>
              <a:rPr sz="1700" b="1" i="0">
                <a:solidFill>
                  <a:srgbClr val="03306E"/>
                </a:solidFill>
                <a:latin typeface="Calibri"/>
              </a:rPr>
              <a:t>Question</a:t>
            </a:r>
          </a:p>
        </p:txBody>
      </p:sp>
      <p:sp>
        <p:nvSpPr>
          <p:cNvPr id="13" name="Rounded Rectangle 12"/>
          <p:cNvSpPr/>
          <p:nvPr/>
        </p:nvSpPr>
        <p:spPr>
          <a:xfrm>
            <a:off x="2420569" y="365760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7729" y="3794760"/>
            <a:ext cx="1460449" cy="914400"/>
          </a:xfrm>
          <a:prstGeom prst="rect">
            <a:avLst/>
          </a:prstGeom>
          <a:noFill/>
        </p:spPr>
        <p:txBody>
          <a:bodyPr wrap="square" anchor="t" lIns="0" rIns="0" tIns="0" bIns="0"/>
          <a:lstStyle/>
          <a:p>
            <a:pPr algn="l"/>
            <a:r>
              <a:rPr sz="1700" b="0" i="0">
                <a:solidFill>
                  <a:srgbClr val="202122"/>
                </a:solidFill>
                <a:latin typeface="Calibri"/>
              </a:rPr>
              <a:t>Ask why.</a:t>
            </a:r>
          </a:p>
        </p:txBody>
      </p:sp>
      <p:sp>
        <p:nvSpPr>
          <p:cNvPr id="15" name="Oval 14"/>
          <p:cNvSpPr/>
          <p:nvPr/>
        </p:nvSpPr>
        <p:spPr>
          <a:xfrm>
            <a:off x="4839843" y="21031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4292498" y="2880360"/>
            <a:ext cx="1734769" cy="731520"/>
          </a:xfrm>
          <a:prstGeom prst="rect">
            <a:avLst/>
          </a:prstGeom>
          <a:noFill/>
        </p:spPr>
        <p:txBody>
          <a:bodyPr wrap="square" anchor="t" lIns="0" rIns="0" tIns="0" bIns="0"/>
          <a:lstStyle/>
          <a:p>
            <a:pPr algn="ctr"/>
            <a:r>
              <a:rPr sz="1700" b="1" i="0">
                <a:solidFill>
                  <a:srgbClr val="03306E"/>
                </a:solidFill>
                <a:latin typeface="Calibri"/>
              </a:rPr>
              <a:t>Hypothesise</a:t>
            </a:r>
          </a:p>
        </p:txBody>
      </p:sp>
      <p:sp>
        <p:nvSpPr>
          <p:cNvPr id="17" name="Rounded Rectangle 16"/>
          <p:cNvSpPr/>
          <p:nvPr/>
        </p:nvSpPr>
        <p:spPr>
          <a:xfrm>
            <a:off x="4292498" y="365760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9658" y="3794760"/>
            <a:ext cx="1460449" cy="914400"/>
          </a:xfrm>
          <a:prstGeom prst="rect">
            <a:avLst/>
          </a:prstGeom>
          <a:noFill/>
        </p:spPr>
        <p:txBody>
          <a:bodyPr wrap="square" anchor="t" lIns="0" rIns="0" tIns="0" bIns="0"/>
          <a:lstStyle/>
          <a:p>
            <a:pPr algn="l"/>
            <a:r>
              <a:rPr sz="1700" b="0" i="0">
                <a:solidFill>
                  <a:srgbClr val="202122"/>
                </a:solidFill>
                <a:latin typeface="Calibri"/>
              </a:rPr>
              <a:t>Suggest an explanation.</a:t>
            </a:r>
          </a:p>
        </p:txBody>
      </p:sp>
      <p:sp>
        <p:nvSpPr>
          <p:cNvPr id="19" name="Oval 18"/>
          <p:cNvSpPr/>
          <p:nvPr/>
        </p:nvSpPr>
        <p:spPr>
          <a:xfrm>
            <a:off x="6711772" y="21031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6164427" y="2880360"/>
            <a:ext cx="1734769" cy="731520"/>
          </a:xfrm>
          <a:prstGeom prst="rect">
            <a:avLst/>
          </a:prstGeom>
          <a:noFill/>
        </p:spPr>
        <p:txBody>
          <a:bodyPr wrap="square" anchor="t" lIns="0" rIns="0" tIns="0" bIns="0"/>
          <a:lstStyle/>
          <a:p>
            <a:pPr algn="ctr"/>
            <a:r>
              <a:rPr sz="1700" b="1" i="0">
                <a:solidFill>
                  <a:srgbClr val="03306E"/>
                </a:solidFill>
                <a:latin typeface="Calibri"/>
              </a:rPr>
              <a:t>Predict</a:t>
            </a:r>
          </a:p>
        </p:txBody>
      </p:sp>
      <p:sp>
        <p:nvSpPr>
          <p:cNvPr id="21" name="Rounded Rectangle 20"/>
          <p:cNvSpPr/>
          <p:nvPr/>
        </p:nvSpPr>
        <p:spPr>
          <a:xfrm>
            <a:off x="6164427" y="365760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1587" y="3794760"/>
            <a:ext cx="1460449" cy="914400"/>
          </a:xfrm>
          <a:prstGeom prst="rect">
            <a:avLst/>
          </a:prstGeom>
          <a:noFill/>
        </p:spPr>
        <p:txBody>
          <a:bodyPr wrap="square" anchor="t" lIns="0" rIns="0" tIns="0" bIns="0"/>
          <a:lstStyle/>
          <a:p>
            <a:pPr algn="l"/>
            <a:r>
              <a:rPr sz="1700" b="0" i="0">
                <a:solidFill>
                  <a:srgbClr val="202122"/>
                </a:solidFill>
                <a:latin typeface="Calibri"/>
              </a:rPr>
              <a:t>Predict or simulate a result.</a:t>
            </a:r>
          </a:p>
        </p:txBody>
      </p:sp>
      <p:sp>
        <p:nvSpPr>
          <p:cNvPr id="23" name="Oval 22"/>
          <p:cNvSpPr/>
          <p:nvPr/>
        </p:nvSpPr>
        <p:spPr>
          <a:xfrm>
            <a:off x="8583701" y="21031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8036356" y="2880360"/>
            <a:ext cx="1734769" cy="731520"/>
          </a:xfrm>
          <a:prstGeom prst="rect">
            <a:avLst/>
          </a:prstGeom>
          <a:noFill/>
        </p:spPr>
        <p:txBody>
          <a:bodyPr wrap="square" anchor="t" lIns="0" rIns="0" tIns="0" bIns="0"/>
          <a:lstStyle/>
          <a:p>
            <a:pPr algn="ctr"/>
            <a:r>
              <a:rPr sz="1700" b="1" i="0">
                <a:solidFill>
                  <a:srgbClr val="03306E"/>
                </a:solidFill>
                <a:latin typeface="Calibri"/>
              </a:rPr>
              <a:t>Test</a:t>
            </a:r>
          </a:p>
        </p:txBody>
      </p:sp>
      <p:sp>
        <p:nvSpPr>
          <p:cNvPr id="25" name="Rounded Rectangle 24"/>
          <p:cNvSpPr/>
          <p:nvPr/>
        </p:nvSpPr>
        <p:spPr>
          <a:xfrm>
            <a:off x="8036356" y="365760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73516" y="3794760"/>
            <a:ext cx="1460449" cy="914400"/>
          </a:xfrm>
          <a:prstGeom prst="rect">
            <a:avLst/>
          </a:prstGeom>
          <a:noFill/>
        </p:spPr>
        <p:txBody>
          <a:bodyPr wrap="square" anchor="t" lIns="0" rIns="0" tIns="0" bIns="0"/>
          <a:lstStyle/>
          <a:p>
            <a:pPr algn="l"/>
            <a:r>
              <a:rPr sz="1700" b="0" i="0">
                <a:solidFill>
                  <a:srgbClr val="202122"/>
                </a:solidFill>
                <a:latin typeface="Calibri"/>
              </a:rPr>
              <a:t>Run a fair test.</a:t>
            </a:r>
          </a:p>
        </p:txBody>
      </p:sp>
      <p:sp>
        <p:nvSpPr>
          <p:cNvPr id="27" name="Oval 26"/>
          <p:cNvSpPr/>
          <p:nvPr/>
        </p:nvSpPr>
        <p:spPr>
          <a:xfrm>
            <a:off x="10455630" y="21031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9908286" y="2880360"/>
            <a:ext cx="1734769" cy="731520"/>
          </a:xfrm>
          <a:prstGeom prst="rect">
            <a:avLst/>
          </a:prstGeom>
          <a:noFill/>
        </p:spPr>
        <p:txBody>
          <a:bodyPr wrap="square" anchor="t" lIns="0" rIns="0" tIns="0" bIns="0"/>
          <a:lstStyle/>
          <a:p>
            <a:pPr algn="ctr"/>
            <a:r>
              <a:rPr sz="1700" b="1" i="0">
                <a:solidFill>
                  <a:srgbClr val="03306E"/>
                </a:solidFill>
                <a:latin typeface="Calibri"/>
              </a:rPr>
              <a:t>Conclude</a:t>
            </a:r>
          </a:p>
        </p:txBody>
      </p:sp>
      <p:sp>
        <p:nvSpPr>
          <p:cNvPr id="29" name="Rounded Rectangle 28"/>
          <p:cNvSpPr/>
          <p:nvPr/>
        </p:nvSpPr>
        <p:spPr>
          <a:xfrm>
            <a:off x="9908286" y="3657600"/>
            <a:ext cx="1734769" cy="11887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45446" y="3794760"/>
            <a:ext cx="1460449" cy="914400"/>
          </a:xfrm>
          <a:prstGeom prst="rect">
            <a:avLst/>
          </a:prstGeom>
          <a:noFill/>
        </p:spPr>
        <p:txBody>
          <a:bodyPr wrap="square" anchor="t" lIns="0" rIns="0" tIns="0" bIns="0"/>
          <a:lstStyle/>
          <a:p>
            <a:pPr algn="l"/>
            <a:r>
              <a:rPr sz="1700" b="0" i="0">
                <a:solidFill>
                  <a:srgbClr val="202122"/>
                </a:solidFill>
                <a:latin typeface="Calibri"/>
              </a:rPr>
              <a:t>Accept or reject, then iterate.</a:t>
            </a:r>
          </a:p>
        </p:txBody>
      </p:sp>
      <p:sp>
        <p:nvSpPr>
          <p:cNvPr id="31" name="TextBox 30"/>
          <p:cNvSpPr txBox="1"/>
          <p:nvPr/>
        </p:nvSpPr>
        <p:spPr>
          <a:xfrm>
            <a:off x="548640" y="5120640"/>
            <a:ext cx="11094415" cy="548640"/>
          </a:xfrm>
          <a:prstGeom prst="rect">
            <a:avLst/>
          </a:prstGeom>
          <a:noFill/>
        </p:spPr>
        <p:txBody>
          <a:bodyPr wrap="square" anchor="t" lIns="0" rIns="0" tIns="0" bIns="0"/>
          <a:lstStyle/>
          <a:p>
            <a:pPr algn="l"/>
            <a:r>
              <a:rPr sz="1600" b="0" i="1">
                <a:solidFill>
                  <a:srgbClr val="54595D"/>
                </a:solidFill>
                <a:latin typeface="Calibri"/>
              </a:rPr>
              <a:t>Judge results on accuracy, reliability, precision and whether they can be replicated.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The scientific method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hypothesis?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precision?</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repeat tests?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Measurement equipment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Choose measuring equipment by the accuracy you need.</a:t>
            </a:r>
          </a:p>
          <a:p>
            <a:pPr>
              <a:spcAft>
                <a:spcPts val="1260"/>
              </a:spcAft>
            </a:pPr>
            <a:r>
              <a:rPr sz="2100" b="0">
                <a:solidFill>
                  <a:srgbClr val="202122"/>
                </a:solidFill>
                <a:latin typeface="Calibri"/>
              </a:rPr>
              <a:t>A steel rule measures to about 0.5 mm. Vernier and digital callipers measure inside, outside and depth dimensions to about 0.02 mm. Micrometers measure small diameters and thicknesses to 0.01 mm or better. Dial test indicators show small variations such as run-out. Coordinate measuring machines (CMMs) measure complex 3D shapes to microns.</a:t>
            </a:r>
          </a:p>
          <a:p>
            <a:pPr>
              <a:spcAft>
                <a:spcPts val="1260"/>
              </a:spcAft>
            </a:pPr>
            <a:r>
              <a:rPr sz="2100" b="1">
                <a:solidFill>
                  <a:srgbClr val="202122"/>
                </a:solidFill>
                <a:latin typeface="Calibri"/>
              </a:rPr>
              <a:t>Key principles:</a:t>
            </a:r>
            <a:r>
              <a:rPr sz="2100" b="0">
                <a:solidFill>
                  <a:srgbClr val="202122"/>
                </a:solidFill>
                <a:latin typeface="Calibri"/>
              </a:rPr>
              <a:t> resolution (the smallest change it can show), accuracy, precision, uncertainty, calibration against a known standard, and tolerance.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Checking a 12 mm shaft toleranced to plus or minus 0.01 mm needs a micrometer: a calliper isn't precise enough.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Measurement equipment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354125"/>
                <a:gridCol w="4128154"/>
                <a:gridCol w="3612135"/>
              </a:tblGrid>
              <a:tr h="754380">
                <a:tc>
                  <a:txBody>
                    <a:bodyPr wrap="square"/>
                    <a:lstStyle/>
                    <a:p>
                      <a:r>
                        <a:rPr sz="1600" b="1">
                          <a:solidFill>
                            <a:srgbClr val="FFFFFF"/>
                          </a:solidFill>
                          <a:latin typeface="Calibri"/>
                        </a:rPr>
                        <a:t>Equipment</a:t>
                      </a:r>
                    </a:p>
                  </a:txBody>
                  <a:tcPr marL="91440" marR="91440" anchor="ctr">
                    <a:solidFill>
                      <a:srgbClr val="03306E"/>
                    </a:solidFill>
                  </a:tcPr>
                </a:tc>
                <a:tc>
                  <a:txBody>
                    <a:bodyPr wrap="square"/>
                    <a:lstStyle/>
                    <a:p>
                      <a:r>
                        <a:rPr sz="1600" b="1">
                          <a:solidFill>
                            <a:srgbClr val="FFFFFF"/>
                          </a:solidFill>
                          <a:latin typeface="Calibri"/>
                        </a:rPr>
                        <a:t>Measures</a:t>
                      </a:r>
                    </a:p>
                  </a:txBody>
                  <a:tcPr marL="91440" marR="91440" anchor="ctr">
                    <a:solidFill>
                      <a:srgbClr val="03306E"/>
                    </a:solidFill>
                  </a:tcPr>
                </a:tc>
                <a:tc>
                  <a:txBody>
                    <a:bodyPr wrap="square"/>
                    <a:lstStyle/>
                    <a:p>
                      <a:r>
                        <a:rPr sz="1600" b="1">
                          <a:solidFill>
                            <a:srgbClr val="FFFFFF"/>
                          </a:solidFill>
                          <a:latin typeface="Calibri"/>
                        </a:rPr>
                        <a:t>Typical resolution</a:t>
                      </a:r>
                    </a:p>
                  </a:txBody>
                  <a:tcPr marL="91440" marR="91440" anchor="ctr">
                    <a:solidFill>
                      <a:srgbClr val="03306E"/>
                    </a:solidFill>
                  </a:tcPr>
                </a:tc>
              </a:tr>
              <a:tr h="754380">
                <a:tc>
                  <a:txBody>
                    <a:bodyPr wrap="square"/>
                    <a:lstStyle/>
                    <a:p>
                      <a:r>
                        <a:rPr sz="1600" b="1">
                          <a:solidFill>
                            <a:srgbClr val="03306E"/>
                          </a:solidFill>
                          <a:latin typeface="Calibri"/>
                        </a:rPr>
                        <a:t>Steel rule</a:t>
                      </a:r>
                    </a:p>
                  </a:txBody>
                  <a:tcPr marL="91440" marR="91440" anchor="ctr">
                    <a:solidFill>
                      <a:srgbClr val="FFFFFF"/>
                    </a:solidFill>
                  </a:tcPr>
                </a:tc>
                <a:tc>
                  <a:txBody>
                    <a:bodyPr wrap="square"/>
                    <a:lstStyle/>
                    <a:p>
                      <a:r>
                        <a:rPr sz="1600" b="0">
                          <a:solidFill>
                            <a:srgbClr val="202122"/>
                          </a:solidFill>
                          <a:latin typeface="Calibri"/>
                        </a:rPr>
                        <a:t>Lengths</a:t>
                      </a:r>
                    </a:p>
                  </a:txBody>
                  <a:tcPr marL="91440" marR="91440" anchor="ctr">
                    <a:solidFill>
                      <a:srgbClr val="FFFFFF"/>
                    </a:solidFill>
                  </a:tcPr>
                </a:tc>
                <a:tc>
                  <a:txBody>
                    <a:bodyPr wrap="square"/>
                    <a:lstStyle/>
                    <a:p>
                      <a:r>
                        <a:rPr sz="1600" b="0">
                          <a:solidFill>
                            <a:srgbClr val="202122"/>
                          </a:solidFill>
                          <a:latin typeface="Calibri"/>
                        </a:rPr>
                        <a:t>0.5 mm</a:t>
                      </a:r>
                    </a:p>
                  </a:txBody>
                  <a:tcPr marL="91440" marR="91440" anchor="ctr">
                    <a:solidFill>
                      <a:srgbClr val="FFFFFF"/>
                    </a:solidFill>
                  </a:tcPr>
                </a:tc>
              </a:tr>
              <a:tr h="754380">
                <a:tc>
                  <a:txBody>
                    <a:bodyPr wrap="square"/>
                    <a:lstStyle/>
                    <a:p>
                      <a:r>
                        <a:rPr sz="1600" b="1">
                          <a:solidFill>
                            <a:srgbClr val="03306E"/>
                          </a:solidFill>
                          <a:latin typeface="Calibri"/>
                        </a:rPr>
                        <a:t>Vernier / digital calliper</a:t>
                      </a:r>
                    </a:p>
                  </a:txBody>
                  <a:tcPr marL="91440" marR="91440" anchor="ctr">
                    <a:solidFill>
                      <a:srgbClr val="EAF3FF"/>
                    </a:solidFill>
                  </a:tcPr>
                </a:tc>
                <a:tc>
                  <a:txBody>
                    <a:bodyPr wrap="square"/>
                    <a:lstStyle/>
                    <a:p>
                      <a:r>
                        <a:rPr sz="1600" b="0">
                          <a:solidFill>
                            <a:srgbClr val="202122"/>
                          </a:solidFill>
                          <a:latin typeface="Calibri"/>
                        </a:rPr>
                        <a:t>Inside, outside and depth</a:t>
                      </a:r>
                    </a:p>
                  </a:txBody>
                  <a:tcPr marL="91440" marR="91440" anchor="ctr">
                    <a:solidFill>
                      <a:srgbClr val="EAF3FF"/>
                    </a:solidFill>
                  </a:tcPr>
                </a:tc>
                <a:tc>
                  <a:txBody>
                    <a:bodyPr wrap="square"/>
                    <a:lstStyle/>
                    <a:p>
                      <a:r>
                        <a:rPr sz="1600" b="0">
                          <a:solidFill>
                            <a:srgbClr val="202122"/>
                          </a:solidFill>
                          <a:latin typeface="Calibri"/>
                        </a:rPr>
                        <a:t>0.02 / 0.01 mm</a:t>
                      </a:r>
                    </a:p>
                  </a:txBody>
                  <a:tcPr marL="91440" marR="91440" anchor="ctr">
                    <a:solidFill>
                      <a:srgbClr val="EAF3FF"/>
                    </a:solidFill>
                  </a:tcPr>
                </a:tc>
              </a:tr>
              <a:tr h="754380">
                <a:tc>
                  <a:txBody>
                    <a:bodyPr wrap="square"/>
                    <a:lstStyle/>
                    <a:p>
                      <a:r>
                        <a:rPr sz="1600" b="1">
                          <a:solidFill>
                            <a:srgbClr val="03306E"/>
                          </a:solidFill>
                          <a:latin typeface="Calibri"/>
                        </a:rPr>
                        <a:t>Micrometer</a:t>
                      </a:r>
                    </a:p>
                  </a:txBody>
                  <a:tcPr marL="91440" marR="91440" anchor="ctr">
                    <a:solidFill>
                      <a:srgbClr val="FFFFFF"/>
                    </a:solidFill>
                  </a:tcPr>
                </a:tc>
                <a:tc>
                  <a:txBody>
                    <a:bodyPr wrap="square"/>
                    <a:lstStyle/>
                    <a:p>
                      <a:r>
                        <a:rPr sz="1600" b="0">
                          <a:solidFill>
                            <a:srgbClr val="202122"/>
                          </a:solidFill>
                          <a:latin typeface="Calibri"/>
                        </a:rPr>
                        <a:t>Small diameters and thicknesses</a:t>
                      </a:r>
                    </a:p>
                  </a:txBody>
                  <a:tcPr marL="91440" marR="91440" anchor="ctr">
                    <a:solidFill>
                      <a:srgbClr val="FFFFFF"/>
                    </a:solidFill>
                  </a:tcPr>
                </a:tc>
                <a:tc>
                  <a:txBody>
                    <a:bodyPr wrap="square"/>
                    <a:lstStyle/>
                    <a:p>
                      <a:r>
                        <a:rPr sz="1600" b="0">
                          <a:solidFill>
                            <a:srgbClr val="202122"/>
                          </a:solidFill>
                          <a:latin typeface="Calibri"/>
                        </a:rPr>
                        <a:t>0.01 mm</a:t>
                      </a:r>
                    </a:p>
                  </a:txBody>
                  <a:tcPr marL="91440" marR="91440" anchor="ctr">
                    <a:solidFill>
                      <a:srgbClr val="FFFFFF"/>
                    </a:solidFill>
                  </a:tcPr>
                </a:tc>
              </a:tr>
              <a:tr h="754380">
                <a:tc>
                  <a:txBody>
                    <a:bodyPr wrap="square"/>
                    <a:lstStyle/>
                    <a:p>
                      <a:r>
                        <a:rPr sz="1600" b="1">
                          <a:solidFill>
                            <a:srgbClr val="03306E"/>
                          </a:solidFill>
                          <a:latin typeface="Calibri"/>
                        </a:rPr>
                        <a:t>Dial test indicator</a:t>
                      </a:r>
                    </a:p>
                  </a:txBody>
                  <a:tcPr marL="91440" marR="91440" anchor="ctr">
                    <a:solidFill>
                      <a:srgbClr val="EAF3FF"/>
                    </a:solidFill>
                  </a:tcPr>
                </a:tc>
                <a:tc>
                  <a:txBody>
                    <a:bodyPr wrap="square"/>
                    <a:lstStyle/>
                    <a:p>
                      <a:r>
                        <a:rPr sz="1600" b="0">
                          <a:solidFill>
                            <a:srgbClr val="202122"/>
                          </a:solidFill>
                          <a:latin typeface="Calibri"/>
                        </a:rPr>
                        <a:t>Small variations, run-out</a:t>
                      </a:r>
                    </a:p>
                  </a:txBody>
                  <a:tcPr marL="91440" marR="91440" anchor="ctr">
                    <a:solidFill>
                      <a:srgbClr val="EAF3FF"/>
                    </a:solidFill>
                  </a:tcPr>
                </a:tc>
                <a:tc>
                  <a:txBody>
                    <a:bodyPr wrap="square"/>
                    <a:lstStyle/>
                    <a:p>
                      <a:r>
                        <a:rPr sz="1600" b="0">
                          <a:solidFill>
                            <a:srgbClr val="202122"/>
                          </a:solidFill>
                          <a:latin typeface="Calibri"/>
                        </a:rPr>
                        <a:t>0.01 mm</a:t>
                      </a:r>
                    </a:p>
                  </a:txBody>
                  <a:tcPr marL="91440" marR="91440" anchor="ctr">
                    <a:solidFill>
                      <a:srgbClr val="EAF3FF"/>
                    </a:solidFill>
                  </a:tcPr>
                </a:tc>
              </a:tr>
              <a:tr h="754380">
                <a:tc>
                  <a:txBody>
                    <a:bodyPr wrap="square"/>
                    <a:lstStyle/>
                    <a:p>
                      <a:r>
                        <a:rPr sz="1600" b="1">
                          <a:solidFill>
                            <a:srgbClr val="03306E"/>
                          </a:solidFill>
                          <a:latin typeface="Calibri"/>
                        </a:rPr>
                        <a:t>CMM</a:t>
                      </a:r>
                    </a:p>
                  </a:txBody>
                  <a:tcPr marL="91440" marR="91440" anchor="ctr">
                    <a:solidFill>
                      <a:srgbClr val="FFFFFF"/>
                    </a:solidFill>
                  </a:tcPr>
                </a:tc>
                <a:tc>
                  <a:txBody>
                    <a:bodyPr wrap="square"/>
                    <a:lstStyle/>
                    <a:p>
                      <a:r>
                        <a:rPr sz="1600" b="0">
                          <a:solidFill>
                            <a:srgbClr val="202122"/>
                          </a:solidFill>
                          <a:latin typeface="Calibri"/>
                        </a:rPr>
                        <a:t>Complex 3D geometry</a:t>
                      </a:r>
                    </a:p>
                  </a:txBody>
                  <a:tcPr marL="91440" marR="91440" anchor="ctr">
                    <a:solidFill>
                      <a:srgbClr val="FFFFFF"/>
                    </a:solidFill>
                  </a:tcPr>
                </a:tc>
                <a:tc>
                  <a:txBody>
                    <a:bodyPr wrap="square"/>
                    <a:lstStyle/>
                    <a:p>
                      <a:r>
                        <a:rPr sz="1600" b="0">
                          <a:solidFill>
                            <a:srgbClr val="202122"/>
                          </a:solidFill>
                          <a:latin typeface="Calibri"/>
                        </a:rPr>
                        <a:t>Microns</a:t>
                      </a:r>
                    </a:p>
                  </a:txBody>
                  <a:tcPr marL="91440" marR="9144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Measurement equipment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tool measures small diameters most precisely?</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resolution?</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calibrate instruments?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Is velocity a scalar or a vector?</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Convert 3 inches to millimetres.</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What is the difference between accuracy and precision?</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Why calibrate equipment?</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Which tool would you use to measure a 6 mm shaft diameter most precisely?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Is velocity a scalar or a vector?</a:t>
            </a:r>
          </a:p>
          <a:p>
            <a:r>
              <a:rPr sz="1800" b="1">
                <a:solidFill>
                  <a:srgbClr val="03306E"/>
                </a:solidFill>
                <a:latin typeface="Calibri"/>
              </a:rPr>
              <a:t>A vector.</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Convert 3 inches to millimetres.</a:t>
            </a:r>
          </a:p>
          <a:p>
            <a:r>
              <a:rPr sz="1800" b="1">
                <a:solidFill>
                  <a:srgbClr val="03306E"/>
                </a:solidFill>
                <a:latin typeface="Calibri"/>
              </a:rPr>
              <a:t>76.2 mm.</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What is the difference between accuracy and precision?</a:t>
            </a:r>
          </a:p>
          <a:p>
            <a:r>
              <a:rPr sz="1800" b="1">
                <a:solidFill>
                  <a:srgbClr val="03306E"/>
                </a:solidFill>
                <a:latin typeface="Calibri"/>
              </a:rPr>
              <a:t>Accuracy is closeness to the true value; precision is repeatability.</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Why calibrate equipment?</a:t>
            </a:r>
          </a:p>
          <a:p>
            <a:r>
              <a:rPr sz="1800" b="1">
                <a:solidFill>
                  <a:srgbClr val="03306E"/>
                </a:solidFill>
                <a:latin typeface="Calibri"/>
              </a:rPr>
              <a:t>So its readings match a known standard.</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Which tool would you use to measure a 6 mm shaft diameter most precisely?</a:t>
            </a:r>
          </a:p>
          <a:p>
            <a:r>
              <a:rPr sz="1800" b="1">
                <a:solidFill>
                  <a:srgbClr val="03306E"/>
                </a:solidFill>
                <a:latin typeface="Calibri"/>
              </a:rPr>
              <a:t>A micrometer.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Measure and compare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Units, Measurement and Scientific Method</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 practical</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Measure the same three components with a rule, a calliper and a micrometer.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Record five readings each.</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Calculate the mean and range for each tool.</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Explain which tool is most precise and why.</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Readings recorded with units</a:t>
            </a:r>
          </a:p>
          <a:p>
            <a:pPr marL="274320" indent="-274320">
              <a:spcAft>
                <a:spcPts val="810"/>
              </a:spcAft>
              <a:buClr>
                <a:srgbClr val="0645AD"/>
              </a:buClr>
              <a:buFont typeface="Arial"/>
              <a:buChar char="•"/>
            </a:pPr>
            <a:r>
              <a:rPr sz="1800" b="0">
                <a:solidFill>
                  <a:srgbClr val="202122"/>
                </a:solidFill>
                <a:latin typeface="Calibri"/>
              </a:rPr>
              <a:t>Mean and range correct</a:t>
            </a:r>
          </a:p>
          <a:p>
            <a:pPr marL="274320" indent="-274320">
              <a:spcAft>
                <a:spcPts val="810"/>
              </a:spcAft>
              <a:buClr>
                <a:srgbClr val="0645AD"/>
              </a:buClr>
              <a:buFont typeface="Arial"/>
              <a:buChar char="•"/>
            </a:pPr>
            <a:r>
              <a:rPr sz="1800" b="0">
                <a:solidFill>
                  <a:srgbClr val="202122"/>
                </a:solidFill>
                <a:latin typeface="Calibri"/>
              </a:rPr>
              <a:t>Conclusion uses accuracy and precision correctly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ENGINEERING CORE  ·  Core topic 5</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Give a derived SI unit and what it measures.</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repeat measurements?</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is resolution?</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Engineering Core, Part 1</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https://lana6478.github.io/T-level-Design-Development-Engineering-Manufacturing/#/01-core-component/01-engineering-core-part1.md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Units, Measurement and Scientific Method</dc:title>
  <dc:subject>Design and Development for Engineering and Manufacturing T Level: Core topic 5</dc:subject>
  <dc:creator>Samuel O'Connell</dc:creator>
  <cp:keywords>T Level; Design and Development for Engineering and Manufacturing; lesson slides; 5.1, 5.2, 5.3, 5.4</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