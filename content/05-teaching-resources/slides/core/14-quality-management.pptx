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Quality Management and SOPs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11.1, 11.2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quality standards and the role of engineering bodies.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quality assurance from quality control.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SPC, six sigma, TQM and quality improvement tools.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purpose, format and use of SOPs.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Would you rather inspect every single bolt a factory makes, or a sample? What are the risks of each?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Standards and bodies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British Standards, ISO standards (e.g. ISO 9001), CE marking.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Engineering bodies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Engineering Council, IET, IMechE, SOE, CIBSE, IAgrE, IMI, TWI.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Quality assurance and 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Quality assurance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Prevents defects through good processes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culture of quality; right first time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Document and version control; traceability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ISO 9001 quality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Finds defects by inspection and testing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Checks products against specification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Statistical process control (SPC) samples production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Process capability shows if a process can meet tolerances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Improving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Six sigma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Data-driven reduction of variation, for high-volume manufacture.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TQM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Total quality management: everyone responsible for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FMEA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List failure modes and their effects before they happen.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Pareto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80% of problems often come from 20% of causes.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Cause and effect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Fishbone diagrams find root causes.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Quality circles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Small teams of workers solving quality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 operating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35"/>
              </a:spcAft>
              <a:buClr>
                <a:srgbClr val="0645AD"/>
              </a:buClr>
              <a:buFont typeface="Arial"/>
              <a:buChar char="•"/>
            </a:pPr>
            <a:r>
              <a:rPr sz="2300" b="1">
                <a:solidFill>
                  <a:srgbClr val="202122"/>
                </a:solidFill>
                <a:latin typeface="Calibri"/>
              </a:rPr>
              <a:t>Types:</a:t>
            </a:r>
            <a:r>
              <a:rPr sz="2300" b="0">
                <a:solidFill>
                  <a:srgbClr val="202122"/>
                </a:solidFill>
                <a:latin typeface="Calibri"/>
              </a:rPr>
              <a:t> manufacturing, quality and maintenance SOPs.</a:t>
            </a:r>
          </a:p>
          <a:p>
            <a:pPr marL="274320" indent="-274320">
              <a:spcAft>
                <a:spcPts val="1035"/>
              </a:spcAft>
              <a:buClr>
                <a:srgbClr val="0645AD"/>
              </a:buClr>
              <a:buFont typeface="Arial"/>
              <a:buChar char="•"/>
            </a:pPr>
            <a:r>
              <a:rPr sz="2300" b="1">
                <a:solidFill>
                  <a:srgbClr val="202122"/>
                </a:solidFill>
                <a:latin typeface="Calibri"/>
              </a:rPr>
              <a:t>Purpose:</a:t>
            </a:r>
            <a:r>
              <a:rPr sz="2300" b="0">
                <a:solidFill>
                  <a:srgbClr val="202122"/>
                </a:solidFill>
                <a:latin typeface="Calibri"/>
              </a:rPr>
              <a:t> standardise activity, satisfy customers, keep people safe, support training.</a:t>
            </a:r>
          </a:p>
          <a:p>
            <a:pPr marL="274320" indent="-274320">
              <a:spcAft>
                <a:spcPts val="1035"/>
              </a:spcAft>
              <a:buClr>
                <a:srgbClr val="0645AD"/>
              </a:buClr>
              <a:buFont typeface="Arial"/>
              <a:buChar char="•"/>
            </a:pPr>
            <a:r>
              <a:rPr sz="2300" b="1">
                <a:solidFill>
                  <a:srgbClr val="202122"/>
                </a:solidFill>
                <a:latin typeface="Calibri"/>
              </a:rPr>
              <a:t>Typical format:</a:t>
            </a:r>
            <a:r>
              <a:rPr sz="2300" b="0">
                <a:solidFill>
                  <a:srgbClr val="202122"/>
                </a:solidFill>
                <a:latin typeface="Calibri"/>
              </a:rPr>
              <a:t> title, purpose, scope, responsibilities, equipment, step-by-step method, safety notes, revision history.</a:t>
            </a:r>
          </a:p>
          <a:p>
            <a:pPr marL="274320" indent="-274320">
              <a:spcAft>
                <a:spcPts val="1035"/>
              </a:spcAft>
              <a:buClr>
                <a:srgbClr val="0645AD"/>
              </a:buClr>
              <a:buFont typeface="Arial"/>
              <a:buChar char="•"/>
            </a:pPr>
            <a:r>
              <a:rPr sz="2300" b="0">
                <a:solidFill>
                  <a:srgbClr val="202122"/>
                </a:solidFill>
                <a:latin typeface="Calibri"/>
              </a:rPr>
              <a:t>They are produced, implemented and evaluated, then updated under version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An SOP means the job is done the same safe way whoever does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inspection quality assurance or quality control?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When is SPC better than 100% inspection?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Pareto chart show?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purposes of an SOP.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inspection quality assurance or quality control?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Quality control.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When is SPC better than 100% inspection?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In high-volume production where checking every item is too slow or costly.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Pareto chart show?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Which few causes create most of the problems.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purposes of an SOP.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standardising work, customer satisfaction, safety,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an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Quality Management and SOPs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workshop task, e.g. setting up a pillar drill.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an SOP using the typical format.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with another pair and follow it exactly.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Improve anything that was unclear.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Safety steps included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Another pair could follow it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Revision history updated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document control matter?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'right first time'?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engineering body would a mechanical engineer join?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Management and SOPs</dc:title>
  <dc:subject>Design and Development for Engineering and Manufacturing T Level: Core topic 11</dc:subject>
  <dc:creator>Samuel O'Connell</dc:creator>
  <cp:keywords>T Level; Design and Development for Engineering and Manufacturing; lesson slides; 11.1, 11.2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