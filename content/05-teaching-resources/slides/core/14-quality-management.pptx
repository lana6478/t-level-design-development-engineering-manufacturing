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QC.</a:t>
            </a:r>
          </a:p>
          <a:p>
            <a:r>
              <a:t>2. Samples production to spot drift before defects occur.</a:t>
            </a:r>
          </a:p>
          <a:p>
            <a:r>
              <a:t>3. Getting it correct without rework.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Which few causes create most problems.</a:t>
            </a:r>
          </a:p>
          <a:p>
            <a:r>
              <a:t>2. A small team of workers solving quality problems.</a:t>
            </a:r>
          </a:p>
          <a:p>
            <a:r>
              <a:t>3. Variation and defects.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written step-by-step procedure for doing a task consistently.</a:t>
            </a:r>
          </a:p>
          <a:p>
            <a:r>
              <a:t>2. E.g. consistency, safety, training, customer satisfaction.</a:t>
            </a:r>
          </a:p>
          <a:p>
            <a:r>
              <a:t>3. To show which version is current and what 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ENGINEERING CORE</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Quality Management and SOPs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topic 11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11.1, 11.2</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Design and Development for Engineering and Manufacturing T Level  ·  Lesson slides</a:t>
            </a:r>
          </a:p>
          <a:p>
            <a:pPr algn="l"/>
            <a:r>
              <a:rPr sz="1100" b="0" i="0">
                <a:solidFill>
                  <a:srgbClr val="A9C8F0"/>
                </a:solidFill>
                <a:latin typeface="Calibri"/>
              </a:rPr>
              <a:t>Unofficial teaching resource. Check the official City &amp; Guilds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quality standards and the role of engineering bodies.</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Distinguish quality assurance from quality control.</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Explain SPC, six sigma, TQM and quality improvement tools.</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Describe the purpose, format and use of SOPs.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Would you rather inspect every single bolt a factory makes, or a sample? What are the risks of each?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Standards and bodies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Rounded Rectangle 5"/>
          <p:cNvSpPr/>
          <p:nvPr/>
        </p:nvSpPr>
        <p:spPr>
          <a:xfrm>
            <a:off x="548640" y="1600200"/>
            <a:ext cx="5410047"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Standards</a:t>
            </a:r>
          </a:p>
        </p:txBody>
      </p:sp>
      <p:sp>
        <p:nvSpPr>
          <p:cNvPr id="9" name="TextBox 8"/>
          <p:cNvSpPr txBox="1"/>
          <p:nvPr/>
        </p:nvSpPr>
        <p:spPr>
          <a:xfrm>
            <a:off x="777240" y="2468880"/>
            <a:ext cx="4952847" cy="3566160"/>
          </a:xfrm>
          <a:prstGeom prst="rect">
            <a:avLst/>
          </a:prstGeom>
          <a:noFill/>
        </p:spPr>
        <p:txBody>
          <a:bodyPr wrap="square" anchor="t" lIns="0" rIns="0" tIns="0" bIns="0"/>
          <a:lstStyle/>
          <a:p>
            <a:pPr algn="l"/>
            <a:r>
              <a:rPr sz="2000" b="0" i="0">
                <a:solidFill>
                  <a:srgbClr val="202122"/>
                </a:solidFill>
                <a:latin typeface="Calibri"/>
              </a:rPr>
              <a:t>British Standards, ISO standards (e.g. ISO 9001), CE marking.</a:t>
            </a:r>
          </a:p>
        </p:txBody>
      </p:sp>
      <p:sp>
        <p:nvSpPr>
          <p:cNvPr id="10" name="Rounded Rectangle 9"/>
          <p:cNvSpPr/>
          <p:nvPr/>
        </p:nvSpPr>
        <p:spPr>
          <a:xfrm>
            <a:off x="6233007" y="1600200"/>
            <a:ext cx="5410047"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Engineering bodies</a:t>
            </a:r>
          </a:p>
        </p:txBody>
      </p:sp>
      <p:sp>
        <p:nvSpPr>
          <p:cNvPr id="13" name="TextBox 12"/>
          <p:cNvSpPr txBox="1"/>
          <p:nvPr/>
        </p:nvSpPr>
        <p:spPr>
          <a:xfrm>
            <a:off x="6461607" y="2468880"/>
            <a:ext cx="4952847" cy="3566160"/>
          </a:xfrm>
          <a:prstGeom prst="rect">
            <a:avLst/>
          </a:prstGeom>
          <a:noFill/>
        </p:spPr>
        <p:txBody>
          <a:bodyPr wrap="square" anchor="t" lIns="0" rIns="0" tIns="0" bIns="0"/>
          <a:lstStyle/>
          <a:p>
            <a:pPr algn="l"/>
            <a:r>
              <a:rPr sz="2000" b="0" i="0">
                <a:solidFill>
                  <a:srgbClr val="202122"/>
                </a:solidFill>
                <a:latin typeface="Calibri"/>
              </a:rPr>
              <a:t>Engineering Council, IET, IMechE, SOE, CIBSE, IAgrE, IMI, TWI.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Quality assurance and quality control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Quality assurance (QA) prevents defects by building quality into the process: a quality culture, 'right first time', traceability, document and version control, and standards such as ISO 9001.</a:t>
            </a:r>
          </a:p>
          <a:p>
            <a:pPr>
              <a:spcAft>
                <a:spcPts val="1320"/>
              </a:spcAft>
            </a:pPr>
            <a:r>
              <a:rPr sz="2200" b="0">
                <a:solidFill>
                  <a:srgbClr val="202122"/>
                </a:solidFill>
                <a:latin typeface="Calibri"/>
              </a:rPr>
              <a:t>Quality control (QC) finds defects by inspecting and testing products against the specification.</a:t>
            </a:r>
          </a:p>
          <a:p>
            <a:pPr>
              <a:spcAft>
                <a:spcPts val="1320"/>
              </a:spcAft>
            </a:pPr>
            <a:r>
              <a:rPr sz="2200" b="0">
                <a:solidFill>
                  <a:srgbClr val="202122"/>
                </a:solidFill>
                <a:latin typeface="Calibri"/>
              </a:rPr>
              <a:t>Statistical process control (SPC) samples production and plots measurements on charts, spotting drift before parts go out of tolerance. It's faster and cheaper than inspecting every item in high volumes. Process capability shows whether a process can consistently meet its tolerance.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SPC chart shows shaft diameters creeping upwards as a tool wears. The tool is changed before any shaft goes out of tolerance.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Quality assurance and quality control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Quality assurance</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Prevents defects through good processes</a:t>
            </a:r>
          </a:p>
          <a:p>
            <a:pPr marL="274320" indent="-274320">
              <a:spcAft>
                <a:spcPts val="990"/>
              </a:spcAft>
              <a:buClr>
                <a:srgbClr val="0645AD"/>
              </a:buClr>
              <a:buFont typeface="Arial"/>
              <a:buChar char="•"/>
            </a:pPr>
            <a:r>
              <a:rPr sz="2200" b="0">
                <a:solidFill>
                  <a:srgbClr val="202122"/>
                </a:solidFill>
                <a:latin typeface="Calibri"/>
              </a:rPr>
              <a:t>A culture of quality; right first time</a:t>
            </a:r>
          </a:p>
          <a:p>
            <a:pPr marL="274320" indent="-274320">
              <a:spcAft>
                <a:spcPts val="990"/>
              </a:spcAft>
              <a:buClr>
                <a:srgbClr val="0645AD"/>
              </a:buClr>
              <a:buFont typeface="Arial"/>
              <a:buChar char="•"/>
            </a:pPr>
            <a:r>
              <a:rPr sz="2200" b="0">
                <a:solidFill>
                  <a:srgbClr val="202122"/>
                </a:solidFill>
                <a:latin typeface="Calibri"/>
              </a:rPr>
              <a:t>Document and version control; traceability</a:t>
            </a:r>
          </a:p>
          <a:p>
            <a:pPr marL="274320" indent="-274320">
              <a:spcAft>
                <a:spcPts val="990"/>
              </a:spcAft>
              <a:buClr>
                <a:srgbClr val="0645AD"/>
              </a:buClr>
              <a:buFont typeface="Arial"/>
              <a:buChar char="•"/>
            </a:pPr>
            <a:r>
              <a:rPr sz="2200" b="0">
                <a:solidFill>
                  <a:srgbClr val="202122"/>
                </a:solidFill>
                <a:latin typeface="Calibri"/>
              </a:rPr>
              <a:t>ISO 9001 quality management</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Quality control</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Finds defects by inspection and testing</a:t>
            </a:r>
          </a:p>
          <a:p>
            <a:pPr marL="274320" indent="-274320">
              <a:spcAft>
                <a:spcPts val="990"/>
              </a:spcAft>
              <a:buClr>
                <a:srgbClr val="0645AD"/>
              </a:buClr>
              <a:buFont typeface="Arial"/>
              <a:buChar char="•"/>
            </a:pPr>
            <a:r>
              <a:rPr sz="2200" b="0">
                <a:solidFill>
                  <a:srgbClr val="202122"/>
                </a:solidFill>
                <a:latin typeface="Calibri"/>
              </a:rPr>
              <a:t>Checks products against specification</a:t>
            </a:r>
          </a:p>
          <a:p>
            <a:pPr marL="274320" indent="-274320">
              <a:spcAft>
                <a:spcPts val="990"/>
              </a:spcAft>
              <a:buClr>
                <a:srgbClr val="0645AD"/>
              </a:buClr>
              <a:buFont typeface="Arial"/>
              <a:buChar char="•"/>
            </a:pPr>
            <a:r>
              <a:rPr sz="2200" b="0">
                <a:solidFill>
                  <a:srgbClr val="202122"/>
                </a:solidFill>
                <a:latin typeface="Calibri"/>
              </a:rPr>
              <a:t>Statistical process control (SPC) samples production</a:t>
            </a:r>
          </a:p>
          <a:p>
            <a:pPr marL="274320" indent="-274320">
              <a:spcAft>
                <a:spcPts val="990"/>
              </a:spcAft>
              <a:buClr>
                <a:srgbClr val="0645AD"/>
              </a:buClr>
              <a:buFont typeface="Arial"/>
              <a:buChar char="•"/>
            </a:pPr>
            <a:r>
              <a:rPr sz="2200" b="0">
                <a:solidFill>
                  <a:srgbClr val="202122"/>
                </a:solidFill>
                <a:latin typeface="Calibri"/>
              </a:rPr>
              <a:t>Process capability shows if a process can meet tolerances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Quality assurance and quality control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Is inspection QA or QC?</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SPC do?</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'right first time'?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Improving quality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Six sigma uses data to reduce variation, aiming for almost no defects in high-volume production. Total quality management (TQM) makes everyone responsible for quality.</a:t>
            </a:r>
          </a:p>
          <a:p>
            <a:pPr>
              <a:spcAft>
                <a:spcPts val="1320"/>
              </a:spcAft>
            </a:pPr>
            <a:r>
              <a:rPr sz="2200" b="0">
                <a:solidFill>
                  <a:srgbClr val="202122"/>
                </a:solidFill>
                <a:latin typeface="Calibri"/>
              </a:rPr>
              <a:t>FMEA (Failure Mode and Effects Analysis) lists how things could fail and how serious each would be, so the worst are designed out. Pareto analysis shows that most problems usually come from a few causes. Cause and effect (fishbone) diagrams trace problems to root causes. Quality circles are small teams of workers who meet to solve quality problems.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Pareto chart shows 80% of rejects come from two causes: loose fixings and scratches. Fixing those two solves most of the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Improving quality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Six sigma</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Data-driven reduction of variation, for high-volume manufacture.</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TQM</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Total quality management: everyone responsible for quality.</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FMEA</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List failure modes and their effects before they happen.</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Pareto analysis</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80% of problems often come from 20% of causes.</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Cause and effect</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Fishbone diagrams find root causes.</a:t>
            </a:r>
          </a:p>
        </p:txBody>
      </p:sp>
      <p:sp>
        <p:nvSpPr>
          <p:cNvPr id="26" name="Rounded Rectangle 25"/>
          <p:cNvSpPr/>
          <p:nvPr/>
        </p:nvSpPr>
        <p:spPr>
          <a:xfrm>
            <a:off x="8127796"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56396"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6</a:t>
            </a:r>
          </a:p>
        </p:txBody>
      </p:sp>
      <p:sp>
        <p:nvSpPr>
          <p:cNvPr id="28" name="TextBox 27"/>
          <p:cNvSpPr txBox="1"/>
          <p:nvPr/>
        </p:nvSpPr>
        <p:spPr>
          <a:xfrm>
            <a:off x="8950756" y="4224528"/>
            <a:ext cx="2509418" cy="512064"/>
          </a:xfrm>
          <a:prstGeom prst="rect">
            <a:avLst/>
          </a:prstGeom>
          <a:noFill/>
        </p:spPr>
        <p:txBody>
          <a:bodyPr wrap="square" anchor="ctr" lIns="0" rIns="0" tIns="0" bIns="0"/>
          <a:lstStyle/>
          <a:p>
            <a:pPr algn="l"/>
            <a:r>
              <a:rPr sz="1900" b="1" i="0">
                <a:solidFill>
                  <a:srgbClr val="03306E"/>
                </a:solidFill>
                <a:latin typeface="Calibri"/>
              </a:rPr>
              <a:t>Quality circles</a:t>
            </a:r>
          </a:p>
        </p:txBody>
      </p:sp>
      <p:sp>
        <p:nvSpPr>
          <p:cNvPr id="29" name="TextBox 28"/>
          <p:cNvSpPr txBox="1"/>
          <p:nvPr/>
        </p:nvSpPr>
        <p:spPr>
          <a:xfrm>
            <a:off x="8356396" y="4892040"/>
            <a:ext cx="3058058" cy="1143000"/>
          </a:xfrm>
          <a:prstGeom prst="rect">
            <a:avLst/>
          </a:prstGeom>
          <a:noFill/>
        </p:spPr>
        <p:txBody>
          <a:bodyPr wrap="square" anchor="t" lIns="0" rIns="0" tIns="0" bIns="0"/>
          <a:lstStyle/>
          <a:p>
            <a:pPr algn="l"/>
            <a:r>
              <a:rPr sz="2000" b="0" i="0">
                <a:solidFill>
                  <a:srgbClr val="202122"/>
                </a:solidFill>
                <a:latin typeface="Calibri"/>
              </a:rPr>
              <a:t>Small teams of workers solving quality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Improving quality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a Pareto chart show?</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a quality circle?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six sigma aim to reduce?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Standard operating procedures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A standard operating procedure (SOP) is a written, step-by-step instruction for doing a task the same way every time.</a:t>
            </a:r>
          </a:p>
          <a:p>
            <a:pPr>
              <a:spcAft>
                <a:spcPts val="1320"/>
              </a:spcAft>
            </a:pPr>
            <a:r>
              <a:rPr sz="2200" b="0">
                <a:solidFill>
                  <a:srgbClr val="202122"/>
                </a:solidFill>
                <a:latin typeface="Calibri"/>
              </a:rPr>
              <a:t>Types include manufacturing, quality and maintenance SOPs. They standardise work, keep customers satisfied with consistent products, keep people safe and support training.</a:t>
            </a:r>
          </a:p>
          <a:p>
            <a:pPr>
              <a:spcAft>
                <a:spcPts val="1320"/>
              </a:spcAft>
            </a:pPr>
            <a:r>
              <a:rPr sz="2200" b="0">
                <a:solidFill>
                  <a:srgbClr val="202122"/>
                </a:solidFill>
                <a:latin typeface="Calibri"/>
              </a:rPr>
              <a:t>An SOP typically includes a title, purpose, scope, responsibilities, equipment, the method step by step, safety notes and a revision history. SOPs are written, put into use, evaluated and updated under version control.</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SOP for setting up a lathe means every operator fits the guard, checks the chuck key is removed and sets the speed the same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Standard operating procedures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35"/>
              </a:spcAft>
              <a:buClr>
                <a:srgbClr val="0645AD"/>
              </a:buClr>
              <a:buFont typeface="Arial"/>
              <a:buChar char="•"/>
            </a:pPr>
            <a:r>
              <a:rPr sz="2300" b="1">
                <a:solidFill>
                  <a:srgbClr val="202122"/>
                </a:solidFill>
                <a:latin typeface="Calibri"/>
              </a:rPr>
              <a:t>Types:</a:t>
            </a:r>
            <a:r>
              <a:rPr sz="2300" b="0">
                <a:solidFill>
                  <a:srgbClr val="202122"/>
                </a:solidFill>
                <a:latin typeface="Calibri"/>
              </a:rPr>
              <a:t> manufacturing, quality and maintenance SOPs.</a:t>
            </a:r>
          </a:p>
          <a:p>
            <a:pPr marL="274320" indent="-274320">
              <a:spcAft>
                <a:spcPts val="1035"/>
              </a:spcAft>
              <a:buClr>
                <a:srgbClr val="0645AD"/>
              </a:buClr>
              <a:buFont typeface="Arial"/>
              <a:buChar char="•"/>
            </a:pPr>
            <a:r>
              <a:rPr sz="2300" b="1">
                <a:solidFill>
                  <a:srgbClr val="202122"/>
                </a:solidFill>
                <a:latin typeface="Calibri"/>
              </a:rPr>
              <a:t>Purpose:</a:t>
            </a:r>
            <a:r>
              <a:rPr sz="2300" b="0">
                <a:solidFill>
                  <a:srgbClr val="202122"/>
                </a:solidFill>
                <a:latin typeface="Calibri"/>
              </a:rPr>
              <a:t> standardise activity, satisfy customers, keep people safe, support training.</a:t>
            </a:r>
          </a:p>
          <a:p>
            <a:pPr marL="274320" indent="-274320">
              <a:spcAft>
                <a:spcPts val="1035"/>
              </a:spcAft>
              <a:buClr>
                <a:srgbClr val="0645AD"/>
              </a:buClr>
              <a:buFont typeface="Arial"/>
              <a:buChar char="•"/>
            </a:pPr>
            <a:r>
              <a:rPr sz="2300" b="1">
                <a:solidFill>
                  <a:srgbClr val="202122"/>
                </a:solidFill>
                <a:latin typeface="Calibri"/>
              </a:rPr>
              <a:t>Typical format:</a:t>
            </a:r>
            <a:r>
              <a:rPr sz="2300" b="0">
                <a:solidFill>
                  <a:srgbClr val="202122"/>
                </a:solidFill>
                <a:latin typeface="Calibri"/>
              </a:rPr>
              <a:t> title, purpose, scope, responsibilities, equipment, step-by-step method, safety notes, revision history.</a:t>
            </a:r>
          </a:p>
          <a:p>
            <a:pPr marL="274320" indent="-274320">
              <a:spcAft>
                <a:spcPts val="1035"/>
              </a:spcAft>
              <a:buClr>
                <a:srgbClr val="0645AD"/>
              </a:buClr>
              <a:buFont typeface="Arial"/>
              <a:buChar char="•"/>
            </a:pPr>
            <a:r>
              <a:rPr sz="2300" b="0">
                <a:solidFill>
                  <a:srgbClr val="202122"/>
                </a:solidFill>
                <a:latin typeface="Calibri"/>
              </a:rPr>
              <a:t>They are produced, implemented and evaluated, then updated under version control.</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An SOP means the job is done the same safe way whoever does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Standard operating procedures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an SOP?</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two purposes of SOPs.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include a revision history?</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Is inspection quality assurance or quality control?</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When is SPC better than 100% inspection?</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What does a Pareto chart show?</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Give two purposes of an SOP.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Is inspection quality assurance or quality control?</a:t>
            </a:r>
          </a:p>
          <a:p>
            <a:r>
              <a:rPr sz="1800" b="1">
                <a:solidFill>
                  <a:srgbClr val="03306E"/>
                </a:solidFill>
                <a:latin typeface="Calibri"/>
              </a:rPr>
              <a:t>Quality control.</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When is SPC better than 100% inspection?</a:t>
            </a:r>
          </a:p>
          <a:p>
            <a:r>
              <a:rPr sz="1800" b="1">
                <a:solidFill>
                  <a:srgbClr val="03306E"/>
                </a:solidFill>
                <a:latin typeface="Calibri"/>
              </a:rPr>
              <a:t>In high-volume production where checking every item is too slow or costly.</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What does a Pareto chart show?</a:t>
            </a:r>
          </a:p>
          <a:p>
            <a:r>
              <a:rPr sz="1800" b="1">
                <a:solidFill>
                  <a:srgbClr val="03306E"/>
                </a:solidFill>
                <a:latin typeface="Calibri"/>
              </a:rPr>
              <a:t>Which few causes create most of the problems.</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Give two purposes of an SOP.</a:t>
            </a:r>
          </a:p>
          <a:p>
            <a:r>
              <a:rPr sz="1800" b="1">
                <a:solidFill>
                  <a:srgbClr val="03306E"/>
                </a:solidFill>
                <a:latin typeface="Calibri"/>
              </a:rPr>
              <a:t>Any two of: standardising work, customer satisfaction, safety, 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Write an SOP</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Quality Management and SOPs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Choose a workshop task, e.g. setting up a pillar drill.</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Write an SOP using the typical format.</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Swap with another pair and follow it exactly.</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Improve anything that was unclear.</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Safety steps included</a:t>
            </a:r>
          </a:p>
          <a:p>
            <a:pPr marL="274320" indent="-274320">
              <a:spcAft>
                <a:spcPts val="810"/>
              </a:spcAft>
              <a:buClr>
                <a:srgbClr val="0645AD"/>
              </a:buClr>
              <a:buFont typeface="Arial"/>
              <a:buChar char="•"/>
            </a:pPr>
            <a:r>
              <a:rPr sz="1800" b="0">
                <a:solidFill>
                  <a:srgbClr val="202122"/>
                </a:solidFill>
                <a:latin typeface="Calibri"/>
              </a:rPr>
              <a:t>Another pair could follow it</a:t>
            </a:r>
          </a:p>
          <a:p>
            <a:pPr marL="274320" indent="-274320">
              <a:spcAft>
                <a:spcPts val="810"/>
              </a:spcAft>
              <a:buClr>
                <a:srgbClr val="0645AD"/>
              </a:buClr>
              <a:buFont typeface="Arial"/>
              <a:buChar char="•"/>
            </a:pPr>
            <a:r>
              <a:rPr sz="1800" b="0">
                <a:solidFill>
                  <a:srgbClr val="202122"/>
                </a:solidFill>
                <a:latin typeface="Calibri"/>
              </a:rPr>
              <a:t>Revision history updated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ENGINEERING CORE  ·  Core topic 11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does document control matter?</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is 'right first time'?</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Which engineering body would a mechanical engineer join?</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Engineering Core, Part 2</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https://lana6478.github.io/T-level-Design-Development-Engineering-Manufacturing/#/01-core-component/02-engineering-core-part2.md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Quality Management and SOPs</dc:title>
  <dc:subject>Design and Development for Engineering and Manufacturing T Level: Core topic 11</dc:subject>
  <dc:creator>Samuel O'Connell</dc:creator>
  <cp:keywords>T Level; Design and Development for Engineering and Manufacturing; lesson slides; 11.1, 11.2</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