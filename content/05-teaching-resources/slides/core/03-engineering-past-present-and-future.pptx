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They enabled mass production and easy repair.</a:t>
            </a:r>
          </a:p>
          <a:p>
            <a:r>
              <a:t>2. E.g. internal combustion engine, electric motor.</a:t>
            </a:r>
          </a:p>
          <a:p>
            <a:r>
              <a:t>3. They enabled automation and precise control.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Physical equipment tightly controlled by software and networks.</a:t>
            </a:r>
          </a:p>
          <a:p>
            <a:r>
              <a:t>2. Keeping materials in use through reuse, repair and recycling.</a:t>
            </a:r>
          </a:p>
          <a:p>
            <a:r>
              <a:t>3. E.g. overlaying instructions for training and maintenance.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F2B705"/>
                </a:solidFill>
                <a:latin typeface="Calibri"/>
              </a:rPr>
              <a:t>ENGINEERING CORE</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Engineering Past, Present and Future</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Core topic 2</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2.1, 2.2, 2.3</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Design and Development for Engineering and Manufacturing T Level  ·  Lesson slides</a:t>
            </a:r>
          </a:p>
          <a:p>
            <a:pPr algn="l"/>
            <a:r>
              <a:rPr sz="1100" b="0" i="0">
                <a:solidFill>
                  <a:srgbClr val="A9C8F0"/>
                </a:solidFill>
                <a:latin typeface="Calibri"/>
              </a:rPr>
              <a:t>Unofficial teaching resource. Check the official City &amp; Guilds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Engineering Past, Present and Future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4028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14400"/>
          </a:xfrm>
          <a:prstGeom prst="rect">
            <a:avLst/>
          </a:prstGeom>
          <a:noFill/>
        </p:spPr>
        <p:txBody>
          <a:bodyPr wrap="square" anchor="ctr" lIns="0" rIns="0" tIns="0" bIns="0"/>
          <a:lstStyle/>
          <a:p>
            <a:pPr algn="l"/>
            <a:r>
              <a:rPr sz="2000" b="0" i="0">
                <a:solidFill>
                  <a:srgbClr val="202122"/>
                </a:solidFill>
                <a:latin typeface="Calibri"/>
              </a:rPr>
              <a:t>Describe the main engineering sectors and their products.</a:t>
            </a:r>
          </a:p>
        </p:txBody>
      </p:sp>
      <p:sp>
        <p:nvSpPr>
          <p:cNvPr id="9" name="Oval 8"/>
          <p:cNvSpPr/>
          <p:nvPr/>
        </p:nvSpPr>
        <p:spPr>
          <a:xfrm>
            <a:off x="548640" y="329184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63240"/>
            <a:ext cx="6035040" cy="914400"/>
          </a:xfrm>
          <a:prstGeom prst="rect">
            <a:avLst/>
          </a:prstGeom>
          <a:noFill/>
        </p:spPr>
        <p:txBody>
          <a:bodyPr wrap="square" anchor="ctr" lIns="0" rIns="0" tIns="0" bIns="0"/>
          <a:lstStyle/>
          <a:p>
            <a:pPr algn="l"/>
            <a:r>
              <a:rPr sz="2000" b="0" i="0">
                <a:solidFill>
                  <a:srgbClr val="202122"/>
                </a:solidFill>
                <a:latin typeface="Calibri"/>
              </a:rPr>
              <a:t>Explain how historical advances shaped society.</a:t>
            </a:r>
          </a:p>
        </p:txBody>
      </p:sp>
      <p:sp>
        <p:nvSpPr>
          <p:cNvPr id="11" name="Oval 10"/>
          <p:cNvSpPr/>
          <p:nvPr/>
        </p:nvSpPr>
        <p:spPr>
          <a:xfrm>
            <a:off x="548640" y="43434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114800"/>
            <a:ext cx="6035040" cy="914400"/>
          </a:xfrm>
          <a:prstGeom prst="rect">
            <a:avLst/>
          </a:prstGeom>
          <a:noFill/>
        </p:spPr>
        <p:txBody>
          <a:bodyPr wrap="square" anchor="ctr" lIns="0" rIns="0" tIns="0" bIns="0"/>
          <a:lstStyle/>
          <a:p>
            <a:pPr algn="l"/>
            <a:r>
              <a:rPr sz="2000" b="0" i="0">
                <a:solidFill>
                  <a:srgbClr val="202122"/>
                </a:solidFill>
                <a:latin typeface="Calibri"/>
              </a:rPr>
              <a:t>Evaluate how emerging technologies may change manufacturing.</a:t>
            </a:r>
          </a:p>
        </p:txBody>
      </p:sp>
      <p:sp>
        <p:nvSpPr>
          <p:cNvPr id="13" name="Rounded Rectangle 12"/>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5" name="TextBox 14"/>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Which invention has changed the world the most: the electric motor, the internet, or the internal combustion engine?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Engineering sectors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Engineering Past, Present and Future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Rounded Rectangle 5"/>
          <p:cNvSpPr/>
          <p:nvPr/>
        </p:nvSpPr>
        <p:spPr>
          <a:xfrm>
            <a:off x="548640"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900" b="1" i="0">
                <a:solidFill>
                  <a:srgbClr val="03306E"/>
                </a:solidFill>
                <a:latin typeface="Calibri"/>
              </a:rPr>
              <a:t>Transport</a:t>
            </a:r>
          </a:p>
        </p:txBody>
      </p:sp>
      <p:sp>
        <p:nvSpPr>
          <p:cNvPr id="9" name="TextBox 8"/>
          <p:cNvSpPr txBox="1"/>
          <p:nvPr/>
        </p:nvSpPr>
        <p:spPr>
          <a:xfrm>
            <a:off x="777240" y="2468880"/>
            <a:ext cx="3058058" cy="1143000"/>
          </a:xfrm>
          <a:prstGeom prst="rect">
            <a:avLst/>
          </a:prstGeom>
          <a:noFill/>
        </p:spPr>
        <p:txBody>
          <a:bodyPr wrap="square" anchor="t" lIns="0" rIns="0" tIns="0" bIns="0"/>
          <a:lstStyle/>
          <a:p>
            <a:pPr algn="l"/>
            <a:r>
              <a:rPr sz="2000" b="0" i="0">
                <a:solidFill>
                  <a:srgbClr val="202122"/>
                </a:solidFill>
                <a:latin typeface="Calibri"/>
              </a:rPr>
              <a:t>Aerospace, automotive, rail, marine.</a:t>
            </a:r>
          </a:p>
        </p:txBody>
      </p:sp>
      <p:sp>
        <p:nvSpPr>
          <p:cNvPr id="10" name="Rounded Rectangle 9"/>
          <p:cNvSpPr/>
          <p:nvPr/>
        </p:nvSpPr>
        <p:spPr>
          <a:xfrm>
            <a:off x="4338218"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900" b="1" i="0">
                <a:solidFill>
                  <a:srgbClr val="03306E"/>
                </a:solidFill>
                <a:latin typeface="Calibri"/>
              </a:rPr>
              <a:t>Energy</a:t>
            </a:r>
          </a:p>
        </p:txBody>
      </p:sp>
      <p:sp>
        <p:nvSpPr>
          <p:cNvPr id="13" name="TextBox 12"/>
          <p:cNvSpPr txBox="1"/>
          <p:nvPr/>
        </p:nvSpPr>
        <p:spPr>
          <a:xfrm>
            <a:off x="4566818" y="2468880"/>
            <a:ext cx="3058058" cy="1143000"/>
          </a:xfrm>
          <a:prstGeom prst="rect">
            <a:avLst/>
          </a:prstGeom>
          <a:noFill/>
        </p:spPr>
        <p:txBody>
          <a:bodyPr wrap="square" anchor="t" lIns="0" rIns="0" tIns="0" bIns="0"/>
          <a:lstStyle/>
          <a:p>
            <a:pPr algn="l"/>
            <a:r>
              <a:rPr sz="2000" b="0" i="0">
                <a:solidFill>
                  <a:srgbClr val="202122"/>
                </a:solidFill>
                <a:latin typeface="Calibri"/>
              </a:rPr>
              <a:t>Power generation (renewable, non-renewable, nuclear), petrochemical.</a:t>
            </a:r>
          </a:p>
        </p:txBody>
      </p:sp>
      <p:sp>
        <p:nvSpPr>
          <p:cNvPr id="14" name="Rounded Rectangle 13"/>
          <p:cNvSpPr/>
          <p:nvPr/>
        </p:nvSpPr>
        <p:spPr>
          <a:xfrm>
            <a:off x="8127796"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900" b="1" i="0">
                <a:solidFill>
                  <a:srgbClr val="03306E"/>
                </a:solidFill>
                <a:latin typeface="Calibri"/>
              </a:rPr>
              <a:t>Industry</a:t>
            </a:r>
          </a:p>
        </p:txBody>
      </p:sp>
      <p:sp>
        <p:nvSpPr>
          <p:cNvPr id="17" name="TextBox 16"/>
          <p:cNvSpPr txBox="1"/>
          <p:nvPr/>
        </p:nvSpPr>
        <p:spPr>
          <a:xfrm>
            <a:off x="8356396" y="2468880"/>
            <a:ext cx="3058058" cy="1143000"/>
          </a:xfrm>
          <a:prstGeom prst="rect">
            <a:avLst/>
          </a:prstGeom>
          <a:noFill/>
        </p:spPr>
        <p:txBody>
          <a:bodyPr wrap="square" anchor="t" lIns="0" rIns="0" tIns="0" bIns="0"/>
          <a:lstStyle/>
          <a:p>
            <a:pPr algn="l"/>
            <a:r>
              <a:rPr sz="2000" b="0" i="0">
                <a:solidFill>
                  <a:srgbClr val="202122"/>
                </a:solidFill>
                <a:latin typeface="Calibri"/>
              </a:rPr>
              <a:t>Manufacturing, materials, chemical, control, electrical and electronic.</a:t>
            </a:r>
          </a:p>
        </p:txBody>
      </p:sp>
      <p:sp>
        <p:nvSpPr>
          <p:cNvPr id="18" name="Rounded Rectangle 17"/>
          <p:cNvSpPr/>
          <p:nvPr/>
        </p:nvSpPr>
        <p:spPr>
          <a:xfrm>
            <a:off x="548640"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1371600" y="4224528"/>
            <a:ext cx="2509418" cy="512064"/>
          </a:xfrm>
          <a:prstGeom prst="rect">
            <a:avLst/>
          </a:prstGeom>
          <a:noFill/>
        </p:spPr>
        <p:txBody>
          <a:bodyPr wrap="square" anchor="ctr" lIns="0" rIns="0" tIns="0" bIns="0"/>
          <a:lstStyle/>
          <a:p>
            <a:pPr algn="l"/>
            <a:r>
              <a:rPr sz="1900" b="1" i="0">
                <a:solidFill>
                  <a:srgbClr val="03306E"/>
                </a:solidFill>
                <a:latin typeface="Calibri"/>
              </a:rPr>
              <a:t>Infrastructure</a:t>
            </a:r>
          </a:p>
        </p:txBody>
      </p:sp>
      <p:sp>
        <p:nvSpPr>
          <p:cNvPr id="21" name="TextBox 20"/>
          <p:cNvSpPr txBox="1"/>
          <p:nvPr/>
        </p:nvSpPr>
        <p:spPr>
          <a:xfrm>
            <a:off x="777240" y="4892040"/>
            <a:ext cx="3058058" cy="1143000"/>
          </a:xfrm>
          <a:prstGeom prst="rect">
            <a:avLst/>
          </a:prstGeom>
          <a:noFill/>
        </p:spPr>
        <p:txBody>
          <a:bodyPr wrap="square" anchor="t" lIns="0" rIns="0" tIns="0" bIns="0"/>
          <a:lstStyle/>
          <a:p>
            <a:pPr algn="l"/>
            <a:r>
              <a:rPr sz="2000" b="0" i="0">
                <a:solidFill>
                  <a:srgbClr val="202122"/>
                </a:solidFill>
                <a:latin typeface="Calibri"/>
              </a:rPr>
              <a:t>Structural, water and waste, telecommunications, logistics.</a:t>
            </a:r>
          </a:p>
        </p:txBody>
      </p:sp>
      <p:sp>
        <p:nvSpPr>
          <p:cNvPr id="22" name="Rounded Rectangle 21"/>
          <p:cNvSpPr/>
          <p:nvPr/>
        </p:nvSpPr>
        <p:spPr>
          <a:xfrm>
            <a:off x="4338218"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566818"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5</a:t>
            </a:r>
          </a:p>
        </p:txBody>
      </p:sp>
      <p:sp>
        <p:nvSpPr>
          <p:cNvPr id="24" name="TextBox 23"/>
          <p:cNvSpPr txBox="1"/>
          <p:nvPr/>
        </p:nvSpPr>
        <p:spPr>
          <a:xfrm>
            <a:off x="5161178" y="4224528"/>
            <a:ext cx="2509418" cy="512064"/>
          </a:xfrm>
          <a:prstGeom prst="rect">
            <a:avLst/>
          </a:prstGeom>
          <a:noFill/>
        </p:spPr>
        <p:txBody>
          <a:bodyPr wrap="square" anchor="ctr" lIns="0" rIns="0" tIns="0" bIns="0"/>
          <a:lstStyle/>
          <a:p>
            <a:pPr algn="l"/>
            <a:r>
              <a:rPr sz="1900" b="1" i="0">
                <a:solidFill>
                  <a:srgbClr val="03306E"/>
                </a:solidFill>
                <a:latin typeface="Calibri"/>
              </a:rPr>
              <a:t>Specialist</a:t>
            </a:r>
          </a:p>
        </p:txBody>
      </p:sp>
      <p:sp>
        <p:nvSpPr>
          <p:cNvPr id="25" name="TextBox 24"/>
          <p:cNvSpPr txBox="1"/>
          <p:nvPr/>
        </p:nvSpPr>
        <p:spPr>
          <a:xfrm>
            <a:off x="4566818" y="4892040"/>
            <a:ext cx="3058058" cy="1143000"/>
          </a:xfrm>
          <a:prstGeom prst="rect">
            <a:avLst/>
          </a:prstGeom>
          <a:noFill/>
        </p:spPr>
        <p:txBody>
          <a:bodyPr wrap="square" anchor="t" lIns="0" rIns="0" tIns="0" bIns="0"/>
          <a:lstStyle/>
          <a:p>
            <a:pPr algn="l"/>
            <a:r>
              <a:rPr sz="2000" b="0" i="0">
                <a:solidFill>
                  <a:srgbClr val="202122"/>
                </a:solidFill>
                <a:latin typeface="Calibri"/>
              </a:rPr>
              <a:t>Defence, medical, agriculture.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Historical advances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Engineering Past, Present and Future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60"/>
              </a:spcAft>
            </a:pPr>
            <a:r>
              <a:rPr sz="2100" b="0">
                <a:solidFill>
                  <a:srgbClr val="202122"/>
                </a:solidFill>
                <a:latin typeface="Calibri"/>
              </a:rPr>
              <a:t>Engineering has transformed how people live.</a:t>
            </a:r>
          </a:p>
          <a:p>
            <a:pPr>
              <a:spcAft>
                <a:spcPts val="1260"/>
              </a:spcAft>
            </a:pPr>
            <a:r>
              <a:rPr sz="2100" b="0">
                <a:solidFill>
                  <a:srgbClr val="202122"/>
                </a:solidFill>
                <a:latin typeface="Calibri"/>
              </a:rPr>
              <a:t>New materials, such as steel, made stronger structures possible. Electrical power and lighting transformed factories and homes. The internal combustion engine and electric motors made modern transport and machinery possible. Replaceable parts and mass production made goods cheap and repairable. Radio, television, computers and the internet changed communication and allowed automation.</a:t>
            </a:r>
          </a:p>
          <a:p>
            <a:pPr>
              <a:spcAft>
                <a:spcPts val="1260"/>
              </a:spcAft>
            </a:pPr>
            <a:r>
              <a:rPr sz="2100" b="0">
                <a:solidFill>
                  <a:srgbClr val="202122"/>
                </a:solidFill>
                <a:latin typeface="Calibri"/>
              </a:rPr>
              <a:t>These advances reshaped transport, healthcare, housing and employment, and now drive the push for sustainability.</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Replaceable, standardised parts meant a broken rifle or car could be repaired with a new part instead of being hand-made again: the basis of mass production.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Historical advances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Engineering Past, Present and Future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graphicFrame>
        <p:nvGraphicFramePr>
          <p:cNvPr id="6" name="Table 5"/>
          <p:cNvGraphicFramePr>
            <a:graphicFrameLocks noGrp="1"/>
          </p:cNvGraphicFramePr>
          <p:nvPr/>
        </p:nvGraphicFramePr>
        <p:xfrm>
          <a:off x="548640" y="1600200"/>
          <a:ext cx="11094414" cy="3977640"/>
        </p:xfrm>
        <a:graphic>
          <a:graphicData uri="http://schemas.openxmlformats.org/drawingml/2006/table">
            <a:tbl>
              <a:tblPr firstRow="1" bandRow="1">
                <a:tableStyleId>{5C22544A-7EE6-4342-B048-85BDC9FD1C3A}</a:tableStyleId>
              </a:tblPr>
              <a:tblGrid>
                <a:gridCol w="3870144"/>
                <a:gridCol w="7224270"/>
              </a:tblGrid>
              <a:tr h="662940">
                <a:tc>
                  <a:txBody>
                    <a:bodyPr wrap="square"/>
                    <a:lstStyle/>
                    <a:p>
                      <a:r>
                        <a:rPr sz="1600" b="1">
                          <a:solidFill>
                            <a:srgbClr val="FFFFFF"/>
                          </a:solidFill>
                          <a:latin typeface="Calibri"/>
                        </a:rPr>
                        <a:t>Advance</a:t>
                      </a:r>
                    </a:p>
                  </a:txBody>
                  <a:tcPr marL="91440" marR="91440" anchor="ctr">
                    <a:solidFill>
                      <a:srgbClr val="03306E"/>
                    </a:solidFill>
                  </a:tcPr>
                </a:tc>
                <a:tc>
                  <a:txBody>
                    <a:bodyPr wrap="square"/>
                    <a:lstStyle/>
                    <a:p>
                      <a:r>
                        <a:rPr sz="1600" b="1">
                          <a:solidFill>
                            <a:srgbClr val="FFFFFF"/>
                          </a:solidFill>
                          <a:latin typeface="Calibri"/>
                        </a:rPr>
                        <a:t>Impact</a:t>
                      </a:r>
                    </a:p>
                  </a:txBody>
                  <a:tcPr marL="91440" marR="91440" anchor="ctr">
                    <a:solidFill>
                      <a:srgbClr val="03306E"/>
                    </a:solidFill>
                  </a:tcPr>
                </a:tc>
              </a:tr>
              <a:tr h="662940">
                <a:tc>
                  <a:txBody>
                    <a:bodyPr wrap="square"/>
                    <a:lstStyle/>
                    <a:p>
                      <a:r>
                        <a:rPr sz="1600" b="1">
                          <a:solidFill>
                            <a:srgbClr val="03306E"/>
                          </a:solidFill>
                          <a:latin typeface="Calibri"/>
                        </a:rPr>
                        <a:t>New materials</a:t>
                      </a:r>
                    </a:p>
                  </a:txBody>
                  <a:tcPr marL="91440" marR="91440" anchor="ctr">
                    <a:solidFill>
                      <a:srgbClr val="FFFFFF"/>
                    </a:solidFill>
                  </a:tcPr>
                </a:tc>
                <a:tc>
                  <a:txBody>
                    <a:bodyPr wrap="square"/>
                    <a:lstStyle/>
                    <a:p>
                      <a:r>
                        <a:rPr sz="1600" b="0">
                          <a:solidFill>
                            <a:srgbClr val="202122"/>
                          </a:solidFill>
                          <a:latin typeface="Calibri"/>
                        </a:rPr>
                        <a:t>Stronger, lighter structures and products</a:t>
                      </a:r>
                    </a:p>
                  </a:txBody>
                  <a:tcPr marL="91440" marR="91440" anchor="ctr">
                    <a:solidFill>
                      <a:srgbClr val="FFFFFF"/>
                    </a:solidFill>
                  </a:tcPr>
                </a:tc>
              </a:tr>
              <a:tr h="662940">
                <a:tc>
                  <a:txBody>
                    <a:bodyPr wrap="square"/>
                    <a:lstStyle/>
                    <a:p>
                      <a:r>
                        <a:rPr sz="1600" b="1">
                          <a:solidFill>
                            <a:srgbClr val="03306E"/>
                          </a:solidFill>
                          <a:latin typeface="Calibri"/>
                        </a:rPr>
                        <a:t>Electrical power and lighting</a:t>
                      </a:r>
                    </a:p>
                  </a:txBody>
                  <a:tcPr marL="91440" marR="91440" anchor="ctr">
                    <a:solidFill>
                      <a:srgbClr val="EAF3FF"/>
                    </a:solidFill>
                  </a:tcPr>
                </a:tc>
                <a:tc>
                  <a:txBody>
                    <a:bodyPr wrap="square"/>
                    <a:lstStyle/>
                    <a:p>
                      <a:r>
                        <a:rPr sz="1600" b="0">
                          <a:solidFill>
                            <a:srgbClr val="202122"/>
                          </a:solidFill>
                          <a:latin typeface="Calibri"/>
                        </a:rPr>
                        <a:t>Factories and homes powered and lit</a:t>
                      </a:r>
                    </a:p>
                  </a:txBody>
                  <a:tcPr marL="91440" marR="91440" anchor="ctr">
                    <a:solidFill>
                      <a:srgbClr val="EAF3FF"/>
                    </a:solidFill>
                  </a:tcPr>
                </a:tc>
              </a:tr>
              <a:tr h="662940">
                <a:tc>
                  <a:txBody>
                    <a:bodyPr wrap="square"/>
                    <a:lstStyle/>
                    <a:p>
                      <a:r>
                        <a:rPr sz="1600" b="1">
                          <a:solidFill>
                            <a:srgbClr val="03306E"/>
                          </a:solidFill>
                          <a:latin typeface="Calibri"/>
                        </a:rPr>
                        <a:t>Internal combustion engine and electric motors</a:t>
                      </a:r>
                    </a:p>
                  </a:txBody>
                  <a:tcPr marL="91440" marR="91440" anchor="ctr">
                    <a:solidFill>
                      <a:srgbClr val="FFFFFF"/>
                    </a:solidFill>
                  </a:tcPr>
                </a:tc>
                <a:tc>
                  <a:txBody>
                    <a:bodyPr wrap="square"/>
                    <a:lstStyle/>
                    <a:p>
                      <a:r>
                        <a:rPr sz="1600" b="0">
                          <a:solidFill>
                            <a:srgbClr val="202122"/>
                          </a:solidFill>
                          <a:latin typeface="Calibri"/>
                        </a:rPr>
                        <a:t>Modern transport and machinery</a:t>
                      </a:r>
                    </a:p>
                  </a:txBody>
                  <a:tcPr marL="91440" marR="91440" anchor="ctr">
                    <a:solidFill>
                      <a:srgbClr val="FFFFFF"/>
                    </a:solidFill>
                  </a:tcPr>
                </a:tc>
              </a:tr>
              <a:tr h="662940">
                <a:tc>
                  <a:txBody>
                    <a:bodyPr wrap="square"/>
                    <a:lstStyle/>
                    <a:p>
                      <a:r>
                        <a:rPr sz="1600" b="1">
                          <a:solidFill>
                            <a:srgbClr val="03306E"/>
                          </a:solidFill>
                          <a:latin typeface="Calibri"/>
                        </a:rPr>
                        <a:t>Replaceable parts and mass production</a:t>
                      </a:r>
                    </a:p>
                  </a:txBody>
                  <a:tcPr marL="91440" marR="91440" anchor="ctr">
                    <a:solidFill>
                      <a:srgbClr val="EAF3FF"/>
                    </a:solidFill>
                  </a:tcPr>
                </a:tc>
                <a:tc>
                  <a:txBody>
                    <a:bodyPr wrap="square"/>
                    <a:lstStyle/>
                    <a:p>
                      <a:r>
                        <a:rPr sz="1600" b="0">
                          <a:solidFill>
                            <a:srgbClr val="202122"/>
                          </a:solidFill>
                          <a:latin typeface="Calibri"/>
                        </a:rPr>
                        <a:t>Cheaper goods and new jobs</a:t>
                      </a:r>
                    </a:p>
                  </a:txBody>
                  <a:tcPr marL="91440" marR="91440" anchor="ctr">
                    <a:solidFill>
                      <a:srgbClr val="EAF3FF"/>
                    </a:solidFill>
                  </a:tcPr>
                </a:tc>
              </a:tr>
              <a:tr h="662940">
                <a:tc>
                  <a:txBody>
                    <a:bodyPr wrap="square"/>
                    <a:lstStyle/>
                    <a:p>
                      <a:r>
                        <a:rPr sz="1600" b="1">
                          <a:solidFill>
                            <a:srgbClr val="03306E"/>
                          </a:solidFill>
                          <a:latin typeface="Calibri"/>
                        </a:rPr>
                        <a:t>Radio, television, computers, internet</a:t>
                      </a:r>
                    </a:p>
                  </a:txBody>
                  <a:tcPr marL="91440" marR="91440" anchor="ctr">
                    <a:solidFill>
                      <a:srgbClr val="FFFFFF"/>
                    </a:solidFill>
                  </a:tcPr>
                </a:tc>
                <a:tc>
                  <a:txBody>
                    <a:bodyPr wrap="square"/>
                    <a:lstStyle/>
                    <a:p>
                      <a:r>
                        <a:rPr sz="1600" b="0">
                          <a:solidFill>
                            <a:srgbClr val="202122"/>
                          </a:solidFill>
                          <a:latin typeface="Calibri"/>
                        </a:rPr>
                        <a:t>Global communication and automation</a:t>
                      </a:r>
                    </a:p>
                  </a:txBody>
                  <a:tcPr marL="91440" marR="91440" anchor="ctr">
                    <a:solidFill>
                      <a:srgbClr val="FFFFFF"/>
                    </a:solidFill>
                  </a:tcPr>
                </a:tc>
              </a:tr>
            </a:tbl>
          </a:graphicData>
        </a:graphic>
      </p:graphicFrame>
      <p:sp>
        <p:nvSpPr>
          <p:cNvPr id="7" name="TextBox 6"/>
          <p:cNvSpPr txBox="1"/>
          <p:nvPr/>
        </p:nvSpPr>
        <p:spPr>
          <a:xfrm>
            <a:off x="548640" y="5715000"/>
            <a:ext cx="11094415" cy="457200"/>
          </a:xfrm>
          <a:prstGeom prst="rect">
            <a:avLst/>
          </a:prstGeom>
          <a:noFill/>
        </p:spPr>
        <p:txBody>
          <a:bodyPr wrap="square" anchor="t" lIns="0" rIns="0" tIns="0" bIns="0"/>
          <a:lstStyle/>
          <a:p>
            <a:pPr algn="l"/>
            <a:r>
              <a:rPr sz="1300" b="0" i="1">
                <a:solidFill>
                  <a:srgbClr val="54595D"/>
                </a:solidFill>
                <a:latin typeface="Calibri"/>
              </a:rPr>
              <a:t>These shaped transport, healthcare, housing, employment and sustainability.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Historical advances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Engineering Past, Present and Future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Why were replaceable parts important?</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Name two advances that changed transport.</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How did computers change manufacturing?</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Emerging trends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Engineering Past, Present and Future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Several trends are reshaping engineering.</a:t>
            </a:r>
          </a:p>
          <a:p>
            <a:pPr>
              <a:spcAft>
                <a:spcPts val="1320"/>
              </a:spcAft>
            </a:pPr>
            <a:r>
              <a:rPr sz="2200" b="0">
                <a:solidFill>
                  <a:srgbClr val="202122"/>
                </a:solidFill>
                <a:latin typeface="Calibri"/>
              </a:rPr>
              <a:t>Digitalisation, the Internet of Things and cloud computing connect machines and data. Cyber-physical systems tightly link physical equipment with software control. AI analyses data and optimises processes. Robotics, drones and autonomous systems take on repetitive or dangerous work. Virtual and augmented reality help with design and training. Distributed energy and hybrid technologies change how power is made and used. The circular economy keeps materials in use through reuse, repair and recycling.</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'smart factory' uses IoT sensors on every machine, AI to predict breakdowns, and robots for assembly, all monitored from the cloud.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Emerging trends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Engineering Past, Present and Future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Rounded Rectangle 5"/>
          <p:cNvSpPr/>
          <p:nvPr/>
        </p:nvSpPr>
        <p:spPr>
          <a:xfrm>
            <a:off x="548640"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900" b="1" i="0">
                <a:solidFill>
                  <a:srgbClr val="03306E"/>
                </a:solidFill>
                <a:latin typeface="Calibri"/>
              </a:rPr>
              <a:t>Digital</a:t>
            </a:r>
          </a:p>
        </p:txBody>
      </p:sp>
      <p:sp>
        <p:nvSpPr>
          <p:cNvPr id="9" name="TextBox 8"/>
          <p:cNvSpPr txBox="1"/>
          <p:nvPr/>
        </p:nvSpPr>
        <p:spPr>
          <a:xfrm>
            <a:off x="777240" y="2468880"/>
            <a:ext cx="3058058" cy="1143000"/>
          </a:xfrm>
          <a:prstGeom prst="rect">
            <a:avLst/>
          </a:prstGeom>
          <a:noFill/>
        </p:spPr>
        <p:txBody>
          <a:bodyPr wrap="square" anchor="t" lIns="0" rIns="0" tIns="0" bIns="0"/>
          <a:lstStyle/>
          <a:p>
            <a:pPr algn="l"/>
            <a:r>
              <a:rPr sz="2000" b="0" i="0">
                <a:solidFill>
                  <a:srgbClr val="202122"/>
                </a:solidFill>
                <a:latin typeface="Calibri"/>
              </a:rPr>
              <a:t>AI, digitalisation, IoT, cloud computing, cyber-physical systems.</a:t>
            </a:r>
          </a:p>
        </p:txBody>
      </p:sp>
      <p:sp>
        <p:nvSpPr>
          <p:cNvPr id="10" name="Rounded Rectangle 9"/>
          <p:cNvSpPr/>
          <p:nvPr/>
        </p:nvSpPr>
        <p:spPr>
          <a:xfrm>
            <a:off x="4338218"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900" b="1" i="0">
                <a:solidFill>
                  <a:srgbClr val="03306E"/>
                </a:solidFill>
                <a:latin typeface="Calibri"/>
              </a:rPr>
              <a:t>Automation</a:t>
            </a:r>
          </a:p>
        </p:txBody>
      </p:sp>
      <p:sp>
        <p:nvSpPr>
          <p:cNvPr id="13" name="TextBox 12"/>
          <p:cNvSpPr txBox="1"/>
          <p:nvPr/>
        </p:nvSpPr>
        <p:spPr>
          <a:xfrm>
            <a:off x="4566818" y="2468880"/>
            <a:ext cx="3058058" cy="1143000"/>
          </a:xfrm>
          <a:prstGeom prst="rect">
            <a:avLst/>
          </a:prstGeom>
          <a:noFill/>
        </p:spPr>
        <p:txBody>
          <a:bodyPr wrap="square" anchor="t" lIns="0" rIns="0" tIns="0" bIns="0"/>
          <a:lstStyle/>
          <a:p>
            <a:pPr algn="l"/>
            <a:r>
              <a:rPr sz="2000" b="0" i="0">
                <a:solidFill>
                  <a:srgbClr val="202122"/>
                </a:solidFill>
                <a:latin typeface="Calibri"/>
              </a:rPr>
              <a:t>Robotics, drones, autonomous systems.</a:t>
            </a:r>
          </a:p>
        </p:txBody>
      </p:sp>
      <p:sp>
        <p:nvSpPr>
          <p:cNvPr id="14" name="Rounded Rectangle 13"/>
          <p:cNvSpPr/>
          <p:nvPr/>
        </p:nvSpPr>
        <p:spPr>
          <a:xfrm>
            <a:off x="8127796"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900" b="1" i="0">
                <a:solidFill>
                  <a:srgbClr val="03306E"/>
                </a:solidFill>
                <a:latin typeface="Calibri"/>
              </a:rPr>
              <a:t>Reality</a:t>
            </a:r>
          </a:p>
        </p:txBody>
      </p:sp>
      <p:sp>
        <p:nvSpPr>
          <p:cNvPr id="17" name="TextBox 16"/>
          <p:cNvSpPr txBox="1"/>
          <p:nvPr/>
        </p:nvSpPr>
        <p:spPr>
          <a:xfrm>
            <a:off x="8356396" y="2468880"/>
            <a:ext cx="3058058" cy="1143000"/>
          </a:xfrm>
          <a:prstGeom prst="rect">
            <a:avLst/>
          </a:prstGeom>
          <a:noFill/>
        </p:spPr>
        <p:txBody>
          <a:bodyPr wrap="square" anchor="t" lIns="0" rIns="0" tIns="0" bIns="0"/>
          <a:lstStyle/>
          <a:p>
            <a:pPr algn="l"/>
            <a:r>
              <a:rPr sz="2000" b="0" i="0">
                <a:solidFill>
                  <a:srgbClr val="202122"/>
                </a:solidFill>
                <a:latin typeface="Calibri"/>
              </a:rPr>
              <a:t>Virtual and augmented reality for design and training.</a:t>
            </a:r>
          </a:p>
        </p:txBody>
      </p:sp>
      <p:sp>
        <p:nvSpPr>
          <p:cNvPr id="18" name="Rounded Rectangle 17"/>
          <p:cNvSpPr/>
          <p:nvPr/>
        </p:nvSpPr>
        <p:spPr>
          <a:xfrm>
            <a:off x="548640"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1371600" y="4224528"/>
            <a:ext cx="2509418" cy="512064"/>
          </a:xfrm>
          <a:prstGeom prst="rect">
            <a:avLst/>
          </a:prstGeom>
          <a:noFill/>
        </p:spPr>
        <p:txBody>
          <a:bodyPr wrap="square" anchor="ctr" lIns="0" rIns="0" tIns="0" bIns="0"/>
          <a:lstStyle/>
          <a:p>
            <a:pPr algn="l"/>
            <a:r>
              <a:rPr sz="1900" b="1" i="0">
                <a:solidFill>
                  <a:srgbClr val="03306E"/>
                </a:solidFill>
                <a:latin typeface="Calibri"/>
              </a:rPr>
              <a:t>Energy</a:t>
            </a:r>
          </a:p>
        </p:txBody>
      </p:sp>
      <p:sp>
        <p:nvSpPr>
          <p:cNvPr id="21" name="TextBox 20"/>
          <p:cNvSpPr txBox="1"/>
          <p:nvPr/>
        </p:nvSpPr>
        <p:spPr>
          <a:xfrm>
            <a:off x="777240" y="4892040"/>
            <a:ext cx="3058058" cy="1143000"/>
          </a:xfrm>
          <a:prstGeom prst="rect">
            <a:avLst/>
          </a:prstGeom>
          <a:noFill/>
        </p:spPr>
        <p:txBody>
          <a:bodyPr wrap="square" anchor="t" lIns="0" rIns="0" tIns="0" bIns="0"/>
          <a:lstStyle/>
          <a:p>
            <a:pPr algn="l"/>
            <a:r>
              <a:rPr sz="2000" b="0" i="0">
                <a:solidFill>
                  <a:srgbClr val="202122"/>
                </a:solidFill>
                <a:latin typeface="Calibri"/>
              </a:rPr>
              <a:t>Distributed energy and hybrid technologies.</a:t>
            </a:r>
          </a:p>
        </p:txBody>
      </p:sp>
      <p:sp>
        <p:nvSpPr>
          <p:cNvPr id="22" name="Rounded Rectangle 21"/>
          <p:cNvSpPr/>
          <p:nvPr/>
        </p:nvSpPr>
        <p:spPr>
          <a:xfrm>
            <a:off x="4338218"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566818"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5</a:t>
            </a:r>
          </a:p>
        </p:txBody>
      </p:sp>
      <p:sp>
        <p:nvSpPr>
          <p:cNvPr id="24" name="TextBox 23"/>
          <p:cNvSpPr txBox="1"/>
          <p:nvPr/>
        </p:nvSpPr>
        <p:spPr>
          <a:xfrm>
            <a:off x="5161178" y="4224528"/>
            <a:ext cx="2509418" cy="512064"/>
          </a:xfrm>
          <a:prstGeom prst="rect">
            <a:avLst/>
          </a:prstGeom>
          <a:noFill/>
        </p:spPr>
        <p:txBody>
          <a:bodyPr wrap="square" anchor="ctr" lIns="0" rIns="0" tIns="0" bIns="0"/>
          <a:lstStyle/>
          <a:p>
            <a:pPr algn="l"/>
            <a:r>
              <a:rPr sz="1900" b="1" i="0">
                <a:solidFill>
                  <a:srgbClr val="03306E"/>
                </a:solidFill>
                <a:latin typeface="Calibri"/>
              </a:rPr>
              <a:t>Sustainability</a:t>
            </a:r>
          </a:p>
        </p:txBody>
      </p:sp>
      <p:sp>
        <p:nvSpPr>
          <p:cNvPr id="25" name="TextBox 24"/>
          <p:cNvSpPr txBox="1"/>
          <p:nvPr/>
        </p:nvSpPr>
        <p:spPr>
          <a:xfrm>
            <a:off x="4566818" y="4892040"/>
            <a:ext cx="3058058" cy="1143000"/>
          </a:xfrm>
          <a:prstGeom prst="rect">
            <a:avLst/>
          </a:prstGeom>
          <a:noFill/>
        </p:spPr>
        <p:txBody>
          <a:bodyPr wrap="square" anchor="t" lIns="0" rIns="0" tIns="0" bIns="0"/>
          <a:lstStyle/>
          <a:p>
            <a:pPr algn="l"/>
            <a:r>
              <a:rPr sz="2000" b="0" i="0">
                <a:solidFill>
                  <a:srgbClr val="202122"/>
                </a:solidFill>
                <a:latin typeface="Calibri"/>
              </a:rPr>
              <a:t>The circular economy.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Emerging trends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Engineering Past, Present and Future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a cyber-physical system?</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the circular economy?</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How can AR help engineers?</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Engineering Past, Present and Future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2200" b="0" i="0">
                <a:solidFill>
                  <a:srgbClr val="202122"/>
                </a:solidFill>
                <a:latin typeface="Calibri"/>
              </a:rPr>
              <a:t>Name three engineering sectors.</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2200" b="0" i="0">
                <a:solidFill>
                  <a:srgbClr val="202122"/>
                </a:solidFill>
                <a:latin typeface="Calibri"/>
              </a:rPr>
              <a:t>How did replaceable parts change manufacturing?</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2200" b="0" i="0">
                <a:solidFill>
                  <a:srgbClr val="202122"/>
                </a:solidFill>
                <a:latin typeface="Calibri"/>
              </a:rPr>
              <a:t>What is a cyber-physical system?</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2200" b="0" i="0">
                <a:solidFill>
                  <a:srgbClr val="202122"/>
                </a:solidFill>
                <a:latin typeface="Calibri"/>
              </a:rPr>
              <a:t>What is the circular economy?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Engineering Past, Present and Future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1800" b="0" i="0">
                <a:solidFill>
                  <a:srgbClr val="54595D"/>
                </a:solidFill>
                <a:latin typeface="Calibri"/>
              </a:rPr>
              <a:t>Name three engineering sectors.</a:t>
            </a:r>
          </a:p>
          <a:p>
            <a:r>
              <a:rPr sz="1800" b="1">
                <a:solidFill>
                  <a:srgbClr val="03306E"/>
                </a:solidFill>
                <a:latin typeface="Calibri"/>
              </a:rPr>
              <a:t>Any three, e.g. aerospace, automotive, marine.</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1800" b="0" i="0">
                <a:solidFill>
                  <a:srgbClr val="54595D"/>
                </a:solidFill>
                <a:latin typeface="Calibri"/>
              </a:rPr>
              <a:t>How did replaceable parts change manufacturing?</a:t>
            </a:r>
          </a:p>
          <a:p>
            <a:r>
              <a:rPr sz="1800" b="1">
                <a:solidFill>
                  <a:srgbClr val="03306E"/>
                </a:solidFill>
                <a:latin typeface="Calibri"/>
              </a:rPr>
              <a:t>They enabled mass production and easy repair.</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1800" b="0" i="0">
                <a:solidFill>
                  <a:srgbClr val="54595D"/>
                </a:solidFill>
                <a:latin typeface="Calibri"/>
              </a:rPr>
              <a:t>What is a cyber-physical system?</a:t>
            </a:r>
          </a:p>
          <a:p>
            <a:r>
              <a:rPr sz="1800" b="1">
                <a:solidFill>
                  <a:srgbClr val="03306E"/>
                </a:solidFill>
                <a:latin typeface="Calibri"/>
              </a:rPr>
              <a:t>Physical machinery tightly controlled by software and networks.</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1800" b="0" i="0">
                <a:solidFill>
                  <a:srgbClr val="54595D"/>
                </a:solidFill>
                <a:latin typeface="Calibri"/>
              </a:rPr>
              <a:t>What is the circular economy?</a:t>
            </a:r>
          </a:p>
          <a:p>
            <a:r>
              <a:rPr sz="1800" b="1">
                <a:solidFill>
                  <a:srgbClr val="03306E"/>
                </a:solidFill>
                <a:latin typeface="Calibri"/>
              </a:rPr>
              <a:t>Keeping materials in use through reuse, repair and recycling.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Timeline and forecast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Engineering Past, Present and Future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Rounded Rectangle 5"/>
          <p:cNvSpPr/>
          <p:nvPr/>
        </p:nvSpPr>
        <p:spPr>
          <a:xfrm>
            <a:off x="548640" y="1508760"/>
            <a:ext cx="2011680" cy="45720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25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Small groups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Pick one sector.</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Build a timeline of four key advances in that sector.</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Predict how two emerging technologies will change it by 2040.</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Present your forecast in two minutes.</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Advances in correct order</a:t>
            </a:r>
          </a:p>
          <a:p>
            <a:pPr marL="274320" indent="-274320">
              <a:spcAft>
                <a:spcPts val="810"/>
              </a:spcAft>
              <a:buClr>
                <a:srgbClr val="0645AD"/>
              </a:buClr>
              <a:buFont typeface="Arial"/>
              <a:buChar char="•"/>
            </a:pPr>
            <a:r>
              <a:rPr sz="1800" b="0">
                <a:solidFill>
                  <a:srgbClr val="202122"/>
                </a:solidFill>
                <a:latin typeface="Calibri"/>
              </a:rPr>
              <a:t>Social and economic effects explained</a:t>
            </a:r>
          </a:p>
          <a:p>
            <a:pPr marL="274320" indent="-274320">
              <a:spcAft>
                <a:spcPts val="810"/>
              </a:spcAft>
              <a:buClr>
                <a:srgbClr val="0645AD"/>
              </a:buClr>
              <a:buFont typeface="Arial"/>
              <a:buChar char="•"/>
            </a:pPr>
            <a:r>
              <a:rPr sz="1800" b="0">
                <a:solidFill>
                  <a:srgbClr val="202122"/>
                </a:solidFill>
                <a:latin typeface="Calibri"/>
              </a:rPr>
              <a:t>Forecast is reasoned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ENGINEERING CORE  ·  Core topic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Which sector would you most like to work in?</a:t>
            </a:r>
          </a:p>
        </p:txBody>
      </p:sp>
      <p:sp>
        <p:nvSpPr>
          <p:cNvPr id="6" name="Oval 5"/>
          <p:cNvSpPr/>
          <p:nvPr/>
        </p:nvSpPr>
        <p:spPr>
          <a:xfrm>
            <a:off x="548640" y="26974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How did computers change manufacturing?</a:t>
            </a:r>
          </a:p>
        </p:txBody>
      </p:sp>
      <p:sp>
        <p:nvSpPr>
          <p:cNvPr id="8" name="Oval 7"/>
          <p:cNvSpPr/>
          <p:nvPr/>
        </p:nvSpPr>
        <p:spPr>
          <a:xfrm>
            <a:off x="548640" y="365760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Which emerging trend will affect engineering jobs most?</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Engineering Core, Part 1</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https://lana6478.github.io/T-level-Design-Development-Engineering-Manufacturing/#/01-core-component/01-engineering-core-part1.md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Past, Present and Future</dc:title>
  <dc:subject>Design and Development for Engineering and Manufacturing T Level: Core topic 2</dc:subject>
  <dc:creator>Samuel O'Connell</dc:creator>
  <cp:keywords>T Level; Design and Development for Engineering and Manufacturing; lesson slides; 2.1, 2.2, 2.3</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