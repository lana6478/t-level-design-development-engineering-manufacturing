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don't need every legal detail: company safe systems of work should already satisfy the law. They should understand why it exists and who is responsible.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LOLER.</a:t>
            </a:r>
          </a:p>
          <a:p>
            <a:r>
              <a:t>2. Hazardous substances.</a:t>
            </a:r>
          </a:p>
          <a:p>
            <a:r>
              <a:t>3. Reporting serious injuries, diseases and dangerous occurrences.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E.g. work safely, co-operate, don't misuse safety equipment.</a:t>
            </a:r>
          </a:p>
          <a:p>
            <a:r>
              <a:t>2. The HSE.</a:t>
            </a:r>
          </a:p>
          <a:p>
            <a:r>
              <a:t>3. Yes.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differ locally, nationally and globally; multinational firms must meet them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ENGINEERING CORE</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Health and Safety Legislation and Responsibilities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topic 12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12.1, 12.2, 12.3</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4028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14400"/>
          </a:xfrm>
          <a:prstGeom prst="rect">
            <a:avLst/>
          </a:prstGeom>
          <a:noFill/>
        </p:spPr>
        <p:txBody>
          <a:bodyPr wrap="square" anchor="ctr" lIns="0" rIns="0" tIns="0" bIns="0"/>
          <a:lstStyle/>
          <a:p>
            <a:pPr algn="l"/>
            <a:r>
              <a:rPr sz="2000" b="0" i="0">
                <a:solidFill>
                  <a:srgbClr val="202122"/>
                </a:solidFill>
                <a:latin typeface="Calibri"/>
              </a:rPr>
              <a:t>Describe the main requirements of key health and safety legislation.</a:t>
            </a:r>
          </a:p>
        </p:txBody>
      </p:sp>
      <p:sp>
        <p:nvSpPr>
          <p:cNvPr id="9" name="Oval 8"/>
          <p:cNvSpPr/>
          <p:nvPr/>
        </p:nvSpPr>
        <p:spPr>
          <a:xfrm>
            <a:off x="548640" y="329184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63240"/>
            <a:ext cx="6035040" cy="914400"/>
          </a:xfrm>
          <a:prstGeom prst="rect">
            <a:avLst/>
          </a:prstGeom>
          <a:noFill/>
        </p:spPr>
        <p:txBody>
          <a:bodyPr wrap="square" anchor="ctr" lIns="0" rIns="0" tIns="0" bIns="0"/>
          <a:lstStyle/>
          <a:p>
            <a:pPr algn="l"/>
            <a:r>
              <a:rPr sz="2000" b="0" i="0">
                <a:solidFill>
                  <a:srgbClr val="202122"/>
                </a:solidFill>
                <a:latin typeface="Calibri"/>
              </a:rPr>
              <a:t>Explain why health and safety practice matters, including wellbeing.</a:t>
            </a:r>
          </a:p>
        </p:txBody>
      </p:sp>
      <p:sp>
        <p:nvSpPr>
          <p:cNvPr id="11" name="Oval 10"/>
          <p:cNvSpPr/>
          <p:nvPr/>
        </p:nvSpPr>
        <p:spPr>
          <a:xfrm>
            <a:off x="548640" y="43434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114800"/>
            <a:ext cx="6035040" cy="914400"/>
          </a:xfrm>
          <a:prstGeom prst="rect">
            <a:avLst/>
          </a:prstGeom>
          <a:noFill/>
        </p:spPr>
        <p:txBody>
          <a:bodyPr wrap="square" anchor="ctr" lIns="0" rIns="0" tIns="0" bIns="0"/>
          <a:lstStyle/>
          <a:p>
            <a:pPr algn="l"/>
            <a:r>
              <a:rPr sz="2000" b="0" i="0">
                <a:solidFill>
                  <a:srgbClr val="202122"/>
                </a:solidFill>
                <a:latin typeface="Calibri"/>
              </a:rPr>
              <a:t>Describe employer and employee responsibilities.</a:t>
            </a:r>
          </a:p>
        </p:txBody>
      </p:sp>
      <p:sp>
        <p:nvSpPr>
          <p:cNvPr id="13" name="Rounded Rectangle 12"/>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5" name="TextBox 14"/>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Who is responsible if a worker is hurt using a machine with its guard removed: the worker, the supervisor or the company?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Key legislation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The Health and Safety at Work Act (HASAWA) sets general duties for everyone at work. The Management Regulations require risk assessments. PUWER makes sure work equipment is safe and maintained. LOLER covers lifting operations and equipment. The PPE Regulations cover protective equipment. The Noise at Work Regulations protect hearing. The Manual Handling and Work at Height Regulations cover lifting and working above ground. The Electricity at Work Regulations cover electrical safety. CEMFAW covers first aid. RIDDOR requires serious incidents to be reported. COSHH controls hazardous substances.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Using an overhead crane brings in LOLER (the crane), PUWER (the equipment), PPE (hard hats) and HASAWA (general duty).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Key legislation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graphicFrame>
        <p:nvGraphicFramePr>
          <p:cNvPr id="6" name="Table 5"/>
          <p:cNvGraphicFramePr>
            <a:graphicFrameLocks noGrp="1"/>
          </p:cNvGraphicFramePr>
          <p:nvPr/>
        </p:nvGraphicFramePr>
        <p:xfrm>
          <a:off x="548640" y="1600200"/>
          <a:ext cx="11094415" cy="4526277"/>
        </p:xfrm>
        <a:graphic>
          <a:graphicData uri="http://schemas.openxmlformats.org/drawingml/2006/table">
            <a:tbl>
              <a:tblPr firstRow="1" bandRow="1">
                <a:tableStyleId>{5C22544A-7EE6-4342-B048-85BDC9FD1C3A}</a:tableStyleId>
              </a:tblPr>
              <a:tblGrid>
                <a:gridCol w="4386164"/>
                <a:gridCol w="6708251"/>
              </a:tblGrid>
              <a:tr h="646611">
                <a:tc>
                  <a:txBody>
                    <a:bodyPr wrap="square"/>
                    <a:lstStyle/>
                    <a:p>
                      <a:r>
                        <a:rPr sz="1600" b="1">
                          <a:solidFill>
                            <a:srgbClr val="FFFFFF"/>
                          </a:solidFill>
                          <a:latin typeface="Calibri"/>
                        </a:rPr>
                        <a:t>Legislation</a:t>
                      </a:r>
                    </a:p>
                  </a:txBody>
                  <a:tcPr marL="91440" marR="91440" anchor="ctr">
                    <a:solidFill>
                      <a:srgbClr val="03306E"/>
                    </a:solidFill>
                  </a:tcPr>
                </a:tc>
                <a:tc>
                  <a:txBody>
                    <a:bodyPr wrap="square"/>
                    <a:lstStyle/>
                    <a:p>
                      <a:r>
                        <a:rPr sz="1600" b="1">
                          <a:solidFill>
                            <a:srgbClr val="FFFFFF"/>
                          </a:solidFill>
                          <a:latin typeface="Calibri"/>
                        </a:rPr>
                        <a:t>Covers</a:t>
                      </a:r>
                    </a:p>
                  </a:txBody>
                  <a:tcPr marL="91440" marR="91440" anchor="ctr">
                    <a:solidFill>
                      <a:srgbClr val="03306E"/>
                    </a:solidFill>
                  </a:tcPr>
                </a:tc>
              </a:tr>
              <a:tr h="646611">
                <a:tc>
                  <a:txBody>
                    <a:bodyPr wrap="square"/>
                    <a:lstStyle/>
                    <a:p>
                      <a:r>
                        <a:rPr sz="1600" b="1">
                          <a:solidFill>
                            <a:srgbClr val="03306E"/>
                          </a:solidFill>
                          <a:latin typeface="Calibri"/>
                        </a:rPr>
                        <a:t>HASAWA and Management Regulations</a:t>
                      </a:r>
                    </a:p>
                  </a:txBody>
                  <a:tcPr marL="91440" marR="91440" anchor="ctr">
                    <a:solidFill>
                      <a:srgbClr val="FFFFFF"/>
                    </a:solidFill>
                  </a:tcPr>
                </a:tc>
                <a:tc>
                  <a:txBody>
                    <a:bodyPr wrap="square"/>
                    <a:lstStyle/>
                    <a:p>
                      <a:r>
                        <a:rPr sz="1600" b="0">
                          <a:solidFill>
                            <a:srgbClr val="202122"/>
                          </a:solidFill>
                          <a:latin typeface="Calibri"/>
                        </a:rPr>
                        <a:t>General duties; risk assessment and safety management</a:t>
                      </a:r>
                    </a:p>
                  </a:txBody>
                  <a:tcPr marL="91440" marR="91440" anchor="ctr">
                    <a:solidFill>
                      <a:srgbClr val="FFFFFF"/>
                    </a:solidFill>
                  </a:tcPr>
                </a:tc>
              </a:tr>
              <a:tr h="646611">
                <a:tc>
                  <a:txBody>
                    <a:bodyPr wrap="square"/>
                    <a:lstStyle/>
                    <a:p>
                      <a:r>
                        <a:rPr sz="1600" b="1">
                          <a:solidFill>
                            <a:srgbClr val="03306E"/>
                          </a:solidFill>
                          <a:latin typeface="Calibri"/>
                        </a:rPr>
                        <a:t>PUWER and LOLER</a:t>
                      </a:r>
                    </a:p>
                  </a:txBody>
                  <a:tcPr marL="91440" marR="91440" anchor="ctr">
                    <a:solidFill>
                      <a:srgbClr val="EAF3FF"/>
                    </a:solidFill>
                  </a:tcPr>
                </a:tc>
                <a:tc>
                  <a:txBody>
                    <a:bodyPr wrap="square"/>
                    <a:lstStyle/>
                    <a:p>
                      <a:r>
                        <a:rPr sz="1600" b="0">
                          <a:solidFill>
                            <a:srgbClr val="202122"/>
                          </a:solidFill>
                          <a:latin typeface="Calibri"/>
                        </a:rPr>
                        <a:t>Safe work equipment; lifting operations and equipment</a:t>
                      </a:r>
                    </a:p>
                  </a:txBody>
                  <a:tcPr marL="91440" marR="91440" anchor="ctr">
                    <a:solidFill>
                      <a:srgbClr val="EAF3FF"/>
                    </a:solidFill>
                  </a:tcPr>
                </a:tc>
              </a:tr>
              <a:tr h="646611">
                <a:tc>
                  <a:txBody>
                    <a:bodyPr wrap="square"/>
                    <a:lstStyle/>
                    <a:p>
                      <a:r>
                        <a:rPr sz="1600" b="1">
                          <a:solidFill>
                            <a:srgbClr val="03306E"/>
                          </a:solidFill>
                          <a:latin typeface="Calibri"/>
                        </a:rPr>
                        <a:t>PPE and Noise at Work</a:t>
                      </a:r>
                    </a:p>
                  </a:txBody>
                  <a:tcPr marL="91440" marR="91440" anchor="ctr">
                    <a:solidFill>
                      <a:srgbClr val="FFFFFF"/>
                    </a:solidFill>
                  </a:tcPr>
                </a:tc>
                <a:tc>
                  <a:txBody>
                    <a:bodyPr wrap="square"/>
                    <a:lstStyle/>
                    <a:p>
                      <a:r>
                        <a:rPr sz="1600" b="0">
                          <a:solidFill>
                            <a:srgbClr val="202122"/>
                          </a:solidFill>
                          <a:latin typeface="Calibri"/>
                        </a:rPr>
                        <a:t>Protective equipment; hearing protection</a:t>
                      </a:r>
                    </a:p>
                  </a:txBody>
                  <a:tcPr marL="91440" marR="91440" anchor="ctr">
                    <a:solidFill>
                      <a:srgbClr val="FFFFFF"/>
                    </a:solidFill>
                  </a:tcPr>
                </a:tc>
              </a:tr>
              <a:tr h="646611">
                <a:tc>
                  <a:txBody>
                    <a:bodyPr wrap="square"/>
                    <a:lstStyle/>
                    <a:p>
                      <a:r>
                        <a:rPr sz="1600" b="1">
                          <a:solidFill>
                            <a:srgbClr val="03306E"/>
                          </a:solidFill>
                          <a:latin typeface="Calibri"/>
                        </a:rPr>
                        <a:t>Manual Handling and Work at Height</a:t>
                      </a:r>
                    </a:p>
                  </a:txBody>
                  <a:tcPr marL="91440" marR="91440" anchor="ctr">
                    <a:solidFill>
                      <a:srgbClr val="EAF3FF"/>
                    </a:solidFill>
                  </a:tcPr>
                </a:tc>
                <a:tc>
                  <a:txBody>
                    <a:bodyPr wrap="square"/>
                    <a:lstStyle/>
                    <a:p>
                      <a:r>
                        <a:rPr sz="1600" b="0">
                          <a:solidFill>
                            <a:srgbClr val="202122"/>
                          </a:solidFill>
                          <a:latin typeface="Calibri"/>
                        </a:rPr>
                        <a:t>Lifting loads; working above ground</a:t>
                      </a:r>
                    </a:p>
                  </a:txBody>
                  <a:tcPr marL="91440" marR="91440" anchor="ctr">
                    <a:solidFill>
                      <a:srgbClr val="EAF3FF"/>
                    </a:solidFill>
                  </a:tcPr>
                </a:tc>
              </a:tr>
              <a:tr h="646611">
                <a:tc>
                  <a:txBody>
                    <a:bodyPr wrap="square"/>
                    <a:lstStyle/>
                    <a:p>
                      <a:r>
                        <a:rPr sz="1600" b="1">
                          <a:solidFill>
                            <a:srgbClr val="03306E"/>
                          </a:solidFill>
                          <a:latin typeface="Calibri"/>
                        </a:rPr>
                        <a:t>Electricity at Work</a:t>
                      </a:r>
                    </a:p>
                  </a:txBody>
                  <a:tcPr marL="91440" marR="91440" anchor="ctr">
                    <a:solidFill>
                      <a:srgbClr val="FFFFFF"/>
                    </a:solidFill>
                  </a:tcPr>
                </a:tc>
                <a:tc>
                  <a:txBody>
                    <a:bodyPr wrap="square"/>
                    <a:lstStyle/>
                    <a:p>
                      <a:r>
                        <a:rPr sz="1600" b="0">
                          <a:solidFill>
                            <a:srgbClr val="202122"/>
                          </a:solidFill>
                          <a:latin typeface="Calibri"/>
                        </a:rPr>
                        <a:t>Safe electrical systems and work</a:t>
                      </a:r>
                    </a:p>
                  </a:txBody>
                  <a:tcPr marL="91440" marR="91440" anchor="ctr">
                    <a:solidFill>
                      <a:srgbClr val="FFFFFF"/>
                    </a:solidFill>
                  </a:tcPr>
                </a:tc>
              </a:tr>
              <a:tr h="646611">
                <a:tc>
                  <a:txBody>
                    <a:bodyPr wrap="square"/>
                    <a:lstStyle/>
                    <a:p>
                      <a:r>
                        <a:rPr sz="1600" b="1">
                          <a:solidFill>
                            <a:srgbClr val="03306E"/>
                          </a:solidFill>
                          <a:latin typeface="Calibri"/>
                        </a:rPr>
                        <a:t>CEMFAW, RIDDOR, COSHH</a:t>
                      </a:r>
                    </a:p>
                  </a:txBody>
                  <a:tcPr marL="91440" marR="91440" anchor="ctr">
                    <a:solidFill>
                      <a:srgbClr val="EAF3FF"/>
                    </a:solidFill>
                  </a:tcPr>
                </a:tc>
                <a:tc>
                  <a:txBody>
                    <a:bodyPr wrap="square"/>
                    <a:lstStyle/>
                    <a:p>
                      <a:r>
                        <a:rPr sz="1600" b="0">
                          <a:solidFill>
                            <a:srgbClr val="202122"/>
                          </a:solidFill>
                          <a:latin typeface="Calibri"/>
                        </a:rPr>
                        <a:t>Emergency first aid; reporting injuries; hazardous substances</a:t>
                      </a:r>
                    </a:p>
                  </a:txBody>
                  <a:tcPr marL="91440" marR="91440" anchor="ctr">
                    <a:solidFill>
                      <a:srgbClr val="EAF3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Key legislation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regulations cover lifting equipment?</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COSHH control?</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RIDDOR require?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Responsibilities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Employees must work safely, not attempt tasks they're not trained or authorised for, co-operate with their employer, and never interfere with or misuse safety equipment.</a:t>
            </a:r>
          </a:p>
          <a:p>
            <a:pPr>
              <a:spcAft>
                <a:spcPts val="1260"/>
              </a:spcAft>
            </a:pPr>
            <a:r>
              <a:rPr sz="2100" b="0">
                <a:solidFill>
                  <a:srgbClr val="202122"/>
                </a:solidFill>
                <a:latin typeface="Calibri"/>
              </a:rPr>
              <a:t>Employers must minimise risks from handling, storage and transport, provide instruction, training and supervision, maintain a safe workplace, publish a health and safety policy, arrange safety representatives and committees, and protect visitors, contractors and the public.</a:t>
            </a:r>
          </a:p>
          <a:p>
            <a:pPr>
              <a:spcAft>
                <a:spcPts val="1260"/>
              </a:spcAft>
            </a:pPr>
            <a:r>
              <a:rPr sz="2100" b="0">
                <a:solidFill>
                  <a:srgbClr val="202122"/>
                </a:solidFill>
                <a:latin typeface="Calibri"/>
              </a:rPr>
              <a:t>The Health and Safety Executive (HSE) enforces the law. Breaking it can mean injury, prosecution, fines and damaged reputations.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worker removes a machine guard to work faster and is injured. Both the worker (misusing safety equipment) and the employer (supervision) may be at fault.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Responsibilities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Employees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Work safely</a:t>
            </a:r>
          </a:p>
          <a:p>
            <a:pPr marL="274320" indent="-274320">
              <a:spcAft>
                <a:spcPts val="990"/>
              </a:spcAft>
              <a:buClr>
                <a:srgbClr val="0645AD"/>
              </a:buClr>
              <a:buFont typeface="Arial"/>
              <a:buChar char="•"/>
            </a:pPr>
            <a:r>
              <a:rPr sz="2200" b="0">
                <a:solidFill>
                  <a:srgbClr val="202122"/>
                </a:solidFill>
                <a:latin typeface="Calibri"/>
              </a:rPr>
              <a:t>Don't attempt untrained or unauthorised tasks</a:t>
            </a:r>
          </a:p>
          <a:p>
            <a:pPr marL="274320" indent="-274320">
              <a:spcAft>
                <a:spcPts val="990"/>
              </a:spcAft>
              <a:buClr>
                <a:srgbClr val="0645AD"/>
              </a:buClr>
              <a:buFont typeface="Arial"/>
              <a:buChar char="•"/>
            </a:pPr>
            <a:r>
              <a:rPr sz="2200" b="0">
                <a:solidFill>
                  <a:srgbClr val="202122"/>
                </a:solidFill>
                <a:latin typeface="Calibri"/>
              </a:rPr>
              <a:t>Co-operate with the employer</a:t>
            </a:r>
          </a:p>
          <a:p>
            <a:pPr marL="274320" indent="-274320">
              <a:spcAft>
                <a:spcPts val="990"/>
              </a:spcAft>
              <a:buClr>
                <a:srgbClr val="0645AD"/>
              </a:buClr>
              <a:buFont typeface="Arial"/>
              <a:buChar char="•"/>
            </a:pPr>
            <a:r>
              <a:rPr sz="2200" b="0">
                <a:solidFill>
                  <a:srgbClr val="202122"/>
                </a:solidFill>
                <a:latin typeface="Calibri"/>
              </a:rPr>
              <a:t>Don't misuse or interfere with safety provisions</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Employers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855"/>
              </a:spcAft>
              <a:buClr>
                <a:srgbClr val="0645AD"/>
              </a:buClr>
              <a:buFont typeface="Arial"/>
              <a:buChar char="•"/>
            </a:pPr>
            <a:r>
              <a:rPr sz="1900" b="0">
                <a:solidFill>
                  <a:srgbClr val="202122"/>
                </a:solidFill>
                <a:latin typeface="Calibri"/>
              </a:rPr>
              <a:t>Minimise handling, storage and transport risks</a:t>
            </a:r>
          </a:p>
          <a:p>
            <a:pPr marL="274320" indent="-274320">
              <a:spcAft>
                <a:spcPts val="855"/>
              </a:spcAft>
              <a:buClr>
                <a:srgbClr val="0645AD"/>
              </a:buClr>
              <a:buFont typeface="Arial"/>
              <a:buChar char="•"/>
            </a:pPr>
            <a:r>
              <a:rPr sz="1900" b="0">
                <a:solidFill>
                  <a:srgbClr val="202122"/>
                </a:solidFill>
                <a:latin typeface="Calibri"/>
              </a:rPr>
              <a:t>Provide instruction, training and supervision</a:t>
            </a:r>
          </a:p>
          <a:p>
            <a:pPr marL="274320" indent="-274320">
              <a:spcAft>
                <a:spcPts val="855"/>
              </a:spcAft>
              <a:buClr>
                <a:srgbClr val="0645AD"/>
              </a:buClr>
              <a:buFont typeface="Arial"/>
              <a:buChar char="•"/>
            </a:pPr>
            <a:r>
              <a:rPr sz="1900" b="0">
                <a:solidFill>
                  <a:srgbClr val="202122"/>
                </a:solidFill>
                <a:latin typeface="Calibri"/>
              </a:rPr>
              <a:t>Maintain a safe workplace</a:t>
            </a:r>
          </a:p>
          <a:p>
            <a:pPr marL="274320" indent="-274320">
              <a:spcAft>
                <a:spcPts val="855"/>
              </a:spcAft>
              <a:buClr>
                <a:srgbClr val="0645AD"/>
              </a:buClr>
              <a:buFont typeface="Arial"/>
              <a:buChar char="•"/>
            </a:pPr>
            <a:r>
              <a:rPr sz="1900" b="0">
                <a:solidFill>
                  <a:srgbClr val="202122"/>
                </a:solidFill>
                <a:latin typeface="Calibri"/>
              </a:rPr>
              <a:t>Publish a health and safety policy</a:t>
            </a:r>
          </a:p>
          <a:p>
            <a:pPr marL="274320" indent="-274320">
              <a:spcAft>
                <a:spcPts val="855"/>
              </a:spcAft>
              <a:buClr>
                <a:srgbClr val="0645AD"/>
              </a:buClr>
              <a:buFont typeface="Arial"/>
              <a:buChar char="•"/>
            </a:pPr>
            <a:r>
              <a:rPr sz="1900" b="0">
                <a:solidFill>
                  <a:srgbClr val="202122"/>
                </a:solidFill>
                <a:latin typeface="Calibri"/>
              </a:rPr>
              <a:t>Protect visitors, contractors and the public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Responsibilities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two employee responsibilities.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Who enforces health and safety law?</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Must employers protect visitors?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Why it matters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Fewer accidents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Legislation has reduced accident and incident rates.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Wellbeing</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Mental health and wellbeing matter as much as physical safety.</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Enforcement</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The HSE enforces the law.</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Non-compliance</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Injury, prosecution, fines, closure and reputational damage.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Which regulations cover lifting equipment?</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does RIDDOR require?</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Name two employee responsibilities.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Who enforces health and safety law in Great Britain?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Which regulations cover lifting equipment?</a:t>
            </a:r>
          </a:p>
          <a:p>
            <a:r>
              <a:rPr sz="1800" b="1">
                <a:solidFill>
                  <a:srgbClr val="03306E"/>
                </a:solidFill>
                <a:latin typeface="Calibri"/>
              </a:rPr>
              <a:t>LOLER.</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does RIDDOR require?</a:t>
            </a:r>
          </a:p>
          <a:p>
            <a:r>
              <a:rPr sz="1800" b="1">
                <a:solidFill>
                  <a:srgbClr val="03306E"/>
                </a:solidFill>
                <a:latin typeface="Calibri"/>
              </a:rPr>
              <a:t>Reporting of injuries, diseases and dangerous occurrences.</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Name two employee responsibilities.</a:t>
            </a:r>
          </a:p>
          <a:p>
            <a:r>
              <a:rPr sz="1800" b="1">
                <a:solidFill>
                  <a:srgbClr val="03306E"/>
                </a:solidFill>
                <a:latin typeface="Calibri"/>
              </a:rPr>
              <a:t>Any two, e.g. work safely, co-operate, don't misuse safety equipment.</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Who enforces health and safety law in Great Britain?</a:t>
            </a:r>
          </a:p>
          <a:p>
            <a:r>
              <a:rPr sz="1800" b="1">
                <a:solidFill>
                  <a:srgbClr val="03306E"/>
                </a:solidFill>
                <a:latin typeface="Calibri"/>
              </a:rPr>
              <a:t>The Health and Safety Executive (HSE).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Legislation match-up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Health and Safety Legislation and Responsibilities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Your teacher gives you ten workshop scenarios.</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Match each to the legislation that applies.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Decide who is responsible in each case.</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Pick the most serious and explain the consequences of non-compliance.</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Correct legislation named</a:t>
            </a:r>
          </a:p>
          <a:p>
            <a:pPr marL="274320" indent="-274320">
              <a:spcAft>
                <a:spcPts val="810"/>
              </a:spcAft>
              <a:buClr>
                <a:srgbClr val="0645AD"/>
              </a:buClr>
              <a:buFont typeface="Arial"/>
              <a:buChar char="•"/>
            </a:pPr>
            <a:r>
              <a:rPr sz="1800" b="0">
                <a:solidFill>
                  <a:srgbClr val="202122"/>
                </a:solidFill>
                <a:latin typeface="Calibri"/>
              </a:rPr>
              <a:t>Responsibilities split correctly</a:t>
            </a:r>
          </a:p>
          <a:p>
            <a:pPr marL="274320" indent="-274320">
              <a:spcAft>
                <a:spcPts val="810"/>
              </a:spcAft>
              <a:buClr>
                <a:srgbClr val="0645AD"/>
              </a:buClr>
              <a:buFont typeface="Arial"/>
              <a:buChar char="•"/>
            </a:pPr>
            <a:r>
              <a:rPr sz="1800" b="0">
                <a:solidFill>
                  <a:srgbClr val="202122"/>
                </a:solidFill>
                <a:latin typeface="Calibri"/>
              </a:rPr>
              <a:t>Consequences are realistic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regulation covers noise from a CNC machine?</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is wellbeing part of health and safety?</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What should you do if asked to use a machine you're not trained on?</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Engineering Core, Part 2</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https://lana6478.github.io/T-level-Design-Development-Engineering-Manufacturing/#/01-core-component/02-engineering-core-part2.md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and Safety Legislation and Responsibilities</dc:title>
  <dc:subject>Design and Development for Engineering and Manufacturing T Level: Core topic 12</dc:subject>
  <dc:creator>Samuel O'Connell</dc:creator>
  <cp:keywords>T Level; Design and Development for Engineering and Manufacturing; lesson slides; 12.1, 12.2, 12.3</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