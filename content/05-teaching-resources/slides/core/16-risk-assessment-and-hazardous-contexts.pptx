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hazards: equipment, stored energy, tools, electricity, harmful substances and gases,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Anything that could cause harm.</a:t>
            </a:r>
          </a:p>
          <a:p>
            <a:r>
              <a:t>2. Likelihood, severity and number of people affected.</a:t>
            </a:r>
          </a:p>
          <a:p>
            <a:r>
              <a:t>3. A structured study of a process to find hazards.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Elimination.</a:t>
            </a:r>
          </a:p>
          <a:p>
            <a:r>
              <a:t>2. E.g. guards, interlocks, extraction.</a:t>
            </a:r>
          </a:p>
          <a:p>
            <a:r>
              <a:t>3. It only protects the wearer and relies on correct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Locking and tagging energy sources off before work.</a:t>
            </a:r>
          </a:p>
          <a:p>
            <a:r>
              <a:t>2. Written authorisation with conditions for high-risk work.</a:t>
            </a:r>
          </a:p>
          <a:p>
            <a:r>
              <a:t>3. E.g. lack of oxygen, toxic gases, difficult escape.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Risk Assessment and Hazardous Contexts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12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12.4, 12.5</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Identify hazards using HAZOP and HAZID.</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Evaluate risk by likelihood, severity and number of people affected.</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Apply the hierarchy of control.</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safety considerations in specific engineering contexts.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Name as many hazards as you can in a machine workshop in 60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Stages of risk assessment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Risk assessment has three core stages.</a:t>
            </a:r>
          </a:p>
          <a:p>
            <a:pPr>
              <a:spcAft>
                <a:spcPts val="1320"/>
              </a:spcAft>
            </a:pPr>
            <a:r>
              <a:rPr sz="2200" b="1">
                <a:solidFill>
                  <a:srgbClr val="202122"/>
                </a:solidFill>
                <a:latin typeface="Calibri"/>
              </a:rPr>
              <a:t>Identify hazards:</a:t>
            </a:r>
            <a:r>
              <a:rPr sz="2200" b="0">
                <a:solidFill>
                  <a:srgbClr val="202122"/>
                </a:solidFill>
                <a:latin typeface="Calibri"/>
              </a:rPr>
              <a:t> anything that could cause harm, such as machinery, stored energy, tools, electricity, harmful substances and the environment. Methods include HAZOP (a structured study of a process) and HAZID (hazard identification workshops).</a:t>
            </a:r>
          </a:p>
          <a:p>
            <a:pPr>
              <a:spcAft>
                <a:spcPts val="1320"/>
              </a:spcAft>
            </a:pPr>
            <a:r>
              <a:rPr sz="2200" b="1">
                <a:solidFill>
                  <a:srgbClr val="202122"/>
                </a:solidFill>
                <a:latin typeface="Calibri"/>
              </a:rPr>
              <a:t>Evaluate the risk:</a:t>
            </a:r>
            <a:r>
              <a:rPr sz="2200" b="0">
                <a:solidFill>
                  <a:srgbClr val="202122"/>
                </a:solidFill>
                <a:latin typeface="Calibri"/>
              </a:rPr>
              <a:t> how likely harm is, how severe it would be and how many people could be affected.</a:t>
            </a:r>
          </a:p>
          <a:p>
            <a:pPr>
              <a:spcAft>
                <a:spcPts val="1320"/>
              </a:spcAft>
            </a:pPr>
            <a:r>
              <a:rPr sz="2200" b="0">
                <a:solidFill>
                  <a:srgbClr val="202122"/>
                </a:solidFill>
                <a:latin typeface="Calibri"/>
              </a:rPr>
              <a:t>Implement control measures using the hierarchy of control, then record and review them.</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pressurised air receiver: hazard (stored energy), risk (explosion injuring several people), control (pressure relief valve, regular inspection, guarding).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Stages of risk assessment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1884006" y="279349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2670733" cy="731520"/>
          </a:xfrm>
          <a:prstGeom prst="rect">
            <a:avLst/>
          </a:prstGeom>
          <a:noFill/>
        </p:spPr>
        <p:txBody>
          <a:bodyPr wrap="square" anchor="t" lIns="0" rIns="0" tIns="0" bIns="0"/>
          <a:lstStyle/>
          <a:p>
            <a:pPr algn="ctr"/>
            <a:r>
              <a:rPr sz="1700" b="1" i="0">
                <a:solidFill>
                  <a:srgbClr val="03306E"/>
                </a:solidFill>
                <a:latin typeface="Calibri"/>
              </a:rPr>
              <a:t>Identify hazards</a:t>
            </a:r>
          </a:p>
        </p:txBody>
      </p:sp>
      <p:sp>
        <p:nvSpPr>
          <p:cNvPr id="9" name="Rounded Rectangle 8"/>
          <p:cNvSpPr/>
          <p:nvPr/>
        </p:nvSpPr>
        <p:spPr>
          <a:xfrm>
            <a:off x="548640"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2396413" cy="960119"/>
          </a:xfrm>
          <a:prstGeom prst="rect">
            <a:avLst/>
          </a:prstGeom>
          <a:noFill/>
        </p:spPr>
        <p:txBody>
          <a:bodyPr wrap="square" anchor="t" lIns="0" rIns="0" tIns="0" bIns="0"/>
          <a:lstStyle/>
          <a:p>
            <a:pPr algn="l"/>
            <a:r>
              <a:rPr sz="1800" b="0" i="0">
                <a:solidFill>
                  <a:srgbClr val="202122"/>
                </a:solidFill>
                <a:latin typeface="Calibri"/>
              </a:rPr>
              <a:t>HAZOP, HAZID, inspection.</a:t>
            </a:r>
          </a:p>
        </p:txBody>
      </p:sp>
      <p:sp>
        <p:nvSpPr>
          <p:cNvPr id="11" name="Oval 10"/>
          <p:cNvSpPr/>
          <p:nvPr/>
        </p:nvSpPr>
        <p:spPr>
          <a:xfrm>
            <a:off x="4371860"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3356533" y="3268979"/>
            <a:ext cx="2670733" cy="731520"/>
          </a:xfrm>
          <a:prstGeom prst="rect">
            <a:avLst/>
          </a:prstGeom>
          <a:noFill/>
        </p:spPr>
        <p:txBody>
          <a:bodyPr wrap="square" anchor="t" lIns="0" rIns="0" tIns="0" bIns="0"/>
          <a:lstStyle/>
          <a:p>
            <a:pPr algn="ctr"/>
            <a:r>
              <a:rPr sz="1700" b="1" i="0">
                <a:solidFill>
                  <a:srgbClr val="03306E"/>
                </a:solidFill>
                <a:latin typeface="Calibri"/>
              </a:rPr>
              <a:t>Evaluate risk</a:t>
            </a:r>
          </a:p>
        </p:txBody>
      </p:sp>
      <p:sp>
        <p:nvSpPr>
          <p:cNvPr id="13" name="Rounded Rectangle 12"/>
          <p:cNvSpPr/>
          <p:nvPr/>
        </p:nvSpPr>
        <p:spPr>
          <a:xfrm>
            <a:off x="3356533"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4183380"/>
            <a:ext cx="2396413" cy="960119"/>
          </a:xfrm>
          <a:prstGeom prst="rect">
            <a:avLst/>
          </a:prstGeom>
          <a:noFill/>
        </p:spPr>
        <p:txBody>
          <a:bodyPr wrap="square" anchor="t" lIns="0" rIns="0" tIns="0" bIns="0"/>
          <a:lstStyle/>
          <a:p>
            <a:pPr algn="l"/>
            <a:r>
              <a:rPr sz="1800" b="0" i="0">
                <a:solidFill>
                  <a:srgbClr val="202122"/>
                </a:solidFill>
                <a:latin typeface="Calibri"/>
              </a:rPr>
              <a:t>Likelihood, severity, number of people affected.</a:t>
            </a:r>
          </a:p>
        </p:txBody>
      </p:sp>
      <p:sp>
        <p:nvSpPr>
          <p:cNvPr id="15" name="Oval 14"/>
          <p:cNvSpPr/>
          <p:nvPr/>
        </p:nvSpPr>
        <p:spPr>
          <a:xfrm>
            <a:off x="7179754"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6164427" y="3268979"/>
            <a:ext cx="2670733" cy="731520"/>
          </a:xfrm>
          <a:prstGeom prst="rect">
            <a:avLst/>
          </a:prstGeom>
          <a:noFill/>
        </p:spPr>
        <p:txBody>
          <a:bodyPr wrap="square" anchor="t" lIns="0" rIns="0" tIns="0" bIns="0"/>
          <a:lstStyle/>
          <a:p>
            <a:pPr algn="ctr"/>
            <a:r>
              <a:rPr sz="1700" b="1" i="0">
                <a:solidFill>
                  <a:srgbClr val="03306E"/>
                </a:solidFill>
                <a:latin typeface="Calibri"/>
              </a:rPr>
              <a:t>Control</a:t>
            </a:r>
          </a:p>
        </p:txBody>
      </p:sp>
      <p:sp>
        <p:nvSpPr>
          <p:cNvPr id="17" name="Rounded Rectangle 16"/>
          <p:cNvSpPr/>
          <p:nvPr/>
        </p:nvSpPr>
        <p:spPr>
          <a:xfrm>
            <a:off x="6164427"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4183380"/>
            <a:ext cx="2396413" cy="960119"/>
          </a:xfrm>
          <a:prstGeom prst="rect">
            <a:avLst/>
          </a:prstGeom>
          <a:noFill/>
        </p:spPr>
        <p:txBody>
          <a:bodyPr wrap="square" anchor="t" lIns="0" rIns="0" tIns="0" bIns="0"/>
          <a:lstStyle/>
          <a:p>
            <a:pPr algn="l"/>
            <a:r>
              <a:rPr sz="1800" b="0" i="0">
                <a:solidFill>
                  <a:srgbClr val="202122"/>
                </a:solidFill>
                <a:latin typeface="Calibri"/>
              </a:rPr>
              <a:t>Apply the hierarchy of control.</a:t>
            </a:r>
          </a:p>
        </p:txBody>
      </p:sp>
      <p:sp>
        <p:nvSpPr>
          <p:cNvPr id="19" name="Oval 18"/>
          <p:cNvSpPr/>
          <p:nvPr/>
        </p:nvSpPr>
        <p:spPr>
          <a:xfrm>
            <a:off x="9987648"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8972321" y="3268979"/>
            <a:ext cx="2670733" cy="731520"/>
          </a:xfrm>
          <a:prstGeom prst="rect">
            <a:avLst/>
          </a:prstGeom>
          <a:noFill/>
        </p:spPr>
        <p:txBody>
          <a:bodyPr wrap="square" anchor="t" lIns="0" rIns="0" tIns="0" bIns="0"/>
          <a:lstStyle/>
          <a:p>
            <a:pPr algn="ctr"/>
            <a:r>
              <a:rPr sz="1700" b="1" i="0">
                <a:solidFill>
                  <a:srgbClr val="03306E"/>
                </a:solidFill>
                <a:latin typeface="Calibri"/>
              </a:rPr>
              <a:t>Record and review</a:t>
            </a:r>
          </a:p>
        </p:txBody>
      </p:sp>
      <p:sp>
        <p:nvSpPr>
          <p:cNvPr id="21" name="Rounded Rectangle 20"/>
          <p:cNvSpPr/>
          <p:nvPr/>
        </p:nvSpPr>
        <p:spPr>
          <a:xfrm>
            <a:off x="8972321"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4183380"/>
            <a:ext cx="2396413" cy="960119"/>
          </a:xfrm>
          <a:prstGeom prst="rect">
            <a:avLst/>
          </a:prstGeom>
          <a:noFill/>
        </p:spPr>
        <p:txBody>
          <a:bodyPr wrap="square" anchor="t" lIns="0" rIns="0" tIns="0" bIns="0"/>
          <a:lstStyle/>
          <a:p>
            <a:pPr algn="l"/>
            <a:r>
              <a:rPr sz="1800" b="0" i="0">
                <a:solidFill>
                  <a:srgbClr val="202122"/>
                </a:solidFill>
                <a:latin typeface="Calibri"/>
              </a:rPr>
              <a:t>Document and check it still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Stages of risk assessment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hazard?</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the three factors in evaluating risk.</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HAZOP?</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hierarchy of control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Controls are chosen from the top of the hierarchy down, because higher controls are more effective.</a:t>
            </a:r>
          </a:p>
          <a:p>
            <a:pPr>
              <a:spcAft>
                <a:spcPts val="1260"/>
              </a:spcAft>
            </a:pPr>
            <a:r>
              <a:rPr sz="2100" b="0">
                <a:solidFill>
                  <a:srgbClr val="202122"/>
                </a:solidFill>
                <a:latin typeface="Calibri"/>
              </a:rPr>
              <a:t>Eliminate the hazard completely. Reduce it or substitute something less hazardous. Isolate people from it. Use engineering controls such as guards, interlocks and extraction. Use administrative controls: training, safe systems of work, permits and signs. Finally, provide PPE such as eye and ear protection, safety shoes, gauntlets and helmets.</a:t>
            </a:r>
          </a:p>
          <a:p>
            <a:pPr>
              <a:spcAft>
                <a:spcPts val="1260"/>
              </a:spcAft>
            </a:pPr>
            <a:r>
              <a:rPr sz="2100" b="0">
                <a:solidFill>
                  <a:srgbClr val="202122"/>
                </a:solidFill>
                <a:latin typeface="Calibri"/>
              </a:rPr>
              <a:t>PPE is the last resort because it only protects the wearer and depends on being worn correctly.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Noisy machine: replace it with a quieter one (substitute), enclose it (engineering), limit exposure time (administrative), then provide ear defenders (PPE).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hierarchy of control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416024" y="279349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1734769" cy="731520"/>
          </a:xfrm>
          <a:prstGeom prst="rect">
            <a:avLst/>
          </a:prstGeom>
          <a:noFill/>
        </p:spPr>
        <p:txBody>
          <a:bodyPr wrap="square" anchor="t" lIns="0" rIns="0" tIns="0" bIns="0"/>
          <a:lstStyle/>
          <a:p>
            <a:pPr algn="ctr"/>
            <a:r>
              <a:rPr sz="1500" b="1" i="0">
                <a:solidFill>
                  <a:srgbClr val="03306E"/>
                </a:solidFill>
                <a:latin typeface="Calibri"/>
              </a:rPr>
              <a:t>Eliminate</a:t>
            </a:r>
          </a:p>
        </p:txBody>
      </p:sp>
      <p:sp>
        <p:nvSpPr>
          <p:cNvPr id="9" name="Rounded Rectangle 8"/>
          <p:cNvSpPr/>
          <p:nvPr/>
        </p:nvSpPr>
        <p:spPr>
          <a:xfrm>
            <a:off x="548640"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1460449" cy="960119"/>
          </a:xfrm>
          <a:prstGeom prst="rect">
            <a:avLst/>
          </a:prstGeom>
          <a:noFill/>
        </p:spPr>
        <p:txBody>
          <a:bodyPr wrap="square" anchor="t" lIns="0" rIns="0" tIns="0" bIns="0"/>
          <a:lstStyle/>
          <a:p>
            <a:pPr algn="l"/>
            <a:r>
              <a:rPr sz="1800" b="0" i="0">
                <a:solidFill>
                  <a:srgbClr val="202122"/>
                </a:solidFill>
                <a:latin typeface="Calibri"/>
              </a:rPr>
              <a:t>Remove the hazard.</a:t>
            </a:r>
          </a:p>
        </p:txBody>
      </p:sp>
      <p:sp>
        <p:nvSpPr>
          <p:cNvPr id="11" name="Oval 10"/>
          <p:cNvSpPr/>
          <p:nvPr/>
        </p:nvSpPr>
        <p:spPr>
          <a:xfrm>
            <a:off x="2967913"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3268979"/>
            <a:ext cx="1734769" cy="731520"/>
          </a:xfrm>
          <a:prstGeom prst="rect">
            <a:avLst/>
          </a:prstGeom>
          <a:noFill/>
        </p:spPr>
        <p:txBody>
          <a:bodyPr wrap="square" anchor="t" lIns="0" rIns="0" tIns="0" bIns="0"/>
          <a:lstStyle/>
          <a:p>
            <a:pPr algn="ctr"/>
            <a:r>
              <a:rPr sz="1500" b="1" i="0">
                <a:solidFill>
                  <a:srgbClr val="03306E"/>
                </a:solidFill>
                <a:latin typeface="Calibri"/>
              </a:rPr>
              <a:t>Reduce / substitute</a:t>
            </a:r>
          </a:p>
        </p:txBody>
      </p:sp>
      <p:sp>
        <p:nvSpPr>
          <p:cNvPr id="13" name="Rounded Rectangle 12"/>
          <p:cNvSpPr/>
          <p:nvPr/>
        </p:nvSpPr>
        <p:spPr>
          <a:xfrm>
            <a:off x="2420569"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4183380"/>
            <a:ext cx="1460449" cy="960119"/>
          </a:xfrm>
          <a:prstGeom prst="rect">
            <a:avLst/>
          </a:prstGeom>
          <a:noFill/>
        </p:spPr>
        <p:txBody>
          <a:bodyPr wrap="square" anchor="t" lIns="0" rIns="0" tIns="0" bIns="0"/>
          <a:lstStyle/>
          <a:p>
            <a:pPr algn="l"/>
            <a:r>
              <a:rPr sz="1800" b="0" i="0">
                <a:solidFill>
                  <a:srgbClr val="202122"/>
                </a:solidFill>
                <a:latin typeface="Calibri"/>
              </a:rPr>
              <a:t>Use something less hazardous.</a:t>
            </a:r>
          </a:p>
        </p:txBody>
      </p:sp>
      <p:sp>
        <p:nvSpPr>
          <p:cNvPr id="15" name="Oval 14"/>
          <p:cNvSpPr/>
          <p:nvPr/>
        </p:nvSpPr>
        <p:spPr>
          <a:xfrm>
            <a:off x="4839843"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3268979"/>
            <a:ext cx="1734769" cy="731520"/>
          </a:xfrm>
          <a:prstGeom prst="rect">
            <a:avLst/>
          </a:prstGeom>
          <a:noFill/>
        </p:spPr>
        <p:txBody>
          <a:bodyPr wrap="square" anchor="t" lIns="0" rIns="0" tIns="0" bIns="0"/>
          <a:lstStyle/>
          <a:p>
            <a:pPr algn="ctr"/>
            <a:r>
              <a:rPr sz="1500" b="1" i="0">
                <a:solidFill>
                  <a:srgbClr val="03306E"/>
                </a:solidFill>
                <a:latin typeface="Calibri"/>
              </a:rPr>
              <a:t>Isolate</a:t>
            </a:r>
          </a:p>
        </p:txBody>
      </p:sp>
      <p:sp>
        <p:nvSpPr>
          <p:cNvPr id="17" name="Rounded Rectangle 16"/>
          <p:cNvSpPr/>
          <p:nvPr/>
        </p:nvSpPr>
        <p:spPr>
          <a:xfrm>
            <a:off x="4292498"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4183380"/>
            <a:ext cx="1460449" cy="960119"/>
          </a:xfrm>
          <a:prstGeom prst="rect">
            <a:avLst/>
          </a:prstGeom>
          <a:noFill/>
        </p:spPr>
        <p:txBody>
          <a:bodyPr wrap="square" anchor="t" lIns="0" rIns="0" tIns="0" bIns="0"/>
          <a:lstStyle/>
          <a:p>
            <a:pPr algn="l"/>
            <a:r>
              <a:rPr sz="1800" b="0" i="0">
                <a:solidFill>
                  <a:srgbClr val="202122"/>
                </a:solidFill>
                <a:latin typeface="Calibri"/>
              </a:rPr>
              <a:t>Separate people from the hazard.</a:t>
            </a:r>
          </a:p>
        </p:txBody>
      </p:sp>
      <p:sp>
        <p:nvSpPr>
          <p:cNvPr id="19" name="Oval 18"/>
          <p:cNvSpPr/>
          <p:nvPr/>
        </p:nvSpPr>
        <p:spPr>
          <a:xfrm>
            <a:off x="6711772"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3268979"/>
            <a:ext cx="1734769" cy="731520"/>
          </a:xfrm>
          <a:prstGeom prst="rect">
            <a:avLst/>
          </a:prstGeom>
          <a:noFill/>
        </p:spPr>
        <p:txBody>
          <a:bodyPr wrap="square" anchor="t" lIns="0" rIns="0" tIns="0" bIns="0"/>
          <a:lstStyle/>
          <a:p>
            <a:pPr algn="ctr"/>
            <a:r>
              <a:rPr sz="1500" b="1" i="0">
                <a:solidFill>
                  <a:srgbClr val="03306E"/>
                </a:solidFill>
                <a:latin typeface="Calibri"/>
              </a:rPr>
              <a:t>Engineering controls</a:t>
            </a:r>
          </a:p>
        </p:txBody>
      </p:sp>
      <p:sp>
        <p:nvSpPr>
          <p:cNvPr id="21" name="Rounded Rectangle 20"/>
          <p:cNvSpPr/>
          <p:nvPr/>
        </p:nvSpPr>
        <p:spPr>
          <a:xfrm>
            <a:off x="6164427"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4183380"/>
            <a:ext cx="1460449" cy="960119"/>
          </a:xfrm>
          <a:prstGeom prst="rect">
            <a:avLst/>
          </a:prstGeom>
          <a:noFill/>
        </p:spPr>
        <p:txBody>
          <a:bodyPr wrap="square" anchor="t" lIns="0" rIns="0" tIns="0" bIns="0"/>
          <a:lstStyle/>
          <a:p>
            <a:pPr algn="l"/>
            <a:r>
              <a:rPr sz="1800" b="0" i="0">
                <a:solidFill>
                  <a:srgbClr val="202122"/>
                </a:solidFill>
                <a:latin typeface="Calibri"/>
              </a:rPr>
              <a:t>Guards, extraction, interlocks.</a:t>
            </a:r>
          </a:p>
        </p:txBody>
      </p:sp>
      <p:sp>
        <p:nvSpPr>
          <p:cNvPr id="23" name="Oval 22"/>
          <p:cNvSpPr/>
          <p:nvPr/>
        </p:nvSpPr>
        <p:spPr>
          <a:xfrm>
            <a:off x="8583701"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3268979"/>
            <a:ext cx="1734769" cy="731520"/>
          </a:xfrm>
          <a:prstGeom prst="rect">
            <a:avLst/>
          </a:prstGeom>
          <a:noFill/>
        </p:spPr>
        <p:txBody>
          <a:bodyPr wrap="square" anchor="t" lIns="0" rIns="0" tIns="0" bIns="0"/>
          <a:lstStyle/>
          <a:p>
            <a:pPr algn="ctr"/>
            <a:r>
              <a:rPr sz="1500" b="1" i="0">
                <a:solidFill>
                  <a:srgbClr val="03306E"/>
                </a:solidFill>
                <a:latin typeface="Calibri"/>
              </a:rPr>
              <a:t>Administration</a:t>
            </a:r>
          </a:p>
        </p:txBody>
      </p:sp>
      <p:sp>
        <p:nvSpPr>
          <p:cNvPr id="25" name="Rounded Rectangle 24"/>
          <p:cNvSpPr/>
          <p:nvPr/>
        </p:nvSpPr>
        <p:spPr>
          <a:xfrm>
            <a:off x="8036356"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4183380"/>
            <a:ext cx="1460449" cy="960119"/>
          </a:xfrm>
          <a:prstGeom prst="rect">
            <a:avLst/>
          </a:prstGeom>
          <a:noFill/>
        </p:spPr>
        <p:txBody>
          <a:bodyPr wrap="square" anchor="t" lIns="0" rIns="0" tIns="0" bIns="0"/>
          <a:lstStyle/>
          <a:p>
            <a:pPr algn="l"/>
            <a:r>
              <a:rPr sz="1800" b="0" i="0">
                <a:solidFill>
                  <a:srgbClr val="202122"/>
                </a:solidFill>
                <a:latin typeface="Calibri"/>
              </a:rPr>
              <a:t>Training, safe systems of work.</a:t>
            </a:r>
          </a:p>
        </p:txBody>
      </p:sp>
      <p:sp>
        <p:nvSpPr>
          <p:cNvPr id="27" name="Oval 26"/>
          <p:cNvSpPr/>
          <p:nvPr/>
        </p:nvSpPr>
        <p:spPr>
          <a:xfrm>
            <a:off x="10455630"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3268979"/>
            <a:ext cx="1734769" cy="731520"/>
          </a:xfrm>
          <a:prstGeom prst="rect">
            <a:avLst/>
          </a:prstGeom>
          <a:noFill/>
        </p:spPr>
        <p:txBody>
          <a:bodyPr wrap="square" anchor="t" lIns="0" rIns="0" tIns="0" bIns="0"/>
          <a:lstStyle/>
          <a:p>
            <a:pPr algn="ctr"/>
            <a:r>
              <a:rPr sz="1500" b="1" i="0">
                <a:solidFill>
                  <a:srgbClr val="03306E"/>
                </a:solidFill>
                <a:latin typeface="Calibri"/>
              </a:rPr>
              <a:t>PPE</a:t>
            </a:r>
          </a:p>
        </p:txBody>
      </p:sp>
      <p:sp>
        <p:nvSpPr>
          <p:cNvPr id="29" name="Rounded Rectangle 28"/>
          <p:cNvSpPr/>
          <p:nvPr/>
        </p:nvSpPr>
        <p:spPr>
          <a:xfrm>
            <a:off x="9908286" y="4046220"/>
            <a:ext cx="1734769"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4183380"/>
            <a:ext cx="1460449" cy="960119"/>
          </a:xfrm>
          <a:prstGeom prst="rect">
            <a:avLst/>
          </a:prstGeom>
          <a:noFill/>
        </p:spPr>
        <p:txBody>
          <a:bodyPr wrap="square" anchor="t" lIns="0" rIns="0" tIns="0" bIns="0"/>
          <a:lstStyle/>
          <a:p>
            <a:pPr algn="l"/>
            <a:r>
              <a:rPr sz="1800" b="0" i="0">
                <a:solidFill>
                  <a:srgbClr val="202122"/>
                </a:solidFill>
                <a:latin typeface="Calibri"/>
              </a:rPr>
              <a:t>The last resort.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hierarchy of control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top level of the hierarchy?</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an example of an engineering control.</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is PPE the last resort?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Specific engineering contexts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Some work needs extra precautions.</a:t>
            </a:r>
          </a:p>
          <a:p>
            <a:pPr>
              <a:spcAft>
                <a:spcPts val="1320"/>
              </a:spcAft>
            </a:pPr>
            <a:r>
              <a:rPr sz="2200" b="0">
                <a:solidFill>
                  <a:srgbClr val="202122"/>
                </a:solidFill>
                <a:latin typeface="Calibri"/>
              </a:rPr>
              <a:t>Moving parts need guarding and isolation. Lock out tag out (LOTO) means switching off and physically locking energy sources before work, so nobody can restart the machine. Confined spaces risk suffocation and need oxygen checks, a permit to work and a rescue plan. Chemicals need COSHH assessments, ventilation and fire precautions. Electrical testing and high-voltage work need safe isolation, permits and competent people, and awareness of stored energy.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Before clearing a jam in a conveyor, the fitter isolates the power, fits their own padlock and tag, and tests that it won't start.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Specific engineering contexts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354125"/>
                <a:gridCol w="7740289"/>
              </a:tblGrid>
              <a:tr h="754380">
                <a:tc>
                  <a:txBody>
                    <a:bodyPr wrap="square"/>
                    <a:lstStyle/>
                    <a:p>
                      <a:r>
                        <a:rPr sz="1600" b="1">
                          <a:solidFill>
                            <a:srgbClr val="FFFFFF"/>
                          </a:solidFill>
                          <a:latin typeface="Calibri"/>
                        </a:rPr>
                        <a:t>Context</a:t>
                      </a:r>
                    </a:p>
                  </a:txBody>
                  <a:tcPr marL="91440" marR="91440" anchor="ctr">
                    <a:solidFill>
                      <a:srgbClr val="03306E"/>
                    </a:solidFill>
                  </a:tcPr>
                </a:tc>
                <a:tc>
                  <a:txBody>
                    <a:bodyPr wrap="square"/>
                    <a:lstStyle/>
                    <a:p>
                      <a:r>
                        <a:rPr sz="1600" b="1">
                          <a:solidFill>
                            <a:srgbClr val="FFFFFF"/>
                          </a:solidFill>
                          <a:latin typeface="Calibri"/>
                        </a:rPr>
                        <a:t>Key considerations</a:t>
                      </a:r>
                    </a:p>
                  </a:txBody>
                  <a:tcPr marL="91440" marR="91440" anchor="ctr">
                    <a:solidFill>
                      <a:srgbClr val="03306E"/>
                    </a:solidFill>
                  </a:tcPr>
                </a:tc>
              </a:tr>
              <a:tr h="754380">
                <a:tc>
                  <a:txBody>
                    <a:bodyPr wrap="square"/>
                    <a:lstStyle/>
                    <a:p>
                      <a:r>
                        <a:rPr sz="1600" b="1">
                          <a:solidFill>
                            <a:srgbClr val="03306E"/>
                          </a:solidFill>
                          <a:latin typeface="Calibri"/>
                        </a:rPr>
                        <a:t>Moving parts</a:t>
                      </a:r>
                    </a:p>
                  </a:txBody>
                  <a:tcPr marL="91440" marR="91440" anchor="ctr">
                    <a:solidFill>
                      <a:srgbClr val="FFFFFF"/>
                    </a:solidFill>
                  </a:tcPr>
                </a:tc>
                <a:tc>
                  <a:txBody>
                    <a:bodyPr wrap="square"/>
                    <a:lstStyle/>
                    <a:p>
                      <a:r>
                        <a:rPr sz="1600" b="0">
                          <a:solidFill>
                            <a:srgbClr val="202122"/>
                          </a:solidFill>
                          <a:latin typeface="Calibri"/>
                        </a:rPr>
                        <a:t>Guarding, isolation, lock out tag out (LOTO)</a:t>
                      </a:r>
                    </a:p>
                  </a:txBody>
                  <a:tcPr marL="91440" marR="91440" anchor="ctr">
                    <a:solidFill>
                      <a:srgbClr val="FFFFFF"/>
                    </a:solidFill>
                  </a:tcPr>
                </a:tc>
              </a:tr>
              <a:tr h="754380">
                <a:tc>
                  <a:txBody>
                    <a:bodyPr wrap="square"/>
                    <a:lstStyle/>
                    <a:p>
                      <a:r>
                        <a:rPr sz="1600" b="1">
                          <a:solidFill>
                            <a:srgbClr val="03306E"/>
                          </a:solidFill>
                          <a:latin typeface="Calibri"/>
                        </a:rPr>
                        <a:t>Confined spaces</a:t>
                      </a:r>
                    </a:p>
                  </a:txBody>
                  <a:tcPr marL="91440" marR="91440" anchor="ctr">
                    <a:solidFill>
                      <a:srgbClr val="EAF3FF"/>
                    </a:solidFill>
                  </a:tcPr>
                </a:tc>
                <a:tc>
                  <a:txBody>
                    <a:bodyPr wrap="square"/>
                    <a:lstStyle/>
                    <a:p>
                      <a:r>
                        <a:rPr sz="1600" b="0">
                          <a:solidFill>
                            <a:srgbClr val="202122"/>
                          </a:solidFill>
                          <a:latin typeface="Calibri"/>
                        </a:rPr>
                        <a:t>Asphyxiation, oxygen levels, permit to work, rescue plan</a:t>
                      </a:r>
                    </a:p>
                  </a:txBody>
                  <a:tcPr marL="91440" marR="91440" anchor="ctr">
                    <a:solidFill>
                      <a:srgbClr val="EAF3FF"/>
                    </a:solidFill>
                  </a:tcPr>
                </a:tc>
              </a:tr>
              <a:tr h="754380">
                <a:tc>
                  <a:txBody>
                    <a:bodyPr wrap="square"/>
                    <a:lstStyle/>
                    <a:p>
                      <a:r>
                        <a:rPr sz="1600" b="1">
                          <a:solidFill>
                            <a:srgbClr val="03306E"/>
                          </a:solidFill>
                          <a:latin typeface="Calibri"/>
                        </a:rPr>
                        <a:t>Chemicals</a:t>
                      </a:r>
                    </a:p>
                  </a:txBody>
                  <a:tcPr marL="91440" marR="91440" anchor="ctr">
                    <a:solidFill>
                      <a:srgbClr val="FFFFFF"/>
                    </a:solidFill>
                  </a:tcPr>
                </a:tc>
                <a:tc>
                  <a:txBody>
                    <a:bodyPr wrap="square"/>
                    <a:lstStyle/>
                    <a:p>
                      <a:r>
                        <a:rPr sz="1600" b="0">
                          <a:solidFill>
                            <a:srgbClr val="202122"/>
                          </a:solidFill>
                          <a:latin typeface="Calibri"/>
                        </a:rPr>
                        <a:t>COSHH, ventilation, fire and explosion risk</a:t>
                      </a:r>
                    </a:p>
                  </a:txBody>
                  <a:tcPr marL="91440" marR="91440" anchor="ctr">
                    <a:solidFill>
                      <a:srgbClr val="FFFFFF"/>
                    </a:solidFill>
                  </a:tcPr>
                </a:tc>
              </a:tr>
              <a:tr h="754380">
                <a:tc>
                  <a:txBody>
                    <a:bodyPr wrap="square"/>
                    <a:lstStyle/>
                    <a:p>
                      <a:r>
                        <a:rPr sz="1600" b="1">
                          <a:solidFill>
                            <a:srgbClr val="03306E"/>
                          </a:solidFill>
                          <a:latin typeface="Calibri"/>
                        </a:rPr>
                        <a:t>Electrical testing and high voltage</a:t>
                      </a:r>
                    </a:p>
                  </a:txBody>
                  <a:tcPr marL="91440" marR="91440" anchor="ctr">
                    <a:solidFill>
                      <a:srgbClr val="EAF3FF"/>
                    </a:solidFill>
                  </a:tcPr>
                </a:tc>
                <a:tc>
                  <a:txBody>
                    <a:bodyPr wrap="square"/>
                    <a:lstStyle/>
                    <a:p>
                      <a:r>
                        <a:rPr sz="1600" b="0">
                          <a:solidFill>
                            <a:srgbClr val="202122"/>
                          </a:solidFill>
                          <a:latin typeface="Calibri"/>
                        </a:rPr>
                        <a:t>Isolation, permits, stored energy, competent persons</a:t>
                      </a:r>
                    </a:p>
                  </a:txBody>
                  <a:tcPr marL="91440" marR="91440" anchor="ctr">
                    <a:solidFill>
                      <a:srgbClr val="EAF3FF"/>
                    </a:solidFill>
                  </a:tcPr>
                </a:tc>
              </a:tr>
              <a:tr h="754380">
                <a:tc>
                  <a:txBody>
                    <a:bodyPr wrap="square"/>
                    <a:lstStyle/>
                    <a:p>
                      <a:r>
                        <a:rPr sz="1600" b="1">
                          <a:solidFill>
                            <a:srgbClr val="03306E"/>
                          </a:solidFill>
                          <a:latin typeface="Calibri"/>
                        </a:rPr>
                        <a:t>Maintenance</a:t>
                      </a:r>
                    </a:p>
                  </a:txBody>
                  <a:tcPr marL="91440" marR="91440" anchor="ctr">
                    <a:solidFill>
                      <a:srgbClr val="FFFFFF"/>
                    </a:solidFill>
                  </a:tcPr>
                </a:tc>
                <a:tc>
                  <a:txBody>
                    <a:bodyPr wrap="square"/>
                    <a:lstStyle/>
                    <a:p>
                      <a:r>
                        <a:rPr sz="1600" b="0">
                          <a:solidFill>
                            <a:srgbClr val="202122"/>
                          </a:solidFill>
                          <a:latin typeface="Calibri"/>
                        </a:rPr>
                        <a:t>Safe isolation, heat, manual handling</a:t>
                      </a:r>
                    </a:p>
                  </a:txBody>
                  <a:tcPr marL="91440" marR="9144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Specific engineering contexts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LOTO?</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permit to work?</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are confined spaces dangerous?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is the first level of the hierarchy of control?</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Why is PPE the last resort?</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LOTO?</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does a permit to work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is the first level of the hierarchy of control?</a:t>
            </a:r>
          </a:p>
          <a:p>
            <a:r>
              <a:rPr sz="1800" b="1">
                <a:solidFill>
                  <a:srgbClr val="03306E"/>
                </a:solidFill>
                <a:latin typeface="Calibri"/>
              </a:rPr>
              <a:t>Elimination.</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Why is PPE the last resort?</a:t>
            </a:r>
          </a:p>
          <a:p>
            <a:r>
              <a:rPr sz="1800" b="1">
                <a:solidFill>
                  <a:srgbClr val="03306E"/>
                </a:solidFill>
                <a:latin typeface="Calibri"/>
              </a:rPr>
              <a:t>It only protects the wearer and relies on it being worn correctly.</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LOTO?</a:t>
            </a:r>
          </a:p>
          <a:p>
            <a:r>
              <a:rPr sz="1800" b="1">
                <a:solidFill>
                  <a:srgbClr val="03306E"/>
                </a:solidFill>
                <a:latin typeface="Calibri"/>
              </a:rPr>
              <a:t>Lock out tag out: isolating and locking energy sources before work.</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does a permit to work control?</a:t>
            </a:r>
          </a:p>
          <a:p>
            <a:r>
              <a:rPr sz="1800" b="1">
                <a:solidFill>
                  <a:srgbClr val="03306E"/>
                </a:solidFill>
                <a:latin typeface="Calibri"/>
              </a:rPr>
              <a:t>Authorisation and conditions for high-risk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Risk assess the lathe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Risk Assessment and Hazardous Contexts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Risk assess using a centre lathe in the workshop.</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Identify at least five hazards.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Score likelihood and severity for each.</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Choose controls from as high up the hierarchy as possible.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Hazards are specific</a:t>
            </a:r>
          </a:p>
          <a:p>
            <a:pPr marL="274320" indent="-274320">
              <a:spcAft>
                <a:spcPts val="810"/>
              </a:spcAft>
              <a:buClr>
                <a:srgbClr val="0645AD"/>
              </a:buClr>
              <a:buFont typeface="Arial"/>
              <a:buChar char="•"/>
            </a:pPr>
            <a:r>
              <a:rPr sz="1800" b="0">
                <a:solidFill>
                  <a:srgbClr val="202122"/>
                </a:solidFill>
                <a:latin typeface="Calibri"/>
              </a:rPr>
              <a:t>Scores justified</a:t>
            </a:r>
          </a:p>
          <a:p>
            <a:pPr marL="274320" indent="-274320">
              <a:spcAft>
                <a:spcPts val="810"/>
              </a:spcAft>
              <a:buClr>
                <a:srgbClr val="0645AD"/>
              </a:buClr>
              <a:buFont typeface="Arial"/>
              <a:buChar char="•"/>
            </a:pPr>
            <a:r>
              <a:rPr sz="1800" b="0">
                <a:solidFill>
                  <a:srgbClr val="202122"/>
                </a:solidFill>
                <a:latin typeface="Calibri"/>
              </a:rPr>
              <a:t>PPE is not the only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12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an example of an engineering control.</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HAZOP used for?</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are confined spaces dangerous?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2</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https://lana6478.github.io/T-level-Design-Development-Engineering-Manufacturing/#/01-core-component/02-engineering-core-part2.md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Assessment and Hazardous Contexts</dc:title>
  <dc:subject>Design and Development for Engineering and Manufacturing T Level: Core topic 12</dc:subject>
  <dc:creator>Samuel O'Connell</dc:creator>
  <cp:keywords>T Level; Design and Development for Engineering and Manufacturing; lesson slides; 12.4, 12.5</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