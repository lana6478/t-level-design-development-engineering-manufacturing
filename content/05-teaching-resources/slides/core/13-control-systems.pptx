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E.g. logic gates, timers, counters, comparators, latches.</a:t>
            </a:r>
          </a:p>
          <a:p>
            <a:r>
              <a:t>2. Information about the output sent back to the input.</a:t>
            </a:r>
          </a:p>
          <a:p>
            <a:r>
              <a:t>3. Both inputs to be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Steady-state error is the difference that remains between the set point and the output once the system settles. A transfer function describes the output/input relationship of a block.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Feedback.</a:t>
            </a:r>
          </a:p>
          <a:p>
            <a:r>
              <a:t>2. One that overshoots and oscillates.</a:t>
            </a:r>
          </a:p>
          <a:p>
            <a:r>
              <a:t>3. The difference left between set point and output once settled.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 sensor that detects objects without contact.</a:t>
            </a:r>
          </a:p>
          <a:p>
            <a:r>
              <a:t>2. Active sensors need power; passive ones don't.</a:t>
            </a:r>
          </a:p>
          <a:p>
            <a:r>
              <a:t>3. E.g. inspecting products for defects.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F2B705"/>
                </a:solidFill>
                <a:latin typeface="Calibri"/>
              </a:rPr>
              <a:t>ENGINEERING CORE</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Control Systems, Sensors and Actuators</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Core topic 10</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10.1, 10.2</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Design and Development for Engineering and Manufacturing T Level  ·  Lesson slides</a:t>
            </a:r>
          </a:p>
          <a:p>
            <a:pPr algn="l"/>
            <a:r>
              <a:rPr sz="1100" b="0" i="0">
                <a:solidFill>
                  <a:srgbClr val="A9C8F0"/>
                </a:solidFill>
                <a:latin typeface="Calibri"/>
              </a:rPr>
              <a:t>Unofficial teaching resource. Check the official City &amp; Guilds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10</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Control Systems, Sensors and Actuators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Describe inputs, processes and outputs, including logic gates.</a:t>
            </a:r>
          </a:p>
        </p:txBody>
      </p:sp>
      <p:sp>
        <p:nvSpPr>
          <p:cNvPr id="9" name="Oval 8"/>
          <p:cNvSpPr/>
          <p:nvPr/>
        </p:nvSpPr>
        <p:spPr>
          <a:xfrm>
            <a:off x="548640" y="327469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Compare open and closed loop control and explain feedback.</a:t>
            </a:r>
          </a:p>
        </p:txBody>
      </p:sp>
      <p:sp>
        <p:nvSpPr>
          <p:cNvPr id="11" name="Oval 10"/>
          <p:cNvSpPr/>
          <p:nvPr/>
        </p:nvSpPr>
        <p:spPr>
          <a:xfrm>
            <a:off x="548640" y="431482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Explain steady-state error, damping and signal types.</a:t>
            </a:r>
          </a:p>
        </p:txBody>
      </p:sp>
      <p:sp>
        <p:nvSpPr>
          <p:cNvPr id="13" name="Oval 12"/>
          <p:cNvSpPr/>
          <p:nvPr/>
        </p:nvSpPr>
        <p:spPr>
          <a:xfrm>
            <a:off x="548640" y="5354954"/>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Describe sensors and actuators used in automation.</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A toaster runs for a set time. An oven holds 180 degrees. Which one 'knows' what is happening? How?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10</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Parts of a control system</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Control Systems, Sensors and Actuators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Every control system has inputs, processes and outputs.</a:t>
            </a:r>
          </a:p>
          <a:p>
            <a:pPr>
              <a:spcAft>
                <a:spcPts val="1320"/>
              </a:spcAft>
            </a:pPr>
            <a:r>
              <a:rPr sz="2200" b="0">
                <a:solidFill>
                  <a:srgbClr val="202122"/>
                </a:solidFill>
                <a:latin typeface="Calibri"/>
              </a:rPr>
              <a:t>Inputs are sensors measuring pressure, flow, temperature, speed or position. Processes decide what to do, using logic gates (AND, OR, NOT), timers, comparators, counters and latches. Outputs act on the world: motors, valves, heaters and lamps.</a:t>
            </a:r>
          </a:p>
          <a:p>
            <a:pPr>
              <a:spcAft>
                <a:spcPts val="1320"/>
              </a:spcAft>
            </a:pPr>
            <a:r>
              <a:rPr sz="2200" b="0">
                <a:solidFill>
                  <a:srgbClr val="202122"/>
                </a:solidFill>
                <a:latin typeface="Calibri"/>
              </a:rPr>
              <a:t>Feedback sends information about the output back to the input, so the system can correct itself. A summing point compares the desired value (set point) with the actual value.</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safety guard: the machine runs only if the guard sensor AND the start button are both on, an AND gate.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10</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Parts of a control system</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Control Systems, Sensors and Actuators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Input</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2000" b="0" i="0">
                <a:solidFill>
                  <a:srgbClr val="202122"/>
                </a:solidFill>
                <a:latin typeface="Calibri"/>
              </a:rPr>
              <a:t>Sensors measuring pressure, flow, temperature, speed or position.</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Process</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Logic gates (AND, OR, NOT), timers, comparators, counters, latches.</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Output</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2000" b="0" i="0">
                <a:solidFill>
                  <a:srgbClr val="202122"/>
                </a:solidFill>
                <a:latin typeface="Calibri"/>
              </a:rPr>
              <a:t>Motors, valves, heaters, lamps.</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Feedback</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The output is measured and fed back to the input.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10</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Parts of a control system</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Control Systems, Sensors and Actuators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Name three process blocks.</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is feedback?</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does an AND gate need to output 1?</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10</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Open and closed loop</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Control Systems, Sensors and Actuators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An open loop system has no feedback: it runs a set action regardless of the result. It's simple and cheap but can't correct errors, like a toaster on a timer.</a:t>
            </a:r>
          </a:p>
          <a:p>
            <a:pPr>
              <a:spcAft>
                <a:spcPts val="1320"/>
              </a:spcAft>
            </a:pPr>
            <a:r>
              <a:rPr sz="2200" b="0">
                <a:solidFill>
                  <a:srgbClr val="202122"/>
                </a:solidFill>
                <a:latin typeface="Calibri"/>
              </a:rPr>
              <a:t>A closed loop system measures its output and feeds it back to compare with the set point, correcting any difference automatically, like an oven thermostat or cruise control.</a:t>
            </a:r>
          </a:p>
          <a:p>
            <a:pPr>
              <a:spcAft>
                <a:spcPts val="1320"/>
              </a:spcAft>
            </a:pPr>
            <a:r>
              <a:rPr sz="2200" b="0">
                <a:solidFill>
                  <a:srgbClr val="202122"/>
                </a:solidFill>
                <a:latin typeface="Calibri"/>
              </a:rPr>
              <a:t>Closed loop systems can be under-damped (overshooting and oscillating) or over-damped (slow to reach the set point). Steady-state error is any difference that remains once the system settles.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Cruise control set to 70 mph: going uphill the car slows, the sensor detects it, and the controller adds power.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10</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Open and closed loop</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Control Systems, Sensors and Actuators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Open loop</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No feedback</a:t>
            </a:r>
          </a:p>
          <a:p>
            <a:pPr marL="274320" indent="-274320">
              <a:spcAft>
                <a:spcPts val="990"/>
              </a:spcAft>
              <a:buClr>
                <a:srgbClr val="0645AD"/>
              </a:buClr>
              <a:buFont typeface="Arial"/>
              <a:buChar char="•"/>
            </a:pPr>
            <a:r>
              <a:rPr sz="2200" b="0">
                <a:solidFill>
                  <a:srgbClr val="202122"/>
                </a:solidFill>
                <a:latin typeface="Calibri"/>
              </a:rPr>
              <a:t>Simple and cheap</a:t>
            </a:r>
          </a:p>
          <a:p>
            <a:pPr marL="274320" indent="-274320">
              <a:spcAft>
                <a:spcPts val="990"/>
              </a:spcAft>
              <a:buClr>
                <a:srgbClr val="0645AD"/>
              </a:buClr>
              <a:buFont typeface="Arial"/>
              <a:buChar char="•"/>
            </a:pPr>
            <a:r>
              <a:rPr sz="2200" b="0">
                <a:solidFill>
                  <a:srgbClr val="202122"/>
                </a:solidFill>
                <a:latin typeface="Calibri"/>
              </a:rPr>
              <a:t>Cannot correct errors</a:t>
            </a:r>
          </a:p>
          <a:p>
            <a:pPr marL="274320" indent="-274320">
              <a:spcAft>
                <a:spcPts val="990"/>
              </a:spcAft>
              <a:buClr>
                <a:srgbClr val="0645AD"/>
              </a:buClr>
              <a:buFont typeface="Arial"/>
              <a:buChar char="•"/>
            </a:pPr>
            <a:r>
              <a:rPr sz="2200" b="0">
                <a:solidFill>
                  <a:srgbClr val="202122"/>
                </a:solidFill>
                <a:latin typeface="Calibri"/>
              </a:rPr>
              <a:t>e.g. a toaster on a timer</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Closed loop</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Feedback via a summing point compares output to the set point</a:t>
            </a:r>
          </a:p>
          <a:p>
            <a:pPr marL="274320" indent="-274320">
              <a:spcAft>
                <a:spcPts val="990"/>
              </a:spcAft>
              <a:buClr>
                <a:srgbClr val="0645AD"/>
              </a:buClr>
              <a:buFont typeface="Arial"/>
              <a:buChar char="•"/>
            </a:pPr>
            <a:r>
              <a:rPr sz="2200" b="0">
                <a:solidFill>
                  <a:srgbClr val="202122"/>
                </a:solidFill>
                <a:latin typeface="Calibri"/>
              </a:rPr>
              <a:t>Corrects errors automatically</a:t>
            </a:r>
          </a:p>
          <a:p>
            <a:pPr marL="274320" indent="-274320">
              <a:spcAft>
                <a:spcPts val="990"/>
              </a:spcAft>
              <a:buClr>
                <a:srgbClr val="0645AD"/>
              </a:buClr>
              <a:buFont typeface="Arial"/>
              <a:buChar char="•"/>
            </a:pPr>
            <a:r>
              <a:rPr sz="2200" b="0">
                <a:solidFill>
                  <a:srgbClr val="202122"/>
                </a:solidFill>
                <a:latin typeface="Calibri"/>
              </a:rPr>
              <a:t>Can overshoot (under-damped) or be slow (over-damped)</a:t>
            </a:r>
          </a:p>
          <a:p>
            <a:pPr marL="274320" indent="-274320">
              <a:spcAft>
                <a:spcPts val="990"/>
              </a:spcAft>
              <a:buClr>
                <a:srgbClr val="0645AD"/>
              </a:buClr>
              <a:buFont typeface="Arial"/>
              <a:buChar char="•"/>
            </a:pPr>
            <a:r>
              <a:rPr sz="2200" b="0">
                <a:solidFill>
                  <a:srgbClr val="202122"/>
                </a:solidFill>
                <a:latin typeface="Calibri"/>
              </a:rPr>
              <a:t>e.g. an oven thermostat, cruise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10</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Open and closed loop</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Control Systems, Sensors and Actuators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does an open loop system lack?</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is an under-damped system?</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is steady-state error?</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10</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Signals and modulation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Control Systems, Sensors and Actuators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graphicFrame>
        <p:nvGraphicFramePr>
          <p:cNvPr id="6" name="Table 5"/>
          <p:cNvGraphicFramePr>
            <a:graphicFrameLocks noGrp="1"/>
          </p:cNvGraphicFramePr>
          <p:nvPr/>
        </p:nvGraphicFramePr>
        <p:xfrm>
          <a:off x="548640" y="1600200"/>
          <a:ext cx="11094414" cy="4526280"/>
        </p:xfrm>
        <a:graphic>
          <a:graphicData uri="http://schemas.openxmlformats.org/drawingml/2006/table">
            <a:tbl>
              <a:tblPr firstRow="1" bandRow="1">
                <a:tableStyleId>{5C22544A-7EE6-4342-B048-85BDC9FD1C3A}</a:tableStyleId>
              </a:tblPr>
              <a:tblGrid>
                <a:gridCol w="3354125"/>
                <a:gridCol w="7740289"/>
              </a:tblGrid>
              <a:tr h="905256">
                <a:tc>
                  <a:txBody>
                    <a:bodyPr wrap="square"/>
                    <a:lstStyle/>
                    <a:p>
                      <a:r>
                        <a:rPr sz="1600" b="1">
                          <a:solidFill>
                            <a:srgbClr val="FFFFFF"/>
                          </a:solidFill>
                          <a:latin typeface="Calibri"/>
                        </a:rPr>
                        <a:t>Term</a:t>
                      </a:r>
                    </a:p>
                  </a:txBody>
                  <a:tcPr marL="91440" marR="91440" anchor="ctr">
                    <a:solidFill>
                      <a:srgbClr val="03306E"/>
                    </a:solidFill>
                  </a:tcPr>
                </a:tc>
                <a:tc>
                  <a:txBody>
                    <a:bodyPr wrap="square"/>
                    <a:lstStyle/>
                    <a:p>
                      <a:r>
                        <a:rPr sz="1600" b="1">
                          <a:solidFill>
                            <a:srgbClr val="FFFFFF"/>
                          </a:solidFill>
                          <a:latin typeface="Calibri"/>
                        </a:rPr>
                        <a:t>Meaning</a:t>
                      </a:r>
                    </a:p>
                  </a:txBody>
                  <a:tcPr marL="91440" marR="91440" anchor="ctr">
                    <a:solidFill>
                      <a:srgbClr val="03306E"/>
                    </a:solidFill>
                  </a:tcPr>
                </a:tc>
              </a:tr>
              <a:tr h="905256">
                <a:tc>
                  <a:txBody>
                    <a:bodyPr wrap="square"/>
                    <a:lstStyle/>
                    <a:p>
                      <a:r>
                        <a:rPr sz="1600" b="1">
                          <a:solidFill>
                            <a:srgbClr val="03306E"/>
                          </a:solidFill>
                          <a:latin typeface="Calibri"/>
                        </a:rPr>
                        <a:t>Analogue signal</a:t>
                      </a:r>
                    </a:p>
                  </a:txBody>
                  <a:tcPr marL="91440" marR="91440" anchor="ctr">
                    <a:solidFill>
                      <a:srgbClr val="FFFFFF"/>
                    </a:solidFill>
                  </a:tcPr>
                </a:tc>
                <a:tc>
                  <a:txBody>
                    <a:bodyPr wrap="square"/>
                    <a:lstStyle/>
                    <a:p>
                      <a:r>
                        <a:rPr sz="1600" b="0">
                          <a:solidFill>
                            <a:srgbClr val="202122"/>
                          </a:solidFill>
                          <a:latin typeface="Calibri"/>
                        </a:rPr>
                        <a:t>Continuously variable value</a:t>
                      </a:r>
                    </a:p>
                  </a:txBody>
                  <a:tcPr marL="91440" marR="91440" anchor="ctr">
                    <a:solidFill>
                      <a:srgbClr val="FFFFFF"/>
                    </a:solidFill>
                  </a:tcPr>
                </a:tc>
              </a:tr>
              <a:tr h="905256">
                <a:tc>
                  <a:txBody>
                    <a:bodyPr wrap="square"/>
                    <a:lstStyle/>
                    <a:p>
                      <a:r>
                        <a:rPr sz="1600" b="1">
                          <a:solidFill>
                            <a:srgbClr val="03306E"/>
                          </a:solidFill>
                          <a:latin typeface="Calibri"/>
                        </a:rPr>
                        <a:t>Digital signal</a:t>
                      </a:r>
                    </a:p>
                  </a:txBody>
                  <a:tcPr marL="91440" marR="91440" anchor="ctr">
                    <a:solidFill>
                      <a:srgbClr val="EAF3FF"/>
                    </a:solidFill>
                  </a:tcPr>
                </a:tc>
                <a:tc>
                  <a:txBody>
                    <a:bodyPr wrap="square"/>
                    <a:lstStyle/>
                    <a:p>
                      <a:r>
                        <a:rPr sz="1600" b="0">
                          <a:solidFill>
                            <a:srgbClr val="202122"/>
                          </a:solidFill>
                          <a:latin typeface="Calibri"/>
                        </a:rPr>
                        <a:t>Discrete on or off levels</a:t>
                      </a:r>
                    </a:p>
                  </a:txBody>
                  <a:tcPr marL="91440" marR="91440" anchor="ctr">
                    <a:solidFill>
                      <a:srgbClr val="EAF3FF"/>
                    </a:solidFill>
                  </a:tcPr>
                </a:tc>
              </a:tr>
              <a:tr h="905256">
                <a:tc>
                  <a:txBody>
                    <a:bodyPr wrap="square"/>
                    <a:lstStyle/>
                    <a:p>
                      <a:r>
                        <a:rPr sz="1600" b="1">
                          <a:solidFill>
                            <a:srgbClr val="03306E"/>
                          </a:solidFill>
                          <a:latin typeface="Calibri"/>
                        </a:rPr>
                        <a:t>Pulse width modulation</a:t>
                      </a:r>
                    </a:p>
                  </a:txBody>
                  <a:tcPr marL="91440" marR="91440" anchor="ctr">
                    <a:solidFill>
                      <a:srgbClr val="FFFFFF"/>
                    </a:solidFill>
                  </a:tcPr>
                </a:tc>
                <a:tc>
                  <a:txBody>
                    <a:bodyPr wrap="square"/>
                    <a:lstStyle/>
                    <a:p>
                      <a:r>
                        <a:rPr sz="1600" b="0">
                          <a:solidFill>
                            <a:srgbClr val="202122"/>
                          </a:solidFill>
                          <a:latin typeface="Calibri"/>
                        </a:rPr>
                        <a:t>Varies the on-time of pulses to control power, e.g. motor speed</a:t>
                      </a:r>
                    </a:p>
                  </a:txBody>
                  <a:tcPr marL="91440" marR="91440" anchor="ctr">
                    <a:solidFill>
                      <a:srgbClr val="FFFFFF"/>
                    </a:solidFill>
                  </a:tcPr>
                </a:tc>
              </a:tr>
              <a:tr h="905256">
                <a:tc>
                  <a:txBody>
                    <a:bodyPr wrap="square"/>
                    <a:lstStyle/>
                    <a:p>
                      <a:r>
                        <a:rPr sz="1600" b="1">
                          <a:solidFill>
                            <a:srgbClr val="03306E"/>
                          </a:solidFill>
                          <a:latin typeface="Calibri"/>
                        </a:rPr>
                        <a:t>Pulse amplitude modulation</a:t>
                      </a:r>
                    </a:p>
                  </a:txBody>
                  <a:tcPr marL="91440" marR="91440" anchor="ctr">
                    <a:solidFill>
                      <a:srgbClr val="EAF3FF"/>
                    </a:solidFill>
                  </a:tcPr>
                </a:tc>
                <a:tc>
                  <a:txBody>
                    <a:bodyPr wrap="square"/>
                    <a:lstStyle/>
                    <a:p>
                      <a:r>
                        <a:rPr sz="1600" b="0">
                          <a:solidFill>
                            <a:srgbClr val="202122"/>
                          </a:solidFill>
                          <a:latin typeface="Calibri"/>
                        </a:rPr>
                        <a:t>Varies the height of pulses to carry information</a:t>
                      </a:r>
                    </a:p>
                  </a:txBody>
                  <a:tcPr marL="91440" marR="91440" anchor="ctr">
                    <a:solidFill>
                      <a:srgbClr val="EAF3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10</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Sensors and actuators in automation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Control Systems, Sensors and Actuators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00"/>
              </a:spcAft>
            </a:pPr>
            <a:r>
              <a:rPr sz="2000" b="0">
                <a:solidFill>
                  <a:srgbClr val="202122"/>
                </a:solidFill>
                <a:latin typeface="Calibri"/>
              </a:rPr>
              <a:t>Sensors can be analogue (a continuous range, like temperature) or digital (on or off, like a limit switch). Active sensors need power; passive ones don't.</a:t>
            </a:r>
          </a:p>
          <a:p>
            <a:pPr>
              <a:spcAft>
                <a:spcPts val="1200"/>
              </a:spcAft>
            </a:pPr>
            <a:r>
              <a:rPr sz="2000" b="0">
                <a:solidFill>
                  <a:srgbClr val="202122"/>
                </a:solidFill>
                <a:latin typeface="Calibri"/>
              </a:rPr>
              <a:t>Common examples are switches, proximity sensors (detecting objects without contact), lasers and vision systems (cameras that inspect or guide).</a:t>
            </a:r>
          </a:p>
          <a:p>
            <a:pPr>
              <a:spcAft>
                <a:spcPts val="1200"/>
              </a:spcAft>
            </a:pPr>
            <a:r>
              <a:rPr sz="2000" b="0">
                <a:solidFill>
                  <a:srgbClr val="202122"/>
                </a:solidFill>
                <a:latin typeface="Calibri"/>
              </a:rPr>
              <a:t>Connections can be hard-wired, which is reliable, or wireless, which is flexible.</a:t>
            </a:r>
          </a:p>
          <a:p>
            <a:pPr>
              <a:spcAft>
                <a:spcPts val="1200"/>
              </a:spcAft>
            </a:pPr>
            <a:r>
              <a:rPr sz="2000" b="0">
                <a:solidFill>
                  <a:srgbClr val="202122"/>
                </a:solidFill>
                <a:latin typeface="Calibri"/>
              </a:rPr>
              <a:t>In automation they position and measure objects and control lifting and moving, measuring electrical, mechanical, thermal, chemical, optical and acoustic quantities.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vision system photographs every biscuit on a conveyor and signals an actuator to reject any that are broken.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10</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Sensors and actuators in automation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Control Systems, Sensors and Actuators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Types</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2000" b="0" i="0">
                <a:solidFill>
                  <a:srgbClr val="202122"/>
                </a:solidFill>
                <a:latin typeface="Calibri"/>
              </a:rPr>
              <a:t>Analogue or digital; active (needs power) or passive.</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Examples</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Switches, proximity sensors, lasers, vision systems.</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Connections</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2000" b="0" i="0">
                <a:solidFill>
                  <a:srgbClr val="202122"/>
                </a:solidFill>
                <a:latin typeface="Calibri"/>
              </a:rPr>
              <a:t>Hard-wired or wireless; suitable power sources.</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Uses</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Positioning, measuring, lifting and moving objects.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10</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Sensors and actuators in automation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Control Systems, Sensors and Actuators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 proximity sensor?</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is the difference between active and passive sensors?</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Give one use of a vision system.</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10</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Control Systems, Sensors and Actuators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2200" b="0" i="0">
                <a:solidFill>
                  <a:srgbClr val="202122"/>
                </a:solidFill>
                <a:latin typeface="Calibri"/>
              </a:rPr>
              <a:t>What does a closed loop system have that an open loop one doesn't?</a:t>
            </a:r>
          </a:p>
        </p:txBody>
      </p:sp>
      <p:sp>
        <p:nvSpPr>
          <p:cNvPr id="8" name="Oval 7"/>
          <p:cNvSpPr/>
          <p:nvPr/>
        </p:nvSpPr>
        <p:spPr>
          <a:xfrm>
            <a:off x="548640" y="2814066"/>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2200" b="0" i="0">
                <a:solidFill>
                  <a:srgbClr val="202122"/>
                </a:solidFill>
                <a:latin typeface="Calibri"/>
              </a:rPr>
              <a:t>Which logic gate outputs 1 only when both inputs are 1?</a:t>
            </a:r>
          </a:p>
        </p:txBody>
      </p:sp>
      <p:sp>
        <p:nvSpPr>
          <p:cNvPr id="10" name="Oval 9"/>
          <p:cNvSpPr/>
          <p:nvPr/>
        </p:nvSpPr>
        <p:spPr>
          <a:xfrm>
            <a:off x="548640" y="4009644"/>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2200" b="0" i="0">
                <a:solidFill>
                  <a:srgbClr val="202122"/>
                </a:solidFill>
                <a:latin typeface="Calibri"/>
              </a:rPr>
              <a:t>What is steady-state error?</a:t>
            </a:r>
          </a:p>
        </p:txBody>
      </p:sp>
      <p:sp>
        <p:nvSpPr>
          <p:cNvPr id="12" name="Oval 11"/>
          <p:cNvSpPr/>
          <p:nvPr/>
        </p:nvSpPr>
        <p:spPr>
          <a:xfrm>
            <a:off x="548640" y="5205221"/>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2200" b="0" i="0">
                <a:solidFill>
                  <a:srgbClr val="202122"/>
                </a:solidFill>
                <a:latin typeface="Calibri"/>
              </a:rPr>
              <a:t>How does PWM control motor speed?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10</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Control Systems, Sensors and Actuators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1800" b="0" i="0">
                <a:solidFill>
                  <a:srgbClr val="54595D"/>
                </a:solidFill>
                <a:latin typeface="Calibri"/>
              </a:rPr>
              <a:t>What does a closed loop system have that an open loop one doesn't?</a:t>
            </a:r>
          </a:p>
          <a:p>
            <a:r>
              <a:rPr sz="1800" b="1">
                <a:solidFill>
                  <a:srgbClr val="03306E"/>
                </a:solidFill>
                <a:latin typeface="Calibri"/>
              </a:rPr>
              <a:t>Feedback.</a:t>
            </a:r>
          </a:p>
        </p:txBody>
      </p:sp>
      <p:sp>
        <p:nvSpPr>
          <p:cNvPr id="8" name="Oval 7"/>
          <p:cNvSpPr/>
          <p:nvPr/>
        </p:nvSpPr>
        <p:spPr>
          <a:xfrm>
            <a:off x="548640" y="2814066"/>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1800" b="0" i="0">
                <a:solidFill>
                  <a:srgbClr val="54595D"/>
                </a:solidFill>
                <a:latin typeface="Calibri"/>
              </a:rPr>
              <a:t>Which logic gate outputs 1 only when both inputs are 1?</a:t>
            </a:r>
          </a:p>
          <a:p>
            <a:r>
              <a:rPr sz="1800" b="1">
                <a:solidFill>
                  <a:srgbClr val="03306E"/>
                </a:solidFill>
                <a:latin typeface="Calibri"/>
              </a:rPr>
              <a:t>AND.</a:t>
            </a:r>
          </a:p>
        </p:txBody>
      </p:sp>
      <p:sp>
        <p:nvSpPr>
          <p:cNvPr id="10" name="Oval 9"/>
          <p:cNvSpPr/>
          <p:nvPr/>
        </p:nvSpPr>
        <p:spPr>
          <a:xfrm>
            <a:off x="548640" y="4009644"/>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1800" b="0" i="0">
                <a:solidFill>
                  <a:srgbClr val="54595D"/>
                </a:solidFill>
                <a:latin typeface="Calibri"/>
              </a:rPr>
              <a:t>What is steady-state error?</a:t>
            </a:r>
          </a:p>
          <a:p>
            <a:r>
              <a:rPr sz="1800" b="1">
                <a:solidFill>
                  <a:srgbClr val="03306E"/>
                </a:solidFill>
                <a:latin typeface="Calibri"/>
              </a:rPr>
              <a:t>The difference left between the set point and the output once settled.</a:t>
            </a:r>
          </a:p>
        </p:txBody>
      </p:sp>
      <p:sp>
        <p:nvSpPr>
          <p:cNvPr id="12" name="Oval 11"/>
          <p:cNvSpPr/>
          <p:nvPr/>
        </p:nvSpPr>
        <p:spPr>
          <a:xfrm>
            <a:off x="548640" y="5205221"/>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1800" b="0" i="0">
                <a:solidFill>
                  <a:srgbClr val="54595D"/>
                </a:solidFill>
                <a:latin typeface="Calibri"/>
              </a:rPr>
              <a:t>How does PWM control motor speed?</a:t>
            </a:r>
          </a:p>
          <a:p>
            <a:r>
              <a:rPr sz="1800" b="1">
                <a:solidFill>
                  <a:srgbClr val="03306E"/>
                </a:solidFill>
                <a:latin typeface="Calibri"/>
              </a:rPr>
              <a:t>By varying how long the power is on in each pulse.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10</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System diagram</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Control Systems, Sensors and Actuators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Rounded Rectangle 5"/>
          <p:cNvSpPr/>
          <p:nvPr/>
        </p:nvSpPr>
        <p:spPr>
          <a:xfrm>
            <a:off x="548640" y="1508760"/>
            <a:ext cx="2011680" cy="45720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25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Pairs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Draw a closed loop system diagram for a greenhouse that controls temperature and watering.</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Show two inputs, two outputs, the controller and feedback paths.</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Label the summing points and set points.</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Explain what would happen if it were under-damped.</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Multiple inputs and outputs shown</a:t>
            </a:r>
          </a:p>
          <a:p>
            <a:pPr marL="274320" indent="-274320">
              <a:spcAft>
                <a:spcPts val="810"/>
              </a:spcAft>
              <a:buClr>
                <a:srgbClr val="0645AD"/>
              </a:buClr>
              <a:buFont typeface="Arial"/>
              <a:buChar char="•"/>
            </a:pPr>
            <a:r>
              <a:rPr sz="1800" b="0">
                <a:solidFill>
                  <a:srgbClr val="202122"/>
                </a:solidFill>
                <a:latin typeface="Calibri"/>
              </a:rPr>
              <a:t>Feedback correctly drawn</a:t>
            </a:r>
          </a:p>
          <a:p>
            <a:pPr marL="274320" indent="-274320">
              <a:spcAft>
                <a:spcPts val="810"/>
              </a:spcAft>
              <a:buClr>
                <a:srgbClr val="0645AD"/>
              </a:buClr>
              <a:buFont typeface="Arial"/>
              <a:buChar char="•"/>
            </a:pPr>
            <a:r>
              <a:rPr sz="1800" b="0">
                <a:solidFill>
                  <a:srgbClr val="202122"/>
                </a:solidFill>
                <a:latin typeface="Calibri"/>
              </a:rPr>
              <a:t>Damping explained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ENGINEERING CORE  ·  Core topic 10</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Give an example of a passive sensor.</a:t>
            </a:r>
          </a:p>
        </p:txBody>
      </p:sp>
      <p:sp>
        <p:nvSpPr>
          <p:cNvPr id="6" name="Oval 5"/>
          <p:cNvSpPr/>
          <p:nvPr/>
        </p:nvSpPr>
        <p:spPr>
          <a:xfrm>
            <a:off x="548640" y="26974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Why might a system overshoot?</a:t>
            </a:r>
          </a:p>
        </p:txBody>
      </p:sp>
      <p:sp>
        <p:nvSpPr>
          <p:cNvPr id="8" name="Oval 7"/>
          <p:cNvSpPr/>
          <p:nvPr/>
        </p:nvSpPr>
        <p:spPr>
          <a:xfrm>
            <a:off x="548640" y="365760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Name one process block used in control systems.</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Engineering Core, Part 2</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https://lana6478.github.io/T-level-Design-Development-Engineering-Manufacturing/#/01-core-component/02-engineering-core-part2.md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Systems, Sensors and Actuators</dc:title>
  <dc:subject>Design and Development for Engineering and Manufacturing T Level: Core topic 10</dc:subject>
  <dc:creator>Samuel O'Connell</dc:creator>
  <cp:keywords>T Level; Design and Development for Engineering and Manufacturing; lesson slides; 10.1, 10.2</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