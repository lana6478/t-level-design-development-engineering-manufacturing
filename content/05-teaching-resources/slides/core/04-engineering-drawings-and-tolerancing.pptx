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Drawings follow BS EN 8888 (technical product documentation) and BS 3939 (graphical symbols).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Orthographic projection.</a:t>
            </a:r>
          </a:p>
          <a:p>
            <a:r>
              <a:t>2. How parts assemble.</a:t>
            </a:r>
          </a:p>
          <a:p>
            <a:r>
              <a:t>3. BS EN 8888.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49.8 mm and 50.2 mm.</a:t>
            </a:r>
          </a:p>
          <a:p>
            <a:r>
              <a:t>2. An interference fit.</a:t>
            </a:r>
          </a:p>
          <a:p>
            <a:r>
              <a:t>3. Tighter tolerances cost more to make.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 reference feature that other features are measured from.</a:t>
            </a:r>
          </a:p>
          <a:p>
            <a:r>
              <a:t>2. That circular features share the same centre.</a:t>
            </a:r>
          </a:p>
          <a:p>
            <a:r>
              <a:t>3. A feature can be the right size but wrongly positioned or angled.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F2B705"/>
                </a:solidFill>
                <a:latin typeface="Calibri"/>
              </a:rPr>
              <a:t>ENGINEERING CORE</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Engineering Drawings, Dimensions and Tolerancing</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Core topic 3</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3.1, 3.2</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Design and Development for Engineering and Manufacturing T Level  ·  Lesson slides</a:t>
            </a:r>
          </a:p>
          <a:p>
            <a:pPr algn="l"/>
            <a:r>
              <a:rPr sz="1100" b="0" i="0">
                <a:solidFill>
                  <a:srgbClr val="A9C8F0"/>
                </a:solidFill>
                <a:latin typeface="Calibri"/>
              </a:rPr>
              <a:t>Unofficial teaching resource. Check the official City &amp; Guilds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Engineering Drawings, Dimensions and Tolerancing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Choose drawing types for a purpose and audience.</a:t>
            </a:r>
          </a:p>
        </p:txBody>
      </p:sp>
      <p:sp>
        <p:nvSpPr>
          <p:cNvPr id="9" name="Oval 8"/>
          <p:cNvSpPr/>
          <p:nvPr/>
        </p:nvSpPr>
        <p:spPr>
          <a:xfrm>
            <a:off x="548640" y="327469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Interpret title blocks, line types, abbreviations and symbols.</a:t>
            </a:r>
          </a:p>
        </p:txBody>
      </p:sp>
      <p:sp>
        <p:nvSpPr>
          <p:cNvPr id="11" name="Oval 10"/>
          <p:cNvSpPr/>
          <p:nvPr/>
        </p:nvSpPr>
        <p:spPr>
          <a:xfrm>
            <a:off x="548640" y="431482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Interpret dimensions and GD&amp;T symbols.</a:t>
            </a:r>
          </a:p>
        </p:txBody>
      </p:sp>
      <p:sp>
        <p:nvSpPr>
          <p:cNvPr id="13" name="Oval 12"/>
          <p:cNvSpPr/>
          <p:nvPr/>
        </p:nvSpPr>
        <p:spPr>
          <a:xfrm>
            <a:off x="548640" y="5354954"/>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Calculate tolerances, limits and fits.</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A shaft is drawn as 20 mm diameter. Could a real shaft ever be exactly 20.000 mm? What does that mean for making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Drawing types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Engineering Drawings, Dimensions and Tolerancing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Engineers choose a drawing type to suit its purpose and audience.</a:t>
            </a:r>
          </a:p>
          <a:p>
            <a:pPr>
              <a:spcAft>
                <a:spcPts val="1200"/>
              </a:spcAft>
            </a:pPr>
            <a:r>
              <a:rPr sz="2000" b="0">
                <a:solidFill>
                  <a:srgbClr val="202122"/>
                </a:solidFill>
                <a:latin typeface="Calibri"/>
              </a:rPr>
              <a:t>Freehand sketches capture ideas quickly. Isometric drawings show an object in 3D at a fixed angle, easy for anyone to understand. Orthographic projection shows accurate 2D views (front, side and plan) with dimensions, used for manufacture. Exploded views show how parts fit together. CAD models are accurate 3D models that can be tested virtually. Block diagrams, flowcharts, circuit diagrams and schematics show systems.</a:t>
            </a:r>
          </a:p>
          <a:p>
            <a:pPr>
              <a:spcAft>
                <a:spcPts val="1200"/>
              </a:spcAft>
            </a:pPr>
            <a:r>
              <a:rPr sz="2000" b="0">
                <a:solidFill>
                  <a:srgbClr val="202122"/>
                </a:solidFill>
                <a:latin typeface="Calibri"/>
              </a:rPr>
              <a:t>Drawings follow standards such as BS EN 8888 for technical drawings and BS 3939 for graphical symbols.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customer sees an isometric rendering; the machinist works from an orthographic drawing; the assembly team uses an exploded 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Drawing types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Engineering Drawings, Dimensions and Tolerancing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ounded Rectangle 5"/>
          <p:cNvSpPr/>
          <p:nvPr/>
        </p:nvSpPr>
        <p:spPr>
          <a:xfrm>
            <a:off x="548640"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600" b="1" i="0">
                <a:solidFill>
                  <a:srgbClr val="03306E"/>
                </a:solidFill>
                <a:latin typeface="Calibri"/>
              </a:rPr>
              <a:t>Sketches and isometric</a:t>
            </a:r>
          </a:p>
        </p:txBody>
      </p:sp>
      <p:sp>
        <p:nvSpPr>
          <p:cNvPr id="9" name="TextBox 8"/>
          <p:cNvSpPr txBox="1"/>
          <p:nvPr/>
        </p:nvSpPr>
        <p:spPr>
          <a:xfrm>
            <a:off x="777240" y="2468880"/>
            <a:ext cx="3058058" cy="1143000"/>
          </a:xfrm>
          <a:prstGeom prst="rect">
            <a:avLst/>
          </a:prstGeom>
          <a:noFill/>
        </p:spPr>
        <p:txBody>
          <a:bodyPr wrap="square" anchor="t" lIns="0" rIns="0" tIns="0" bIns="0"/>
          <a:lstStyle/>
          <a:p>
            <a:pPr algn="l"/>
            <a:r>
              <a:rPr sz="2000" b="0" i="0">
                <a:solidFill>
                  <a:srgbClr val="202122"/>
                </a:solidFill>
                <a:latin typeface="Calibri"/>
              </a:rPr>
              <a:t>Quick ideas and 3D views for discussion.</a:t>
            </a:r>
          </a:p>
        </p:txBody>
      </p:sp>
      <p:sp>
        <p:nvSpPr>
          <p:cNvPr id="10" name="Rounded Rectangle 9"/>
          <p:cNvSpPr/>
          <p:nvPr/>
        </p:nvSpPr>
        <p:spPr>
          <a:xfrm>
            <a:off x="4338218"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600" b="1" i="0">
                <a:solidFill>
                  <a:srgbClr val="03306E"/>
                </a:solidFill>
                <a:latin typeface="Calibri"/>
              </a:rPr>
              <a:t>Orthographic projection</a:t>
            </a:r>
          </a:p>
        </p:txBody>
      </p:sp>
      <p:sp>
        <p:nvSpPr>
          <p:cNvPr id="13" name="TextBox 12"/>
          <p:cNvSpPr txBox="1"/>
          <p:nvPr/>
        </p:nvSpPr>
        <p:spPr>
          <a:xfrm>
            <a:off x="4566818" y="2468880"/>
            <a:ext cx="3058058" cy="1143000"/>
          </a:xfrm>
          <a:prstGeom prst="rect">
            <a:avLst/>
          </a:prstGeom>
          <a:noFill/>
        </p:spPr>
        <p:txBody>
          <a:bodyPr wrap="square" anchor="t" lIns="0" rIns="0" tIns="0" bIns="0"/>
          <a:lstStyle/>
          <a:p>
            <a:pPr algn="l"/>
            <a:r>
              <a:rPr sz="2000" b="0" i="0">
                <a:solidFill>
                  <a:srgbClr val="202122"/>
                </a:solidFill>
                <a:latin typeface="Calibri"/>
              </a:rPr>
              <a:t>Accurate 2D views for manufacture.</a:t>
            </a:r>
          </a:p>
        </p:txBody>
      </p:sp>
      <p:sp>
        <p:nvSpPr>
          <p:cNvPr id="14" name="Rounded Rectangle 13"/>
          <p:cNvSpPr/>
          <p:nvPr/>
        </p:nvSpPr>
        <p:spPr>
          <a:xfrm>
            <a:off x="8127796"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Exploded views</a:t>
            </a:r>
          </a:p>
        </p:txBody>
      </p:sp>
      <p:sp>
        <p:nvSpPr>
          <p:cNvPr id="17" name="TextBox 16"/>
          <p:cNvSpPr txBox="1"/>
          <p:nvPr/>
        </p:nvSpPr>
        <p:spPr>
          <a:xfrm>
            <a:off x="8356396" y="2468880"/>
            <a:ext cx="3058058" cy="1143000"/>
          </a:xfrm>
          <a:prstGeom prst="rect">
            <a:avLst/>
          </a:prstGeom>
          <a:noFill/>
        </p:spPr>
        <p:txBody>
          <a:bodyPr wrap="square" anchor="t" lIns="0" rIns="0" tIns="0" bIns="0"/>
          <a:lstStyle/>
          <a:p>
            <a:pPr algn="l"/>
            <a:r>
              <a:rPr sz="2000" b="0" i="0">
                <a:solidFill>
                  <a:srgbClr val="202122"/>
                </a:solidFill>
                <a:latin typeface="Calibri"/>
              </a:rPr>
              <a:t>Show how parts assemble.</a:t>
            </a:r>
          </a:p>
        </p:txBody>
      </p:sp>
      <p:sp>
        <p:nvSpPr>
          <p:cNvPr id="18" name="Rounded Rectangle 17"/>
          <p:cNvSpPr/>
          <p:nvPr/>
        </p:nvSpPr>
        <p:spPr>
          <a:xfrm>
            <a:off x="548640"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1371600" y="4224528"/>
            <a:ext cx="2509418" cy="512064"/>
          </a:xfrm>
          <a:prstGeom prst="rect">
            <a:avLst/>
          </a:prstGeom>
          <a:noFill/>
        </p:spPr>
        <p:txBody>
          <a:bodyPr wrap="square" anchor="ctr" lIns="0" rIns="0" tIns="0" bIns="0"/>
          <a:lstStyle/>
          <a:p>
            <a:pPr algn="l"/>
            <a:r>
              <a:rPr sz="1900" b="1" i="0">
                <a:solidFill>
                  <a:srgbClr val="03306E"/>
                </a:solidFill>
                <a:latin typeface="Calibri"/>
              </a:rPr>
              <a:t>CAD models</a:t>
            </a:r>
          </a:p>
        </p:txBody>
      </p:sp>
      <p:sp>
        <p:nvSpPr>
          <p:cNvPr id="21" name="TextBox 20"/>
          <p:cNvSpPr txBox="1"/>
          <p:nvPr/>
        </p:nvSpPr>
        <p:spPr>
          <a:xfrm>
            <a:off x="777240" y="4892040"/>
            <a:ext cx="3058058" cy="1143000"/>
          </a:xfrm>
          <a:prstGeom prst="rect">
            <a:avLst/>
          </a:prstGeom>
          <a:noFill/>
        </p:spPr>
        <p:txBody>
          <a:bodyPr wrap="square" anchor="t" lIns="0" rIns="0" tIns="0" bIns="0"/>
          <a:lstStyle/>
          <a:p>
            <a:pPr algn="l"/>
            <a:r>
              <a:rPr sz="2000" b="0" i="0">
                <a:solidFill>
                  <a:srgbClr val="202122"/>
                </a:solidFill>
                <a:latin typeface="Calibri"/>
              </a:rPr>
              <a:t>Accurate 3D models that can be simulated.</a:t>
            </a:r>
          </a:p>
        </p:txBody>
      </p:sp>
      <p:sp>
        <p:nvSpPr>
          <p:cNvPr id="22" name="Rounded Rectangle 21"/>
          <p:cNvSpPr/>
          <p:nvPr/>
        </p:nvSpPr>
        <p:spPr>
          <a:xfrm>
            <a:off x="4338218"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6818"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5</a:t>
            </a:r>
          </a:p>
        </p:txBody>
      </p:sp>
      <p:sp>
        <p:nvSpPr>
          <p:cNvPr id="24" name="TextBox 23"/>
          <p:cNvSpPr txBox="1"/>
          <p:nvPr/>
        </p:nvSpPr>
        <p:spPr>
          <a:xfrm>
            <a:off x="5161178" y="4224528"/>
            <a:ext cx="2509418" cy="512064"/>
          </a:xfrm>
          <a:prstGeom prst="rect">
            <a:avLst/>
          </a:prstGeom>
          <a:noFill/>
        </p:spPr>
        <p:txBody>
          <a:bodyPr wrap="square" anchor="ctr" lIns="0" rIns="0" tIns="0" bIns="0"/>
          <a:lstStyle/>
          <a:p>
            <a:pPr algn="l"/>
            <a:r>
              <a:rPr sz="1900" b="1" i="0">
                <a:solidFill>
                  <a:srgbClr val="03306E"/>
                </a:solidFill>
                <a:latin typeface="Calibri"/>
              </a:rPr>
              <a:t>Diagrams</a:t>
            </a:r>
          </a:p>
        </p:txBody>
      </p:sp>
      <p:sp>
        <p:nvSpPr>
          <p:cNvPr id="25" name="TextBox 24"/>
          <p:cNvSpPr txBox="1"/>
          <p:nvPr/>
        </p:nvSpPr>
        <p:spPr>
          <a:xfrm>
            <a:off x="4566818" y="4892040"/>
            <a:ext cx="3058058" cy="1143000"/>
          </a:xfrm>
          <a:prstGeom prst="rect">
            <a:avLst/>
          </a:prstGeom>
          <a:noFill/>
        </p:spPr>
        <p:txBody>
          <a:bodyPr wrap="square" anchor="t" lIns="0" rIns="0" tIns="0" bIns="0"/>
          <a:lstStyle/>
          <a:p>
            <a:pPr algn="l"/>
            <a:r>
              <a:rPr sz="2000" b="0" i="0">
                <a:solidFill>
                  <a:srgbClr val="202122"/>
                </a:solidFill>
                <a:latin typeface="Calibri"/>
              </a:rPr>
              <a:t>Block diagrams, flowcharts, circuit diagrams and schematics.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Drawing types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Engineering Drawings, Dimensions and Tolerancing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Which drawing type is used for manufacture?</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does an exploded view show?</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Which standard covers technical drawings?</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Common abbreviations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Engineering Drawings, Dimensions and Tolerancing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graphicFrame>
        <p:nvGraphicFramePr>
          <p:cNvPr id="6" name="Table 5"/>
          <p:cNvGraphicFramePr>
            <a:graphicFrameLocks noGrp="1"/>
          </p:cNvGraphicFramePr>
          <p:nvPr/>
        </p:nvGraphicFramePr>
        <p:xfrm>
          <a:off x="548640" y="1600200"/>
          <a:ext cx="11094412" cy="4526277"/>
        </p:xfrm>
        <a:graphic>
          <a:graphicData uri="http://schemas.openxmlformats.org/drawingml/2006/table">
            <a:tbl>
              <a:tblPr firstRow="1" bandRow="1">
                <a:tableStyleId>{5C22544A-7EE6-4342-B048-85BDC9FD1C3A}</a:tableStyleId>
              </a:tblPr>
              <a:tblGrid>
                <a:gridCol w="2113221"/>
                <a:gridCol w="3433985"/>
                <a:gridCol w="2113221"/>
                <a:gridCol w="3433985"/>
              </a:tblGrid>
              <a:tr h="646611">
                <a:tc>
                  <a:txBody>
                    <a:bodyPr wrap="square"/>
                    <a:lstStyle/>
                    <a:p>
                      <a:r>
                        <a:rPr sz="1600" b="1">
                          <a:solidFill>
                            <a:srgbClr val="FFFFFF"/>
                          </a:solidFill>
                          <a:latin typeface="Calibri"/>
                        </a:rPr>
                        <a:t>Abbreviation</a:t>
                      </a:r>
                    </a:p>
                  </a:txBody>
                  <a:tcPr marL="91440" marR="91440" anchor="ctr">
                    <a:solidFill>
                      <a:srgbClr val="03306E"/>
                    </a:solidFill>
                  </a:tcPr>
                </a:tc>
                <a:tc>
                  <a:txBody>
                    <a:bodyPr wrap="square"/>
                    <a:lstStyle/>
                    <a:p>
                      <a:r>
                        <a:rPr sz="1600" b="1">
                          <a:solidFill>
                            <a:srgbClr val="FFFFFF"/>
                          </a:solidFill>
                          <a:latin typeface="Calibri"/>
                        </a:rPr>
                        <a:t>Meaning</a:t>
                      </a:r>
                    </a:p>
                  </a:txBody>
                  <a:tcPr marL="91440" marR="91440" anchor="ctr">
                    <a:solidFill>
                      <a:srgbClr val="03306E"/>
                    </a:solidFill>
                  </a:tcPr>
                </a:tc>
                <a:tc>
                  <a:txBody>
                    <a:bodyPr wrap="square"/>
                    <a:lstStyle/>
                    <a:p>
                      <a:r>
                        <a:rPr sz="1600" b="1">
                          <a:solidFill>
                            <a:srgbClr val="FFFFFF"/>
                          </a:solidFill>
                          <a:latin typeface="Calibri"/>
                        </a:rPr>
                        <a:t>Abbreviation</a:t>
                      </a:r>
                    </a:p>
                  </a:txBody>
                  <a:tcPr marL="91440" marR="91440" anchor="ctr">
                    <a:solidFill>
                      <a:srgbClr val="03306E"/>
                    </a:solidFill>
                  </a:tcPr>
                </a:tc>
                <a:tc>
                  <a:txBody>
                    <a:bodyPr wrap="square"/>
                    <a:lstStyle/>
                    <a:p>
                      <a:r>
                        <a:rPr sz="1600" b="1">
                          <a:solidFill>
                            <a:srgbClr val="FFFFFF"/>
                          </a:solidFill>
                          <a:latin typeface="Calibri"/>
                        </a:rPr>
                        <a:t>Meaning</a:t>
                      </a:r>
                    </a:p>
                  </a:txBody>
                  <a:tcPr marL="91440" marR="91440" anchor="ctr">
                    <a:solidFill>
                      <a:srgbClr val="03306E"/>
                    </a:solidFill>
                  </a:tcPr>
                </a:tc>
              </a:tr>
              <a:tr h="646611">
                <a:tc>
                  <a:txBody>
                    <a:bodyPr wrap="square"/>
                    <a:lstStyle/>
                    <a:p>
                      <a:r>
                        <a:rPr sz="1600" b="1">
                          <a:solidFill>
                            <a:srgbClr val="03306E"/>
                          </a:solidFill>
                          <a:latin typeface="Calibri"/>
                        </a:rPr>
                        <a:t>AF</a:t>
                      </a:r>
                    </a:p>
                  </a:txBody>
                  <a:tcPr marL="91440" marR="91440" anchor="ctr">
                    <a:solidFill>
                      <a:srgbClr val="FFFFFF"/>
                    </a:solidFill>
                  </a:tcPr>
                </a:tc>
                <a:tc>
                  <a:txBody>
                    <a:bodyPr wrap="square"/>
                    <a:lstStyle/>
                    <a:p>
                      <a:r>
                        <a:rPr sz="1600" b="0">
                          <a:solidFill>
                            <a:srgbClr val="202122"/>
                          </a:solidFill>
                          <a:latin typeface="Calibri"/>
                        </a:rPr>
                        <a:t>Across flats</a:t>
                      </a:r>
                    </a:p>
                  </a:txBody>
                  <a:tcPr marL="91440" marR="91440" anchor="ctr">
                    <a:solidFill>
                      <a:srgbClr val="FFFFFF"/>
                    </a:solidFill>
                  </a:tcPr>
                </a:tc>
                <a:tc>
                  <a:txBody>
                    <a:bodyPr wrap="square"/>
                    <a:lstStyle/>
                    <a:p>
                      <a:r>
                        <a:rPr sz="1600" b="0">
                          <a:solidFill>
                            <a:srgbClr val="202122"/>
                          </a:solidFill>
                          <a:latin typeface="Calibri"/>
                        </a:rPr>
                        <a:t>CSK</a:t>
                      </a:r>
                    </a:p>
                  </a:txBody>
                  <a:tcPr marL="91440" marR="91440" anchor="ctr">
                    <a:solidFill>
                      <a:srgbClr val="FFFFFF"/>
                    </a:solidFill>
                  </a:tcPr>
                </a:tc>
                <a:tc>
                  <a:txBody>
                    <a:bodyPr wrap="square"/>
                    <a:lstStyle/>
                    <a:p>
                      <a:r>
                        <a:rPr sz="1600" b="0">
                          <a:solidFill>
                            <a:srgbClr val="202122"/>
                          </a:solidFill>
                          <a:latin typeface="Calibri"/>
                        </a:rPr>
                        <a:t>Countersink</a:t>
                      </a:r>
                    </a:p>
                  </a:txBody>
                  <a:tcPr marL="91440" marR="91440" anchor="ctr">
                    <a:solidFill>
                      <a:srgbClr val="FFFFFF"/>
                    </a:solidFill>
                  </a:tcPr>
                </a:tc>
              </a:tr>
              <a:tr h="646611">
                <a:tc>
                  <a:txBody>
                    <a:bodyPr wrap="square"/>
                    <a:lstStyle/>
                    <a:p>
                      <a:r>
                        <a:rPr sz="1600" b="1">
                          <a:solidFill>
                            <a:srgbClr val="03306E"/>
                          </a:solidFill>
                          <a:latin typeface="Calibri"/>
                        </a:rPr>
                        <a:t>CL</a:t>
                      </a:r>
                    </a:p>
                  </a:txBody>
                  <a:tcPr marL="91440" marR="91440" anchor="ctr">
                    <a:solidFill>
                      <a:srgbClr val="EAF3FF"/>
                    </a:solidFill>
                  </a:tcPr>
                </a:tc>
                <a:tc>
                  <a:txBody>
                    <a:bodyPr wrap="square"/>
                    <a:lstStyle/>
                    <a:p>
                      <a:r>
                        <a:rPr sz="1600" b="0">
                          <a:solidFill>
                            <a:srgbClr val="202122"/>
                          </a:solidFill>
                          <a:latin typeface="Calibri"/>
                        </a:rPr>
                        <a:t>Centre line</a:t>
                      </a:r>
                    </a:p>
                  </a:txBody>
                  <a:tcPr marL="91440" marR="91440" anchor="ctr">
                    <a:solidFill>
                      <a:srgbClr val="EAF3FF"/>
                    </a:solidFill>
                  </a:tcPr>
                </a:tc>
                <a:tc>
                  <a:txBody>
                    <a:bodyPr wrap="square"/>
                    <a:lstStyle/>
                    <a:p>
                      <a:r>
                        <a:rPr sz="1600" b="0">
                          <a:solidFill>
                            <a:srgbClr val="202122"/>
                          </a:solidFill>
                          <a:latin typeface="Calibri"/>
                        </a:rPr>
                        <a:t>HEX</a:t>
                      </a:r>
                    </a:p>
                  </a:txBody>
                  <a:tcPr marL="91440" marR="91440" anchor="ctr">
                    <a:solidFill>
                      <a:srgbClr val="EAF3FF"/>
                    </a:solidFill>
                  </a:tcPr>
                </a:tc>
                <a:tc>
                  <a:txBody>
                    <a:bodyPr wrap="square"/>
                    <a:lstStyle/>
                    <a:p>
                      <a:r>
                        <a:rPr sz="1600" b="0">
                          <a:solidFill>
                            <a:srgbClr val="202122"/>
                          </a:solidFill>
                          <a:latin typeface="Calibri"/>
                        </a:rPr>
                        <a:t>Hexagon</a:t>
                      </a:r>
                    </a:p>
                  </a:txBody>
                  <a:tcPr marL="91440" marR="91440" anchor="ctr">
                    <a:solidFill>
                      <a:srgbClr val="EAF3FF"/>
                    </a:solidFill>
                  </a:tcPr>
                </a:tc>
              </a:tr>
              <a:tr h="646611">
                <a:tc>
                  <a:txBody>
                    <a:bodyPr wrap="square"/>
                    <a:lstStyle/>
                    <a:p>
                      <a:r>
                        <a:rPr sz="1600" b="1">
                          <a:solidFill>
                            <a:srgbClr val="03306E"/>
                          </a:solidFill>
                          <a:latin typeface="Calibri"/>
                        </a:rPr>
                        <a:t>DIA</a:t>
                      </a:r>
                    </a:p>
                  </a:txBody>
                  <a:tcPr marL="91440" marR="91440" anchor="ctr">
                    <a:solidFill>
                      <a:srgbClr val="FFFFFF"/>
                    </a:solidFill>
                  </a:tcPr>
                </a:tc>
                <a:tc>
                  <a:txBody>
                    <a:bodyPr wrap="square"/>
                    <a:lstStyle/>
                    <a:p>
                      <a:r>
                        <a:rPr sz="1600" b="0">
                          <a:solidFill>
                            <a:srgbClr val="202122"/>
                          </a:solidFill>
                          <a:latin typeface="Calibri"/>
                        </a:rPr>
                        <a:t>Diameter</a:t>
                      </a:r>
                    </a:p>
                  </a:txBody>
                  <a:tcPr marL="91440" marR="91440" anchor="ctr">
                    <a:solidFill>
                      <a:srgbClr val="FFFFFF"/>
                    </a:solidFill>
                  </a:tcPr>
                </a:tc>
                <a:tc>
                  <a:txBody>
                    <a:bodyPr wrap="square"/>
                    <a:lstStyle/>
                    <a:p>
                      <a:r>
                        <a:rPr sz="1600" b="0">
                          <a:solidFill>
                            <a:srgbClr val="202122"/>
                          </a:solidFill>
                          <a:latin typeface="Calibri"/>
                        </a:rPr>
                        <a:t>PCD</a:t>
                      </a:r>
                    </a:p>
                  </a:txBody>
                  <a:tcPr marL="91440" marR="91440" anchor="ctr">
                    <a:solidFill>
                      <a:srgbClr val="FFFFFF"/>
                    </a:solidFill>
                  </a:tcPr>
                </a:tc>
                <a:tc>
                  <a:txBody>
                    <a:bodyPr wrap="square"/>
                    <a:lstStyle/>
                    <a:p>
                      <a:r>
                        <a:rPr sz="1600" b="0">
                          <a:solidFill>
                            <a:srgbClr val="202122"/>
                          </a:solidFill>
                          <a:latin typeface="Calibri"/>
                        </a:rPr>
                        <a:t>Pitch circle diameter</a:t>
                      </a:r>
                    </a:p>
                  </a:txBody>
                  <a:tcPr marL="91440" marR="91440" anchor="ctr">
                    <a:solidFill>
                      <a:srgbClr val="FFFFFF"/>
                    </a:solidFill>
                  </a:tcPr>
                </a:tc>
              </a:tr>
              <a:tr h="646611">
                <a:tc>
                  <a:txBody>
                    <a:bodyPr wrap="square"/>
                    <a:lstStyle/>
                    <a:p>
                      <a:r>
                        <a:rPr sz="1600" b="1">
                          <a:solidFill>
                            <a:srgbClr val="03306E"/>
                          </a:solidFill>
                          <a:latin typeface="Calibri"/>
                        </a:rPr>
                        <a:t>DWG</a:t>
                      </a:r>
                    </a:p>
                  </a:txBody>
                  <a:tcPr marL="91440" marR="91440" anchor="ctr">
                    <a:solidFill>
                      <a:srgbClr val="EAF3FF"/>
                    </a:solidFill>
                  </a:tcPr>
                </a:tc>
                <a:tc>
                  <a:txBody>
                    <a:bodyPr wrap="square"/>
                    <a:lstStyle/>
                    <a:p>
                      <a:r>
                        <a:rPr sz="1600" b="0">
                          <a:solidFill>
                            <a:srgbClr val="202122"/>
                          </a:solidFill>
                          <a:latin typeface="Calibri"/>
                        </a:rPr>
                        <a:t>Drawing</a:t>
                      </a:r>
                    </a:p>
                  </a:txBody>
                  <a:tcPr marL="91440" marR="91440" anchor="ctr">
                    <a:solidFill>
                      <a:srgbClr val="EAF3FF"/>
                    </a:solidFill>
                  </a:tcPr>
                </a:tc>
                <a:tc>
                  <a:txBody>
                    <a:bodyPr wrap="square"/>
                    <a:lstStyle/>
                    <a:p>
                      <a:r>
                        <a:rPr sz="1600" b="0">
                          <a:solidFill>
                            <a:srgbClr val="202122"/>
                          </a:solidFill>
                          <a:latin typeface="Calibri"/>
                        </a:rPr>
                        <a:t>THD</a:t>
                      </a:r>
                    </a:p>
                  </a:txBody>
                  <a:tcPr marL="91440" marR="91440" anchor="ctr">
                    <a:solidFill>
                      <a:srgbClr val="EAF3FF"/>
                    </a:solidFill>
                  </a:tcPr>
                </a:tc>
                <a:tc>
                  <a:txBody>
                    <a:bodyPr wrap="square"/>
                    <a:lstStyle/>
                    <a:p>
                      <a:r>
                        <a:rPr sz="1600" b="0">
                          <a:solidFill>
                            <a:srgbClr val="202122"/>
                          </a:solidFill>
                          <a:latin typeface="Calibri"/>
                        </a:rPr>
                        <a:t>Thread</a:t>
                      </a:r>
                    </a:p>
                  </a:txBody>
                  <a:tcPr marL="91440" marR="91440" anchor="ctr">
                    <a:solidFill>
                      <a:srgbClr val="EAF3FF"/>
                    </a:solidFill>
                  </a:tcPr>
                </a:tc>
              </a:tr>
              <a:tr h="646611">
                <a:tc>
                  <a:txBody>
                    <a:bodyPr wrap="square"/>
                    <a:lstStyle/>
                    <a:p>
                      <a:r>
                        <a:rPr sz="1600" b="1">
                          <a:solidFill>
                            <a:srgbClr val="03306E"/>
                          </a:solidFill>
                          <a:latin typeface="Calibri"/>
                        </a:rPr>
                        <a:t>MTL</a:t>
                      </a:r>
                    </a:p>
                  </a:txBody>
                  <a:tcPr marL="91440" marR="91440" anchor="ctr">
                    <a:solidFill>
                      <a:srgbClr val="FFFFFF"/>
                    </a:solidFill>
                  </a:tcPr>
                </a:tc>
                <a:tc>
                  <a:txBody>
                    <a:bodyPr wrap="square"/>
                    <a:lstStyle/>
                    <a:p>
                      <a:r>
                        <a:rPr sz="1600" b="0">
                          <a:solidFill>
                            <a:srgbClr val="202122"/>
                          </a:solidFill>
                          <a:latin typeface="Calibri"/>
                        </a:rPr>
                        <a:t>Material</a:t>
                      </a:r>
                    </a:p>
                  </a:txBody>
                  <a:tcPr marL="91440" marR="91440" anchor="ctr">
                    <a:solidFill>
                      <a:srgbClr val="FFFFFF"/>
                    </a:solidFill>
                  </a:tcPr>
                </a:tc>
                <a:tc>
                  <a:txBody>
                    <a:bodyPr wrap="square"/>
                    <a:lstStyle/>
                    <a:p>
                      <a:r>
                        <a:rPr sz="1600" b="0">
                          <a:solidFill>
                            <a:srgbClr val="202122"/>
                          </a:solidFill>
                          <a:latin typeface="Calibri"/>
                        </a:rPr>
                        <a:t>UCUT</a:t>
                      </a:r>
                    </a:p>
                  </a:txBody>
                  <a:tcPr marL="91440" marR="91440" anchor="ctr">
                    <a:solidFill>
                      <a:srgbClr val="FFFFFF"/>
                    </a:solidFill>
                  </a:tcPr>
                </a:tc>
                <a:tc>
                  <a:txBody>
                    <a:bodyPr wrap="square"/>
                    <a:lstStyle/>
                    <a:p>
                      <a:r>
                        <a:rPr sz="1600" b="0">
                          <a:solidFill>
                            <a:srgbClr val="202122"/>
                          </a:solidFill>
                          <a:latin typeface="Calibri"/>
                        </a:rPr>
                        <a:t>Undercut</a:t>
                      </a:r>
                    </a:p>
                  </a:txBody>
                  <a:tcPr marL="91440" marR="91440" anchor="ctr">
                    <a:solidFill>
                      <a:srgbClr val="FFFFFF"/>
                    </a:solidFill>
                  </a:tcPr>
                </a:tc>
              </a:tr>
              <a:tr h="646611">
                <a:tc>
                  <a:txBody>
                    <a:bodyPr wrap="square"/>
                    <a:lstStyle/>
                    <a:p>
                      <a:r>
                        <a:rPr sz="1600" b="1">
                          <a:solidFill>
                            <a:srgbClr val="03306E"/>
                          </a:solidFill>
                          <a:latin typeface="Calibri"/>
                        </a:rPr>
                        <a:t>CHAM</a:t>
                      </a:r>
                    </a:p>
                  </a:txBody>
                  <a:tcPr marL="91440" marR="91440" anchor="ctr">
                    <a:solidFill>
                      <a:srgbClr val="EAF3FF"/>
                    </a:solidFill>
                  </a:tcPr>
                </a:tc>
                <a:tc>
                  <a:txBody>
                    <a:bodyPr wrap="square"/>
                    <a:lstStyle/>
                    <a:p>
                      <a:r>
                        <a:rPr sz="1600" b="0">
                          <a:solidFill>
                            <a:srgbClr val="202122"/>
                          </a:solidFill>
                          <a:latin typeface="Calibri"/>
                        </a:rPr>
                        <a:t>Chamfer</a:t>
                      </a:r>
                    </a:p>
                  </a:txBody>
                  <a:tcPr marL="91440" marR="91440" anchor="ctr">
                    <a:solidFill>
                      <a:srgbClr val="EAF3FF"/>
                    </a:solidFill>
                  </a:tcPr>
                </a:tc>
                <a:tc>
                  <a:txBody>
                    <a:bodyPr wrap="square"/>
                    <a:lstStyle/>
                    <a:p>
                      <a:r>
                        <a:rPr sz="1600" b="0">
                          <a:solidFill>
                            <a:srgbClr val="202122"/>
                          </a:solidFill>
                          <a:latin typeface="Calibri"/>
                        </a:rPr>
                        <a:t>SQ / R</a:t>
                      </a:r>
                    </a:p>
                  </a:txBody>
                  <a:tcPr marL="91440" marR="91440" anchor="ctr">
                    <a:solidFill>
                      <a:srgbClr val="EAF3FF"/>
                    </a:solidFill>
                  </a:tcPr>
                </a:tc>
                <a:tc>
                  <a:txBody>
                    <a:bodyPr wrap="square"/>
                    <a:lstStyle/>
                    <a:p>
                      <a:r>
                        <a:rPr sz="1600" b="0">
                          <a:solidFill>
                            <a:srgbClr val="202122"/>
                          </a:solidFill>
                          <a:latin typeface="Calibri"/>
                        </a:rPr>
                        <a:t>Square / radius</a:t>
                      </a:r>
                    </a:p>
                  </a:txBody>
                  <a:tcPr marL="91440" marR="91440" anchor="ctr">
                    <a:solidFill>
                      <a:srgbClr val="EAF3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Tolerances, limits and fits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Engineering Drawings, Dimensions and Tolerancing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No part can be made to an exact size, so drawings state how much variation is acceptable.</a:t>
            </a:r>
          </a:p>
          <a:p>
            <a:pPr>
              <a:spcAft>
                <a:spcPts val="1200"/>
              </a:spcAft>
            </a:pPr>
            <a:r>
              <a:rPr sz="2000" b="0">
                <a:solidFill>
                  <a:srgbClr val="202122"/>
                </a:solidFill>
                <a:latin typeface="Calibri"/>
              </a:rPr>
              <a:t>The tolerance is the total allowed variation. The limits are the largest and smallest acceptable sizes. A dimension of 20 mm plus or minus 0.1 mm has limits of 19.9 mm and 20.1 mm and a tolerance of 0.2 mm.</a:t>
            </a:r>
          </a:p>
          <a:p>
            <a:pPr>
              <a:spcAft>
                <a:spcPts val="1200"/>
              </a:spcAft>
            </a:pPr>
            <a:r>
              <a:rPr sz="2000" b="0">
                <a:solidFill>
                  <a:srgbClr val="202122"/>
                </a:solidFill>
                <a:latin typeface="Calibri"/>
              </a:rPr>
              <a:t>Fits describe how two parts go together. A clearance fit always leaves a gap, so parts move freely. An interference fit is always tight, so parts must be pressed together. A transition fit could be either.</a:t>
            </a:r>
          </a:p>
          <a:p>
            <a:pPr>
              <a:spcAft>
                <a:spcPts val="1200"/>
              </a:spcAft>
            </a:pPr>
            <a:r>
              <a:rPr sz="2000" b="0">
                <a:solidFill>
                  <a:srgbClr val="202122"/>
                </a:solidFill>
                <a:latin typeface="Calibri"/>
              </a:rPr>
              <a:t>Tighter tolerances cost more, so specify only what the function needs.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shaft is 25.00 to 25.02 mm and its hole 25.05 to 25.08 mm. The smallest gap is 0.03 mm, so it's a clearance fit and the shaft always turns freely.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Tolerances, limits and fits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Engineering Drawings, Dimensions and Tolerancing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TextBox 5"/>
          <p:cNvSpPr txBox="1"/>
          <p:nvPr/>
        </p:nvSpPr>
        <p:spPr>
          <a:xfrm>
            <a:off x="548640" y="1600200"/>
            <a:ext cx="6675120" cy="4572000"/>
          </a:xfrm>
          <a:prstGeom prst="rect">
            <a:avLst/>
          </a:prstGeom>
          <a:noFill/>
        </p:spPr>
        <p:txBody>
          <a:bodyPr wrap="square" lIns="0" rIns="0" tIns="0" bIns="0">
            <a:spAutoFit/>
          </a:bodyPr>
          <a:lstStyle/>
          <a:p>
            <a:pPr marL="274320" indent="-274320">
              <a:spcAft>
                <a:spcPts val="1080"/>
              </a:spcAft>
              <a:buClr>
                <a:srgbClr val="0645AD"/>
              </a:buClr>
              <a:buFont typeface="Arial"/>
              <a:buChar char="•"/>
            </a:pPr>
            <a:r>
              <a:rPr sz="2400" b="1">
                <a:solidFill>
                  <a:srgbClr val="202122"/>
                </a:solidFill>
                <a:latin typeface="Calibri"/>
              </a:rPr>
              <a:t>Tolerance:</a:t>
            </a:r>
            <a:r>
              <a:rPr sz="2400" b="0">
                <a:solidFill>
                  <a:srgbClr val="202122"/>
                </a:solidFill>
                <a:latin typeface="Calibri"/>
              </a:rPr>
              <a:t> the total allowed variation in a dimension.</a:t>
            </a:r>
          </a:p>
          <a:p>
            <a:pPr marL="274320" indent="-274320">
              <a:spcAft>
                <a:spcPts val="1080"/>
              </a:spcAft>
              <a:buClr>
                <a:srgbClr val="0645AD"/>
              </a:buClr>
              <a:buFont typeface="Arial"/>
              <a:buChar char="•"/>
            </a:pPr>
            <a:r>
              <a:rPr sz="2400" b="1">
                <a:solidFill>
                  <a:srgbClr val="202122"/>
                </a:solidFill>
                <a:latin typeface="Calibri"/>
              </a:rPr>
              <a:t>Limits:</a:t>
            </a:r>
            <a:r>
              <a:rPr sz="2400" b="0">
                <a:solidFill>
                  <a:srgbClr val="202122"/>
                </a:solidFill>
                <a:latin typeface="Calibri"/>
              </a:rPr>
              <a:t> the largest and smallest acceptable sizes.</a:t>
            </a:r>
          </a:p>
          <a:p>
            <a:pPr marL="274320" indent="-274320">
              <a:spcAft>
                <a:spcPts val="1080"/>
              </a:spcAft>
              <a:buClr>
                <a:srgbClr val="0645AD"/>
              </a:buClr>
              <a:buFont typeface="Arial"/>
              <a:buChar char="•"/>
            </a:pPr>
            <a:r>
              <a:rPr sz="2400" b="1">
                <a:solidFill>
                  <a:srgbClr val="202122"/>
                </a:solidFill>
                <a:latin typeface="Calibri"/>
              </a:rPr>
              <a:t>Example:</a:t>
            </a:r>
            <a:r>
              <a:rPr sz="2400" b="0">
                <a:solidFill>
                  <a:srgbClr val="202122"/>
                </a:solidFill>
                <a:latin typeface="Calibri"/>
              </a:rPr>
              <a:t> 20 mm plus or minus 0.1 mm gives limits of 19.9 mm and 20.1 mm, a tolerance of 0.2 mm.</a:t>
            </a:r>
          </a:p>
          <a:p>
            <a:pPr marL="274320" indent="-274320">
              <a:spcAft>
                <a:spcPts val="1080"/>
              </a:spcAft>
              <a:buClr>
                <a:srgbClr val="0645AD"/>
              </a:buClr>
              <a:buFont typeface="Arial"/>
              <a:buChar char="•"/>
            </a:pPr>
            <a:r>
              <a:rPr sz="2400" b="1">
                <a:solidFill>
                  <a:srgbClr val="202122"/>
                </a:solidFill>
                <a:latin typeface="Calibri"/>
              </a:rPr>
              <a:t>Fits:</a:t>
            </a:r>
            <a:r>
              <a:rPr sz="2400" b="0">
                <a:solidFill>
                  <a:srgbClr val="202122"/>
                </a:solidFill>
                <a:latin typeface="Calibri"/>
              </a:rPr>
              <a:t> clearance (always a gap), interference (always tight), transition (either).</a:t>
            </a:r>
          </a:p>
        </p:txBody>
      </p:sp>
      <p:sp>
        <p:nvSpPr>
          <p:cNvPr id="7" name="Rounded Rectangle 6"/>
          <p:cNvSpPr/>
          <p:nvPr/>
        </p:nvSpPr>
        <p:spPr>
          <a:xfrm>
            <a:off x="7772400" y="1600200"/>
            <a:ext cx="3867912" cy="443484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74519"/>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a:t>
            </a:r>
          </a:p>
        </p:txBody>
      </p:sp>
      <p:sp>
        <p:nvSpPr>
          <p:cNvPr id="9" name="TextBox 8"/>
          <p:cNvSpPr txBox="1"/>
          <p:nvPr/>
        </p:nvSpPr>
        <p:spPr>
          <a:xfrm>
            <a:off x="8046720" y="2606040"/>
            <a:ext cx="3291840" cy="365760"/>
          </a:xfrm>
          <a:prstGeom prst="rect">
            <a:avLst/>
          </a:prstGeom>
          <a:noFill/>
        </p:spPr>
        <p:txBody>
          <a:bodyPr wrap="square" anchor="t" lIns="0" rIns="0" tIns="0" bIns="0"/>
          <a:lstStyle/>
          <a:p>
            <a:pPr algn="l"/>
            <a:r>
              <a:rPr sz="1300" b="1" i="0">
                <a:solidFill>
                  <a:srgbClr val="A9C8F0"/>
                </a:solidFill>
                <a:latin typeface="Calibri"/>
              </a:rPr>
              <a:t>KEY IDEA</a:t>
            </a:r>
          </a:p>
        </p:txBody>
      </p:sp>
      <p:sp>
        <p:nvSpPr>
          <p:cNvPr id="10" name="TextBox 9"/>
          <p:cNvSpPr txBox="1"/>
          <p:nvPr/>
        </p:nvSpPr>
        <p:spPr>
          <a:xfrm>
            <a:off x="8046720" y="3017520"/>
            <a:ext cx="3291840" cy="2926080"/>
          </a:xfrm>
          <a:prstGeom prst="rect">
            <a:avLst/>
          </a:prstGeom>
          <a:noFill/>
        </p:spPr>
        <p:txBody>
          <a:bodyPr wrap="square" anchor="t" lIns="0" rIns="0" tIns="0" bIns="0"/>
          <a:lstStyle/>
          <a:p>
            <a:pPr algn="l"/>
            <a:r>
              <a:rPr sz="2200" b="0" i="0">
                <a:solidFill>
                  <a:srgbClr val="FFFFFF"/>
                </a:solidFill>
                <a:latin typeface="Cambria"/>
              </a:rPr>
              <a:t>Tighter tolerances cost more to make. Only specify what the function really needs.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Tolerances, limits and fits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Engineering Drawings, Dimensions and Tolerancing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A dimension is 50 mm plus or minus 0.2 mm. What are the limits?</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Which fit always needs pressing together?</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not make every tolerance tight?</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Geometric tolerancing (GD&amp;T)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Engineering Drawings, Dimensions and Tolerancing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1">
                <a:solidFill>
                  <a:srgbClr val="202122"/>
                </a:solidFill>
                <a:latin typeface="Calibri"/>
              </a:rPr>
              <a:t>Size tolerances aren't always enough:</a:t>
            </a:r>
            <a:r>
              <a:rPr sz="2100" b="0">
                <a:solidFill>
                  <a:srgbClr val="202122"/>
                </a:solidFill>
                <a:latin typeface="Calibri"/>
              </a:rPr>
              <a:t> a hole can be the right size but in the wrong place or at the wrong angle. Geometric dimensioning and tolerancing (GD&amp;T) controls form, orientation and position.</a:t>
            </a:r>
          </a:p>
          <a:p>
            <a:pPr>
              <a:spcAft>
                <a:spcPts val="1260"/>
              </a:spcAft>
            </a:pPr>
            <a:r>
              <a:rPr sz="2100" b="0">
                <a:solidFill>
                  <a:srgbClr val="202122"/>
                </a:solidFill>
                <a:latin typeface="Calibri"/>
              </a:rPr>
              <a:t>A datum is a reference surface or feature everything is measured from. Parallelism keeps a surface parallel to a datum. Perpendicularity keeps it at 90 degrees. Concentricity keeps circular features on the same centre. Straightness keeps a line or edge straight.</a:t>
            </a:r>
          </a:p>
          <a:p>
            <a:pPr>
              <a:spcAft>
                <a:spcPts val="1260"/>
              </a:spcAft>
            </a:pPr>
            <a:r>
              <a:rPr sz="2100" b="0">
                <a:solidFill>
                  <a:srgbClr val="202122"/>
                </a:solidFill>
                <a:latin typeface="Calibri"/>
              </a:rPr>
              <a:t>Each has a standard symbol in a feature control frame on the drawing.</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bearing bore must be concentric with the shaft centre line within 0.02 mm, or the shaft will wobble and wear the bearing.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Geometric tolerancing (GD&amp;T)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Engineering Drawings, Dimensions and Tolerancing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Rounded Rectangle 5"/>
          <p:cNvSpPr/>
          <p:nvPr/>
        </p:nvSpPr>
        <p:spPr>
          <a:xfrm>
            <a:off x="548640"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900" b="1" i="0">
                <a:solidFill>
                  <a:srgbClr val="03306E"/>
                </a:solidFill>
                <a:latin typeface="Calibri"/>
              </a:rPr>
              <a:t>Datum</a:t>
            </a:r>
          </a:p>
        </p:txBody>
      </p:sp>
      <p:sp>
        <p:nvSpPr>
          <p:cNvPr id="9" name="TextBox 8"/>
          <p:cNvSpPr txBox="1"/>
          <p:nvPr/>
        </p:nvSpPr>
        <p:spPr>
          <a:xfrm>
            <a:off x="777240" y="2468880"/>
            <a:ext cx="3058058" cy="1143000"/>
          </a:xfrm>
          <a:prstGeom prst="rect">
            <a:avLst/>
          </a:prstGeom>
          <a:noFill/>
        </p:spPr>
        <p:txBody>
          <a:bodyPr wrap="square" anchor="t" lIns="0" rIns="0" tIns="0" bIns="0"/>
          <a:lstStyle/>
          <a:p>
            <a:pPr algn="l"/>
            <a:r>
              <a:rPr sz="2000" b="0" i="0">
                <a:solidFill>
                  <a:srgbClr val="202122"/>
                </a:solidFill>
                <a:latin typeface="Calibri"/>
              </a:rPr>
              <a:t>A reference surface or feature to measure from.</a:t>
            </a:r>
          </a:p>
        </p:txBody>
      </p:sp>
      <p:sp>
        <p:nvSpPr>
          <p:cNvPr id="10" name="Rounded Rectangle 9"/>
          <p:cNvSpPr/>
          <p:nvPr/>
        </p:nvSpPr>
        <p:spPr>
          <a:xfrm>
            <a:off x="4338218"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900" b="1" i="0">
                <a:solidFill>
                  <a:srgbClr val="03306E"/>
                </a:solidFill>
                <a:latin typeface="Calibri"/>
              </a:rPr>
              <a:t>Parallelism</a:t>
            </a:r>
          </a:p>
        </p:txBody>
      </p:sp>
      <p:sp>
        <p:nvSpPr>
          <p:cNvPr id="13" name="TextBox 12"/>
          <p:cNvSpPr txBox="1"/>
          <p:nvPr/>
        </p:nvSpPr>
        <p:spPr>
          <a:xfrm>
            <a:off x="4566818" y="2468880"/>
            <a:ext cx="3058058" cy="1143000"/>
          </a:xfrm>
          <a:prstGeom prst="rect">
            <a:avLst/>
          </a:prstGeom>
          <a:noFill/>
        </p:spPr>
        <p:txBody>
          <a:bodyPr wrap="square" anchor="t" lIns="0" rIns="0" tIns="0" bIns="0"/>
          <a:lstStyle/>
          <a:p>
            <a:pPr algn="l"/>
            <a:r>
              <a:rPr sz="2000" b="0" i="0">
                <a:solidFill>
                  <a:srgbClr val="202122"/>
                </a:solidFill>
                <a:latin typeface="Calibri"/>
              </a:rPr>
              <a:t>A surface stays parallel to a datum.</a:t>
            </a:r>
          </a:p>
        </p:txBody>
      </p:sp>
      <p:sp>
        <p:nvSpPr>
          <p:cNvPr id="14" name="Rounded Rectangle 13"/>
          <p:cNvSpPr/>
          <p:nvPr/>
        </p:nvSpPr>
        <p:spPr>
          <a:xfrm>
            <a:off x="8127796"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Perpendicularity</a:t>
            </a:r>
          </a:p>
        </p:txBody>
      </p:sp>
      <p:sp>
        <p:nvSpPr>
          <p:cNvPr id="17" name="TextBox 16"/>
          <p:cNvSpPr txBox="1"/>
          <p:nvPr/>
        </p:nvSpPr>
        <p:spPr>
          <a:xfrm>
            <a:off x="8356396" y="2468880"/>
            <a:ext cx="3058058" cy="1143000"/>
          </a:xfrm>
          <a:prstGeom prst="rect">
            <a:avLst/>
          </a:prstGeom>
          <a:noFill/>
        </p:spPr>
        <p:txBody>
          <a:bodyPr wrap="square" anchor="t" lIns="0" rIns="0" tIns="0" bIns="0"/>
          <a:lstStyle/>
          <a:p>
            <a:pPr algn="l"/>
            <a:r>
              <a:rPr sz="2000" b="0" i="0">
                <a:solidFill>
                  <a:srgbClr val="202122"/>
                </a:solidFill>
                <a:latin typeface="Calibri"/>
              </a:rPr>
              <a:t>A surface stays at 90 degrees to a datum.</a:t>
            </a:r>
          </a:p>
        </p:txBody>
      </p:sp>
      <p:sp>
        <p:nvSpPr>
          <p:cNvPr id="18" name="Rounded Rectangle 17"/>
          <p:cNvSpPr/>
          <p:nvPr/>
        </p:nvSpPr>
        <p:spPr>
          <a:xfrm>
            <a:off x="548640"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1371600" y="4224528"/>
            <a:ext cx="2509418" cy="512064"/>
          </a:xfrm>
          <a:prstGeom prst="rect">
            <a:avLst/>
          </a:prstGeom>
          <a:noFill/>
        </p:spPr>
        <p:txBody>
          <a:bodyPr wrap="square" anchor="ctr" lIns="0" rIns="0" tIns="0" bIns="0"/>
          <a:lstStyle/>
          <a:p>
            <a:pPr algn="l"/>
            <a:r>
              <a:rPr sz="1900" b="1" i="0">
                <a:solidFill>
                  <a:srgbClr val="03306E"/>
                </a:solidFill>
                <a:latin typeface="Calibri"/>
              </a:rPr>
              <a:t>Concentricity</a:t>
            </a:r>
          </a:p>
        </p:txBody>
      </p:sp>
      <p:sp>
        <p:nvSpPr>
          <p:cNvPr id="21" name="TextBox 20"/>
          <p:cNvSpPr txBox="1"/>
          <p:nvPr/>
        </p:nvSpPr>
        <p:spPr>
          <a:xfrm>
            <a:off x="777240" y="4892040"/>
            <a:ext cx="3058058" cy="1143000"/>
          </a:xfrm>
          <a:prstGeom prst="rect">
            <a:avLst/>
          </a:prstGeom>
          <a:noFill/>
        </p:spPr>
        <p:txBody>
          <a:bodyPr wrap="square" anchor="t" lIns="0" rIns="0" tIns="0" bIns="0"/>
          <a:lstStyle/>
          <a:p>
            <a:pPr algn="l"/>
            <a:r>
              <a:rPr sz="2000" b="0" i="0">
                <a:solidFill>
                  <a:srgbClr val="202122"/>
                </a:solidFill>
                <a:latin typeface="Calibri"/>
              </a:rPr>
              <a:t>Circular features share a centre.</a:t>
            </a:r>
          </a:p>
        </p:txBody>
      </p:sp>
      <p:sp>
        <p:nvSpPr>
          <p:cNvPr id="22" name="Rounded Rectangle 21"/>
          <p:cNvSpPr/>
          <p:nvPr/>
        </p:nvSpPr>
        <p:spPr>
          <a:xfrm>
            <a:off x="4338218"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6818"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5</a:t>
            </a:r>
          </a:p>
        </p:txBody>
      </p:sp>
      <p:sp>
        <p:nvSpPr>
          <p:cNvPr id="24" name="TextBox 23"/>
          <p:cNvSpPr txBox="1"/>
          <p:nvPr/>
        </p:nvSpPr>
        <p:spPr>
          <a:xfrm>
            <a:off x="5161178" y="4224528"/>
            <a:ext cx="2509418" cy="512064"/>
          </a:xfrm>
          <a:prstGeom prst="rect">
            <a:avLst/>
          </a:prstGeom>
          <a:noFill/>
        </p:spPr>
        <p:txBody>
          <a:bodyPr wrap="square" anchor="ctr" lIns="0" rIns="0" tIns="0" bIns="0"/>
          <a:lstStyle/>
          <a:p>
            <a:pPr algn="l"/>
            <a:r>
              <a:rPr sz="1900" b="1" i="0">
                <a:solidFill>
                  <a:srgbClr val="03306E"/>
                </a:solidFill>
                <a:latin typeface="Calibri"/>
              </a:rPr>
              <a:t>Straightness</a:t>
            </a:r>
          </a:p>
        </p:txBody>
      </p:sp>
      <p:sp>
        <p:nvSpPr>
          <p:cNvPr id="25" name="TextBox 24"/>
          <p:cNvSpPr txBox="1"/>
          <p:nvPr/>
        </p:nvSpPr>
        <p:spPr>
          <a:xfrm>
            <a:off x="4566818" y="4892040"/>
            <a:ext cx="3058058" cy="1143000"/>
          </a:xfrm>
          <a:prstGeom prst="rect">
            <a:avLst/>
          </a:prstGeom>
          <a:noFill/>
        </p:spPr>
        <p:txBody>
          <a:bodyPr wrap="square" anchor="t" lIns="0" rIns="0" tIns="0" bIns="0"/>
          <a:lstStyle/>
          <a:p>
            <a:pPr algn="l"/>
            <a:r>
              <a:rPr sz="2000" b="0" i="0">
                <a:solidFill>
                  <a:srgbClr val="202122"/>
                </a:solidFill>
                <a:latin typeface="Calibri"/>
              </a:rPr>
              <a:t>A line or edge stays straight.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Geometric tolerancing (GD&amp;T)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Engineering Drawings, Dimensions and Tolerancing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a datum?</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does concentricity control?</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isn't size tolerance always enough?</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Engineering Drawings, Dimensions and Tolerancing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2200" b="0" i="0">
                <a:solidFill>
                  <a:srgbClr val="202122"/>
                </a:solidFill>
                <a:latin typeface="Calibri"/>
              </a:rPr>
              <a:t>What does PCD stand for?</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2200" b="0" i="0">
                <a:solidFill>
                  <a:srgbClr val="202122"/>
                </a:solidFill>
                <a:latin typeface="Calibri"/>
              </a:rPr>
              <a:t>A hole is 12 mm plus or minus 0.05 mm. What are its limits?</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2200" b="0" i="0">
                <a:solidFill>
                  <a:srgbClr val="202122"/>
                </a:solidFill>
                <a:latin typeface="Calibri"/>
              </a:rPr>
              <a:t>Which fit always has a gap?</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2200" b="0" i="0">
                <a:solidFill>
                  <a:srgbClr val="202122"/>
                </a:solidFill>
                <a:latin typeface="Calibri"/>
              </a:rPr>
              <a:t>Which drawing type is best for showing assembly?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Engineering Drawings, Dimensions and Tolerancing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1800" b="0" i="0">
                <a:solidFill>
                  <a:srgbClr val="54595D"/>
                </a:solidFill>
                <a:latin typeface="Calibri"/>
              </a:rPr>
              <a:t>What does PCD stand for?</a:t>
            </a:r>
          </a:p>
          <a:p>
            <a:r>
              <a:rPr sz="1800" b="1">
                <a:solidFill>
                  <a:srgbClr val="03306E"/>
                </a:solidFill>
                <a:latin typeface="Calibri"/>
              </a:rPr>
              <a:t>Pitch circle diameter.</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1800" b="0" i="0">
                <a:solidFill>
                  <a:srgbClr val="54595D"/>
                </a:solidFill>
                <a:latin typeface="Calibri"/>
              </a:rPr>
              <a:t>A hole is 12 mm plus or minus 0.05 mm. What are its limits?</a:t>
            </a:r>
          </a:p>
          <a:p>
            <a:r>
              <a:rPr sz="1800" b="1">
                <a:solidFill>
                  <a:srgbClr val="03306E"/>
                </a:solidFill>
                <a:latin typeface="Calibri"/>
              </a:rPr>
              <a:t>11.95 mm and 12.05 mm.</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1800" b="0" i="0">
                <a:solidFill>
                  <a:srgbClr val="54595D"/>
                </a:solidFill>
                <a:latin typeface="Calibri"/>
              </a:rPr>
              <a:t>Which fit always has a gap?</a:t>
            </a:r>
          </a:p>
          <a:p>
            <a:r>
              <a:rPr sz="1800" b="1">
                <a:solidFill>
                  <a:srgbClr val="03306E"/>
                </a:solidFill>
                <a:latin typeface="Calibri"/>
              </a:rPr>
              <a:t>A clearance fit.</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1800" b="0" i="0">
                <a:solidFill>
                  <a:srgbClr val="54595D"/>
                </a:solidFill>
                <a:latin typeface="Calibri"/>
              </a:rPr>
              <a:t>Which drawing type is best for showing assembly?</a:t>
            </a:r>
          </a:p>
          <a:p>
            <a:r>
              <a:rPr sz="1800" b="1">
                <a:solidFill>
                  <a:srgbClr val="03306E"/>
                </a:solidFill>
                <a:latin typeface="Calibri"/>
              </a:rPr>
              <a:t>An exploded view.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Read the drawing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Engineering Drawings, Dimensions and Tolerancing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Rounded Rectangle 5"/>
          <p:cNvSpPr/>
          <p:nvPr/>
        </p:nvSpPr>
        <p:spPr>
          <a:xfrm>
            <a:off x="548640" y="1508760"/>
            <a:ext cx="2011680" cy="45720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25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Pairs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Study the orthographic drawing from your teacher.</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List every abbreviation and symbol and what it means.</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Calculate the limits for three toleranced dimensions.</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Identify the fit between the shaft and the hole.</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All symbols correctly explained</a:t>
            </a:r>
          </a:p>
          <a:p>
            <a:pPr marL="274320" indent="-274320">
              <a:spcAft>
                <a:spcPts val="810"/>
              </a:spcAft>
              <a:buClr>
                <a:srgbClr val="0645AD"/>
              </a:buClr>
              <a:buFont typeface="Arial"/>
              <a:buChar char="•"/>
            </a:pPr>
            <a:r>
              <a:rPr sz="1800" b="0">
                <a:solidFill>
                  <a:srgbClr val="202122"/>
                </a:solidFill>
                <a:latin typeface="Calibri"/>
              </a:rPr>
              <a:t>Limits calculated accurately</a:t>
            </a:r>
          </a:p>
          <a:p>
            <a:pPr marL="274320" indent="-274320">
              <a:spcAft>
                <a:spcPts val="810"/>
              </a:spcAft>
              <a:buClr>
                <a:srgbClr val="0645AD"/>
              </a:buClr>
              <a:buFont typeface="Arial"/>
              <a:buChar char="•"/>
            </a:pPr>
            <a:r>
              <a:rPr sz="1800" b="0">
                <a:solidFill>
                  <a:srgbClr val="202122"/>
                </a:solidFill>
                <a:latin typeface="Calibri"/>
              </a:rPr>
              <a:t>Fit type justified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ENGINEERING CORE  ·  Core topic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Who would use an isometric sketch rather than an orthographic drawing?</a:t>
            </a:r>
          </a:p>
        </p:txBody>
      </p:sp>
      <p:sp>
        <p:nvSpPr>
          <p:cNvPr id="6" name="Oval 5"/>
          <p:cNvSpPr/>
          <p:nvPr/>
        </p:nvSpPr>
        <p:spPr>
          <a:xfrm>
            <a:off x="548640" y="26974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Why do tighter tolerances cost more?</a:t>
            </a:r>
          </a:p>
        </p:txBody>
      </p:sp>
      <p:sp>
        <p:nvSpPr>
          <p:cNvPr id="8" name="Oval 7"/>
          <p:cNvSpPr/>
          <p:nvPr/>
        </p:nvSpPr>
        <p:spPr>
          <a:xfrm>
            <a:off x="548640" y="3657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What is a datum?</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Engineering Core, Part 1</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https://lana6478.github.io/T-level-Design-Development-Engineering-Manufacturing/#/01-core-component/01-engineering-core-part1.md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Drawings, Dimensions and Tolerancing</dc:title>
  <dc:subject>Design and Development for Engineering and Manufacturing T Level: Core topic 3</dc:subject>
  <dc:creator>Samuel O'Connell</dc:creator>
  <cp:keywords>T Level; Design and Development for Engineering and Manufacturing; lesson slides; 3.1, 3.2</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