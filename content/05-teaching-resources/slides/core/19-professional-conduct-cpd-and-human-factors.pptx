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Give students a few minutes to answer on mini whiteboards or paper, then reveal the answers on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 through any answers the class found difficult.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Students answer on a sticky note or in the chat before leaving.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30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1005840"/>
            <a:ext cx="3291840" cy="3291840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9966960" y="3200400"/>
            <a:ext cx="2377440" cy="237744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Oval 3"/>
          <p:cNvSpPr/>
          <p:nvPr/>
        </p:nvSpPr>
        <p:spPr>
          <a:xfrm>
            <a:off x="8138160" y="4023360"/>
            <a:ext cx="1371600" cy="1371600"/>
          </a:xfrm>
          <a:prstGeom prst="ellipse">
            <a:avLst/>
          </a:prstGeom>
          <a:solidFill>
            <a:srgbClr val="A9C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1" i="0">
                <a:solidFill>
                  <a:srgbClr val="F2B705"/>
                </a:solidFill>
                <a:latin typeface="Calibri"/>
              </a:rPr>
              <a:t>ENGINEERING CORE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7315200" cy="2286000"/>
          </a:xfrm>
          <a:prstGeom prst="rect">
            <a:avLst/>
          </a:prstGeom>
          <a:noFill/>
        </p:spPr>
        <p:txBody>
          <a:bodyPr wrap="square" anchor="b" lIns="0" rIns="0" tIns="0" bIns="0"/>
          <a:lstStyle/>
          <a:p>
            <a:pPr algn="l"/>
            <a:r>
              <a:rPr sz="4400" b="1" i="0">
                <a:solidFill>
                  <a:srgbClr val="FFFFFF"/>
                </a:solidFill>
                <a:latin typeface="Cambria"/>
              </a:rPr>
              <a:t>Professional Conduct, CPD and Human Factors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84048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A9C8F0"/>
                </a:solidFill>
                <a:latin typeface="Calibri"/>
              </a:rPr>
              <a:t>Core topic 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29768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>
                <a:solidFill>
                  <a:srgbClr val="A9C8F0"/>
                </a:solidFill>
                <a:latin typeface="Calibri"/>
              </a:rPr>
              <a:t>Specification reference: 14.1, 14.2, 14.3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760720"/>
            <a:ext cx="7498079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0" i="0">
                <a:solidFill>
                  <a:srgbClr val="A9C8F0"/>
                </a:solidFill>
                <a:latin typeface="Calibri"/>
              </a:rPr>
              <a:t>Design and Development for Engineering and Manufacturing T Level  ·  Lesson slides</a:t>
            </a:r>
          </a:p>
          <a:p>
            <a:pPr algn="l"/>
            <a:r>
              <a:rPr sz="1100" b="0" i="0">
                <a:solidFill>
                  <a:srgbClr val="A9C8F0"/>
                </a:solidFill>
                <a:latin typeface="Calibri"/>
              </a:rPr>
              <a:t>Unofficial teaching resource. Check the official City &amp; Guilds specification for assessment detail.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ENGINEERING CORE  ·  Core topic 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Learning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Professional Conduct, CPD and Human Factors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676656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600" b="0" i="1">
                <a:solidFill>
                  <a:srgbClr val="54595D"/>
                </a:solidFill>
                <a:latin typeface="Calibri"/>
              </a:rPr>
              <a:t>By the end of this lesson you should be able to: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234565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2011680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Describe expected workplace conduct and levels of accountability.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274695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3051810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Explain equality, diversity, accessibility and inclusion duties.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4314825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4091939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Explain CPD routes and professional recognition.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5354954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5132069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Explain human factors and how to reduce human error.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0" y="1508760"/>
            <a:ext cx="3867912" cy="452628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046720" y="173736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0645AD"/>
                </a:solidFill>
                <a:latin typeface="Calibri"/>
              </a:rPr>
              <a:t>STARTER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2194560"/>
            <a:ext cx="3291840" cy="3657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03306E"/>
                </a:solidFill>
                <a:latin typeface="Cambria"/>
              </a:rPr>
              <a:t>Most industrial accidents involve human error. Does that mean the workers are to blame?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ENGINEERING CORE  ·  Core topic 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Professional conduct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Professional Conduct, CPD and Human Factors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777240" y="182880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80136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Job descriptions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6888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Set out duties, responsibilities and expected behaviours.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3007" y="160020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6461607" y="182880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55967" y="180136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Personal conduct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1607" y="246888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Reputation, ethics and knowing when to seek advice.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02336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777240" y="425196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22452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Accountability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89204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Apprentice, operator, management, director.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3007" y="402336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6461607" y="425196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55967" y="422452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EDAI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61607" y="489204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Equality, diversity, accessibility and inclusion duties.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ENGINEERING CORE  ·  Core topic 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CPD and professional recognition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Professional Conduct, CPD and Human Factors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5364327" cy="640080"/>
          </a:xfrm>
          <a:prstGeom prst="roundRect">
            <a:avLst>
              <a:gd name="adj" fmla="val 15000"/>
            </a:avLst>
          </a:prstGeom>
          <a:solidFill>
            <a:srgbClr val="033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4907127" cy="6400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CPD routes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377440"/>
            <a:ext cx="5364327" cy="3794760"/>
          </a:xfrm>
          <a:prstGeom prst="roundRect">
            <a:avLst>
              <a:gd name="adj" fmla="val 4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22959" y="2606040"/>
            <a:ext cx="4815687" cy="3337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Training courses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Industry placement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Academic study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Events and seminars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78727" y="1600200"/>
            <a:ext cx="5364327" cy="640080"/>
          </a:xfrm>
          <a:prstGeom prst="roundRect">
            <a:avLst>
              <a:gd name="adj" fmla="val 15000"/>
            </a:avLst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07327" y="1600200"/>
            <a:ext cx="4907127" cy="6400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Why it matters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78727" y="2377440"/>
            <a:ext cx="5364327" cy="3794760"/>
          </a:xfrm>
          <a:prstGeom prst="roundRect">
            <a:avLst>
              <a:gd name="adj" fmla="val 4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553047" y="2606040"/>
            <a:ext cx="4815687" cy="3337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Motivates staff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Improves performance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Keeps skills current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Leads to Engineering Council registration (EngTech, IEng, CEng)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ENGINEERING CORE  ·  Core topic 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Human factors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Professional Conduct, CPD and Human Factors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777240" y="182880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80136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Human characteristics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6888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Physical and mental capabilities and limits.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3007" y="160020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6461607" y="182880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55967" y="180136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Workplace design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1607" y="246888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Affects safety, comfort and productivity.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02336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777240" y="425196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22452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Causes of error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89204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Insufficient training, fatigue, workload, stress.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3007" y="402336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6461607" y="425196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55967" y="422452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Reducing error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61607" y="489204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Training, rest breaks, clear procedures, good design, error-proofing.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ENGINEERING CORE  ·  Core topic 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Check your understanding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Professional Conduct, CPD and Human Factors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6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18488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600200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What is CPD?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814066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795778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Who sets professional standards for engineers in the UK?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4009644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991356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Name two causes of human error.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5205221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5186933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What is the purpose of a job description?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ENGINEERING CORE  ·  Core topic 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Answers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Professional Conduct, CPD and Human Factors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7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18488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600200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What is CPD?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Continuous professional development: ongoing learning throughout a career.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814066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795778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Who sets professional standards for engineers in the UK?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The Engineering Council.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4009644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991356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Name two causes of human error.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Any two of: insufficient training, fatigue, workload, stress.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5205221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5186933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What is the purpose of a job description?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To set out the role's duties and responsibilities.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ENGINEERING CORE  ·  Core topic 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Activity: Error-proof the job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Professional Conduct, CPD and Human Factors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08760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201168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1400" b="1" i="0">
                <a:solidFill>
                  <a:srgbClr val="202122"/>
                </a:solidFill>
                <a:latin typeface="Calibri"/>
              </a:rPr>
              <a:t>25 minutes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1508760"/>
            <a:ext cx="475488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400" b="0" i="1">
                <a:solidFill>
                  <a:srgbClr val="54595D"/>
                </a:solidFill>
                <a:latin typeface="Calibri"/>
              </a:rPr>
              <a:t>Small groups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482596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240280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Read the incident report from your teacher.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461004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3218688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Identify the human factors involved.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4439412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4197096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Suggest changes to design, training and procedures.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5417820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5175504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Rank them by how well they prevent a repeat.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0" y="1508760"/>
            <a:ext cx="3867912" cy="457200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046720" y="173736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0645AD"/>
                </a:solidFill>
                <a:latin typeface="Calibri"/>
              </a:rPr>
              <a:t>SUCCESS CRITERIA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2240280"/>
            <a:ext cx="333756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Human factors named correctly</a:t>
            </a:r>
          </a:p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Solutions go beyond blaming the worker</a:t>
            </a:r>
          </a:p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Ranking justified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30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A9C8F0"/>
                </a:solidFill>
                <a:latin typeface="Calibri"/>
              </a:rPr>
              <a:t>ENGINEERING CORE  ·  Core topic 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FFFFFF"/>
                </a:solidFill>
                <a:latin typeface="Cambria"/>
              </a:rPr>
              <a:t>Exit ticket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173736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164592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What CPD will you do in the next year?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269748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260604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How can workplace design reduce errors?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365760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356616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Why does reputation matter for an engineer?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1645920"/>
            <a:ext cx="3410712" cy="2926080"/>
          </a:xfrm>
          <a:prstGeom prst="roundRect">
            <a:avLst>
              <a:gd name="adj" fmla="val 8000"/>
            </a:avLst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503920" y="1874519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A9C8F0"/>
                </a:solidFill>
                <a:latin typeface="Calibri"/>
              </a:rPr>
              <a:t>REVISE THIS TOPIC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28600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Revision notes for this lesson are on the study wiki: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2926080"/>
            <a:ext cx="2926080" cy="1463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mbria"/>
              </a:rPr>
              <a:t>Engineering Core, Part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669280"/>
            <a:ext cx="11094415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200" b="0" i="0">
                <a:solidFill>
                  <a:srgbClr val="A9C8F0"/>
                </a:solidFill>
                <a:latin typeface="Calibri"/>
              </a:rPr>
              <a:t>https://lana6478.github.io/T-level-Design-Development-Engineering-Manufacturing/#/01-core-component/02-engineering-core-part2.md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Professional Conduct, CPD and Human Factors</dc:title>
  <dc:subject>Design and Development for Engineering and Manufacturing T Level: Core topic 14</dc:subject>
  <dc:creator>Samuel O'Connell</dc:creator>
  <cp:keywords>T Level; Design and Development for Engineering and Manufacturing; lesson slides; 14.1, 14.2, 14.3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