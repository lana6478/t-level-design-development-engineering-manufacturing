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Ongoing professional learning throughout a career.</a:t>
            </a:r>
          </a:p>
          <a:p>
            <a:r>
              <a:t>2. The Engineering Council.</a:t>
            </a:r>
          </a:p>
          <a:p>
            <a:r>
              <a:t>3. EngTech, IEng or CEng.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E.g. training, fatigue, workload, stress.</a:t>
            </a:r>
          </a:p>
          <a:p>
            <a:r>
              <a:t>2. Designing so mistakes are impossible.</a:t>
            </a:r>
          </a:p>
          <a:p>
            <a:r>
              <a:t>3. Poor layout, lighting or posture cause mistakes and injuries.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ENGINEERING CORE</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Professional Conduct, CPD and Human Factors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topic 14</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14.1, 14.2, 14.3</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Design and Development for Engineering and Manufacturing T Level  ·  Lesson slides</a:t>
            </a:r>
          </a:p>
          <a:p>
            <a:pPr algn="l"/>
            <a:r>
              <a:rPr sz="1100" b="0" i="0">
                <a:solidFill>
                  <a:srgbClr val="A9C8F0"/>
                </a:solidFill>
                <a:latin typeface="Calibri"/>
              </a:rPr>
              <a:t>Unofficial teaching resource. Check the official City &amp; Guilds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expected workplace conduct and levels of accountability.</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Explain equality, diversity, accessibility and inclusion duties.</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Explain CPD routes and professional recognition.</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Explain human factors and how to reduce human error.</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Most industrial accidents involve human error. Does that mean the workers are to blame?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Professional conduct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Job descriptions</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Set out duties, responsibilities and expected behaviours.</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Personal conduct</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Reputation, ethics and knowing when to seek advice.</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Accountability</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Apprentice, operator, management, director.</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EDAI</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Equality, diversity, accessibility and inclusion duties.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CPD and professional recognition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Continuous professional development (CPD) is ongoing learning throughout your career: training courses, industry placements, academic study, events and seminars.</a:t>
            </a:r>
          </a:p>
          <a:p>
            <a:pPr>
              <a:spcAft>
                <a:spcPts val="1320"/>
              </a:spcAft>
            </a:pPr>
            <a:r>
              <a:rPr sz="2200" b="0">
                <a:solidFill>
                  <a:srgbClr val="202122"/>
                </a:solidFill>
                <a:latin typeface="Calibri"/>
              </a:rPr>
              <a:t>CPD keeps skills current, motivates staff and improves performance.</a:t>
            </a:r>
          </a:p>
          <a:p>
            <a:pPr>
              <a:spcAft>
                <a:spcPts val="1320"/>
              </a:spcAft>
            </a:pPr>
            <a:r>
              <a:rPr sz="2200" b="0">
                <a:solidFill>
                  <a:srgbClr val="202122"/>
                </a:solidFill>
                <a:latin typeface="Calibri"/>
              </a:rPr>
              <a:t>The Engineering Council sets the professional standards for engineers in the UK. With experience and evidence of competence, engineers can register as an Engineering Technician (EngTech), Incorporated Engineer (IEng) or Chartered Engineer (CEng), recognised by employers worldwide.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T Level student might become an apprentice, gain EngTech registration, then study part-time towards IEng or CEng.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CPD and professional recognition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CPD routes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Training courses</a:t>
            </a:r>
          </a:p>
          <a:p>
            <a:pPr marL="274320" indent="-274320">
              <a:spcAft>
                <a:spcPts val="990"/>
              </a:spcAft>
              <a:buClr>
                <a:srgbClr val="0645AD"/>
              </a:buClr>
              <a:buFont typeface="Arial"/>
              <a:buChar char="•"/>
            </a:pPr>
            <a:r>
              <a:rPr sz="2200" b="0">
                <a:solidFill>
                  <a:srgbClr val="202122"/>
                </a:solidFill>
                <a:latin typeface="Calibri"/>
              </a:rPr>
              <a:t>Industry placement</a:t>
            </a:r>
          </a:p>
          <a:p>
            <a:pPr marL="274320" indent="-274320">
              <a:spcAft>
                <a:spcPts val="990"/>
              </a:spcAft>
              <a:buClr>
                <a:srgbClr val="0645AD"/>
              </a:buClr>
              <a:buFont typeface="Arial"/>
              <a:buChar char="•"/>
            </a:pPr>
            <a:r>
              <a:rPr sz="2200" b="0">
                <a:solidFill>
                  <a:srgbClr val="202122"/>
                </a:solidFill>
                <a:latin typeface="Calibri"/>
              </a:rPr>
              <a:t>Academic study</a:t>
            </a:r>
          </a:p>
          <a:p>
            <a:pPr marL="274320" indent="-274320">
              <a:spcAft>
                <a:spcPts val="990"/>
              </a:spcAft>
              <a:buClr>
                <a:srgbClr val="0645AD"/>
              </a:buClr>
              <a:buFont typeface="Arial"/>
              <a:buChar char="•"/>
            </a:pPr>
            <a:r>
              <a:rPr sz="2200" b="0">
                <a:solidFill>
                  <a:srgbClr val="202122"/>
                </a:solidFill>
                <a:latin typeface="Calibri"/>
              </a:rPr>
              <a:t>Events and seminars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Why it matters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Motivates staff</a:t>
            </a:r>
          </a:p>
          <a:p>
            <a:pPr marL="274320" indent="-274320">
              <a:spcAft>
                <a:spcPts val="990"/>
              </a:spcAft>
              <a:buClr>
                <a:srgbClr val="0645AD"/>
              </a:buClr>
              <a:buFont typeface="Arial"/>
              <a:buChar char="•"/>
            </a:pPr>
            <a:r>
              <a:rPr sz="2200" b="0">
                <a:solidFill>
                  <a:srgbClr val="202122"/>
                </a:solidFill>
                <a:latin typeface="Calibri"/>
              </a:rPr>
              <a:t>Improves performance</a:t>
            </a:r>
          </a:p>
          <a:p>
            <a:pPr marL="274320" indent="-274320">
              <a:spcAft>
                <a:spcPts val="990"/>
              </a:spcAft>
              <a:buClr>
                <a:srgbClr val="0645AD"/>
              </a:buClr>
              <a:buFont typeface="Arial"/>
              <a:buChar char="•"/>
            </a:pPr>
            <a:r>
              <a:rPr sz="2200" b="0">
                <a:solidFill>
                  <a:srgbClr val="202122"/>
                </a:solidFill>
                <a:latin typeface="Calibri"/>
              </a:rPr>
              <a:t>Keeps skills current</a:t>
            </a:r>
          </a:p>
          <a:p>
            <a:pPr marL="274320" indent="-274320">
              <a:spcAft>
                <a:spcPts val="990"/>
              </a:spcAft>
              <a:buClr>
                <a:srgbClr val="0645AD"/>
              </a:buClr>
              <a:buFont typeface="Arial"/>
              <a:buChar char="•"/>
            </a:pPr>
            <a:r>
              <a:rPr sz="2200" b="0">
                <a:solidFill>
                  <a:srgbClr val="202122"/>
                </a:solidFill>
                <a:latin typeface="Calibri"/>
              </a:rPr>
              <a:t>Leads to Engineering Council registration (EngTech, IEng, CEng)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CPD and professional recognition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CPD?</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Who sets professional standards for UK engineers?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Name one professional registration level.</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Human factors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Human factors are the ways people's physical and mental abilities and limits affect work.</a:t>
            </a:r>
          </a:p>
          <a:p>
            <a:pPr>
              <a:spcAft>
                <a:spcPts val="1320"/>
              </a:spcAft>
            </a:pPr>
            <a:r>
              <a:rPr sz="2200" b="0">
                <a:solidFill>
                  <a:srgbClr val="202122"/>
                </a:solidFill>
                <a:latin typeface="Calibri"/>
              </a:rPr>
              <a:t>Workplace design affects safety, comfort and productivity: badly placed controls, poor lighting or awkward postures cause mistakes and injuries.</a:t>
            </a:r>
          </a:p>
          <a:p>
            <a:pPr>
              <a:spcAft>
                <a:spcPts val="1320"/>
              </a:spcAft>
            </a:pPr>
            <a:r>
              <a:rPr sz="2200" b="0">
                <a:solidFill>
                  <a:srgbClr val="202122"/>
                </a:solidFill>
                <a:latin typeface="Calibri"/>
              </a:rPr>
              <a:t>Human error is often caused by insufficient training, fatigue, heavy workload and stress. It's reduced by good training, sensible shift patterns, clear procedures, well-designed workplaces and error-proofing (designs that make mistakes impossible).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connector that only fits one way round (error-proofing) prevents the mistake entirely, which is better than a warning in the manual.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Human factors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Human characteristics</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Physical and mental capabilities and limits.</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Workplace design</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Affects safety, comfort and productivity.</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Causes of error</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Insufficient training, fatigue, workload, stress.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Reducing error</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Training, rest breaks, clear procedures, good design, error-proofing.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Human factors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two causes of human error.</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error-proofing?</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How does workplace design affect safety?</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is CPD?</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Who sets professional standards for engineers in the UK?</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Name two causes of human error.</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What is the purpose of a job description?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is CPD?</a:t>
            </a:r>
          </a:p>
          <a:p>
            <a:r>
              <a:rPr sz="1800" b="1">
                <a:solidFill>
                  <a:srgbClr val="03306E"/>
                </a:solidFill>
                <a:latin typeface="Calibri"/>
              </a:rPr>
              <a:t>Continuous professional development: ongoing learning throughout a career.</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Who sets professional standards for engineers in the UK?</a:t>
            </a:r>
          </a:p>
          <a:p>
            <a:r>
              <a:rPr sz="1800" b="1">
                <a:solidFill>
                  <a:srgbClr val="03306E"/>
                </a:solidFill>
                <a:latin typeface="Calibri"/>
              </a:rPr>
              <a:t>The Engineering Council.</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Name two causes of human error.</a:t>
            </a:r>
          </a:p>
          <a:p>
            <a:r>
              <a:rPr sz="1800" b="1">
                <a:solidFill>
                  <a:srgbClr val="03306E"/>
                </a:solidFill>
                <a:latin typeface="Calibri"/>
              </a:rPr>
              <a:t>Any two of: insufficient training, fatigue, workload, stress.</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What is the purpose of a job description?</a:t>
            </a:r>
          </a:p>
          <a:p>
            <a:r>
              <a:rPr sz="1800" b="1">
                <a:solidFill>
                  <a:srgbClr val="03306E"/>
                </a:solidFill>
                <a:latin typeface="Calibri"/>
              </a:rPr>
              <a:t>To set out the role's duties and responsibilities.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Error-proof the job</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Professional Conduct, CPD and Human Factors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Read the incident report from your teacher.</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Identify the human factors involved.</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Suggest changes to design, training and procedures.</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Rank them by how well they prevent a repeat.</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Human factors named correctly</a:t>
            </a:r>
          </a:p>
          <a:p>
            <a:pPr marL="274320" indent="-274320">
              <a:spcAft>
                <a:spcPts val="810"/>
              </a:spcAft>
              <a:buClr>
                <a:srgbClr val="0645AD"/>
              </a:buClr>
              <a:buFont typeface="Arial"/>
              <a:buChar char="•"/>
            </a:pPr>
            <a:r>
              <a:rPr sz="1800" b="0">
                <a:solidFill>
                  <a:srgbClr val="202122"/>
                </a:solidFill>
                <a:latin typeface="Calibri"/>
              </a:rPr>
              <a:t>Solutions go beyond blaming the worker</a:t>
            </a:r>
          </a:p>
          <a:p>
            <a:pPr marL="274320" indent="-274320">
              <a:spcAft>
                <a:spcPts val="810"/>
              </a:spcAft>
              <a:buClr>
                <a:srgbClr val="0645AD"/>
              </a:buClr>
              <a:buFont typeface="Arial"/>
              <a:buChar char="•"/>
            </a:pPr>
            <a:r>
              <a:rPr sz="1800" b="0">
                <a:solidFill>
                  <a:srgbClr val="202122"/>
                </a:solidFill>
                <a:latin typeface="Calibri"/>
              </a:rPr>
              <a:t>Ranking justified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ENGINEERING CORE  ·  Core topic 14</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What CPD will you do in the next year?</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How can workplace design reduce errors?</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Why does reputation matter for an engineer?</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Engineering Core, Part 2</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https://lana6478.github.io/T-level-Design-Development-Engineering-Manufacturing/#/01-core-component/02-engineering-core-part2.md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Conduct, CPD and Human Factors</dc:title>
  <dc:subject>Design and Development for Engineering and Manufacturing T Level: Core topic 14</dc:subject>
  <dc:creator>Samuel O'Connell</dc:creator>
  <cp:keywords>T Level; Design and Development for Engineering and Manufacturing; lesson slides; 14.1, 14.2, 14.3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