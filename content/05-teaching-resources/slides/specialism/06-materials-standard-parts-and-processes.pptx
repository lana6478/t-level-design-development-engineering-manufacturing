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Families: ferrous and non-ferrous metals, thermoplastics (ABS, HIPS, PLA, polycarbonate, polypropylene, acrylic), thermosets, elastomers, composites, ceramics and smart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Designing a part stronger than its expected load.</a:t>
            </a:r>
          </a:p>
          <a:p>
            <a:r>
              <a:t>2. When failure is dangerous or loads are uncertain.</a:t>
            </a:r>
          </a:p>
          <a:p>
            <a:r>
              <a:t>3. E.g. fitness for purpose, availability, risk.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TIG.</a:t>
            </a:r>
          </a:p>
          <a:p>
            <a:r>
              <a:t>2. Tooling is expensive.</a:t>
            </a:r>
          </a:p>
          <a:p>
            <a:r>
              <a:t>3. Ductility.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E0463A"/>
                </a:solidFill>
                <a:latin typeface="Calibri"/>
              </a:rPr>
              <a:t>MECHANICAL ENGINEERING</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Materials, Standard Parts and Manufacturing Processes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Mechanical: Knowledge criteria</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1.10, 1.11</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Design and Development for Engineering and Manufacturing T Level  ·  Lesson slides</a:t>
            </a:r>
          </a:p>
          <a:p>
            <a:pPr algn="l"/>
            <a:r>
              <a:rPr sz="1100" b="0" i="0">
                <a:solidFill>
                  <a:srgbClr val="A9C8F0"/>
                </a:solidFill>
                <a:latin typeface="Calibri"/>
              </a:rPr>
              <a:t>Unofficial teaching resource. Check the official City &amp; Guilds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Select materials using fitness for purpose, availability, risk and factor of safety.</a:t>
            </a:r>
          </a:p>
        </p:txBody>
      </p:sp>
      <p:sp>
        <p:nvSpPr>
          <p:cNvPr id="9" name="Oval 8"/>
          <p:cNvSpPr/>
          <p:nvPr/>
        </p:nvSpPr>
        <p:spPr>
          <a:xfrm>
            <a:off x="548640" y="327469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why standard parts are used.</a:t>
            </a:r>
          </a:p>
        </p:txBody>
      </p:sp>
      <p:sp>
        <p:nvSpPr>
          <p:cNvPr id="11" name="Oval 10"/>
          <p:cNvSpPr/>
          <p:nvPr/>
        </p:nvSpPr>
        <p:spPr>
          <a:xfrm>
            <a:off x="548640" y="431482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Compare wasting, shaping, forming, welding, 3D printing and joining processes.</a:t>
            </a:r>
          </a:p>
        </p:txBody>
      </p:sp>
      <p:sp>
        <p:nvSpPr>
          <p:cNvPr id="13" name="Oval 12"/>
          <p:cNvSpPr/>
          <p:nvPr/>
        </p:nvSpPr>
        <p:spPr>
          <a:xfrm>
            <a:off x="548640" y="5354954"/>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Explain why tolerances and fits matter for assembly.</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Why don't companies make their own nuts and bolts?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Choosing materials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Choose materials for fitness for purpose (the properties the function needs), availability (standard stock sizes and lead times), risk (the consequences if it fails) and a factor of safety.</a:t>
            </a:r>
          </a:p>
          <a:p>
            <a:pPr>
              <a:spcAft>
                <a:spcPts val="1320"/>
              </a:spcAft>
            </a:pPr>
            <a:r>
              <a:rPr sz="2200" b="0">
                <a:solidFill>
                  <a:srgbClr val="202122"/>
                </a:solidFill>
                <a:latin typeface="Calibri"/>
              </a:rPr>
              <a:t>A factor of safety designs a part to be stronger than the expected load. A factor of 2 means it could carry twice the working load. Higher factors are used where failure would be dangerous or loads are uncertain.</a:t>
            </a:r>
          </a:p>
          <a:p>
            <a:pPr>
              <a:spcAft>
                <a:spcPts val="1320"/>
              </a:spcAft>
            </a:pPr>
            <a:r>
              <a:rPr sz="2200" b="0">
                <a:solidFill>
                  <a:srgbClr val="202122"/>
                </a:solidFill>
                <a:latin typeface="Calibri"/>
              </a:rPr>
              <a:t>Material families range from ferrous and non-ferrous metals to thermoplastics, thermosets, elastomers, composites, ceramics and smart materials.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lifting hook rated for 1 tonne with a factor of safety of 5 is designed not to fail below 5 tonnes.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Choosing materials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Fitness for purpose</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Properties that meet the function.</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Availability</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Standard stock forms and lead times.</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Risk</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Consequences if it fails.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Factor of safety</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Design for more load than expected, e.g. 2 x the working 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Choosing materials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factor of safety?</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When would you use a higher factor of safety?</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Name two considerations when choosing a material.</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Standard parts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80"/>
              </a:spcAft>
              <a:buClr>
                <a:srgbClr val="0645AD"/>
              </a:buClr>
              <a:buFont typeface="Arial"/>
              <a:buChar char="•"/>
            </a:pPr>
            <a:r>
              <a:rPr sz="2400" b="1">
                <a:solidFill>
                  <a:srgbClr val="202122"/>
                </a:solidFill>
                <a:latin typeface="Calibri"/>
              </a:rPr>
              <a:t>Examples:</a:t>
            </a:r>
            <a:r>
              <a:rPr sz="2400" b="0">
                <a:solidFill>
                  <a:srgbClr val="202122"/>
                </a:solidFill>
                <a:latin typeface="Calibri"/>
              </a:rPr>
              <a:t> valves, sensors, piping, supports and fittings.</a:t>
            </a:r>
          </a:p>
          <a:p>
            <a:pPr marL="274320" indent="-274320">
              <a:spcAft>
                <a:spcPts val="1080"/>
              </a:spcAft>
              <a:buClr>
                <a:srgbClr val="0645AD"/>
              </a:buClr>
              <a:buFont typeface="Arial"/>
              <a:buChar char="•"/>
            </a:pPr>
            <a:r>
              <a:rPr sz="2400" b="0">
                <a:solidFill>
                  <a:srgbClr val="202122"/>
                </a:solidFill>
                <a:latin typeface="Calibri"/>
              </a:rPr>
              <a:t>Cheaper than making your own.</a:t>
            </a:r>
          </a:p>
          <a:p>
            <a:pPr marL="274320" indent="-274320">
              <a:spcAft>
                <a:spcPts val="1080"/>
              </a:spcAft>
              <a:buClr>
                <a:srgbClr val="0645AD"/>
              </a:buClr>
              <a:buFont typeface="Arial"/>
              <a:buChar char="•"/>
            </a:pPr>
            <a:r>
              <a:rPr sz="2400" b="0">
                <a:solidFill>
                  <a:srgbClr val="202122"/>
                </a:solidFill>
                <a:latin typeface="Calibri"/>
              </a:rPr>
              <a:t>Proven quality and known performance.</a:t>
            </a:r>
          </a:p>
          <a:p>
            <a:pPr marL="274320" indent="-274320">
              <a:spcAft>
                <a:spcPts val="1080"/>
              </a:spcAft>
              <a:buClr>
                <a:srgbClr val="0645AD"/>
              </a:buClr>
              <a:buFont typeface="Arial"/>
              <a:buChar char="•"/>
            </a:pPr>
            <a:r>
              <a:rPr sz="2400" b="0">
                <a:solidFill>
                  <a:srgbClr val="202122"/>
                </a:solidFill>
                <a:latin typeface="Calibri"/>
              </a:rPr>
              <a:t>Easy to replace and source.</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Design around standard parts wherever you can. It cuts cost and lead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Manufacturing processes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Wasting processes (cutting, filing, turning, milling, grinding) remove material. They're accurate but waste material. Shaping (casting, moulding) makes complex shapes but tooling is expensive. Forming (bending, pressing) is fast with little waste but needs ductile material.</a:t>
            </a:r>
          </a:p>
          <a:p>
            <a:pPr>
              <a:spcAft>
                <a:spcPts val="1200"/>
              </a:spcAft>
            </a:pPr>
            <a:r>
              <a:rPr sz="2000" b="1">
                <a:solidFill>
                  <a:srgbClr val="202122"/>
                </a:solidFill>
                <a:latin typeface="Calibri"/>
              </a:rPr>
              <a:t>Welding makes strong, permanent joints:</a:t>
            </a:r>
            <a:r>
              <a:rPr sz="2000" b="0">
                <a:solidFill>
                  <a:srgbClr val="202122"/>
                </a:solidFill>
                <a:latin typeface="Calibri"/>
              </a:rPr>
              <a:t> MIG/MAG is fast for general work; TIG is slower but neat and precise, for thin or stainless material. Heat can distort parts. 3D printing makes complex one-offs but is slow in volume. Joining, finishing and assembly complete the product.</a:t>
            </a:r>
          </a:p>
          <a:p>
            <a:pPr>
              <a:spcAft>
                <a:spcPts val="1200"/>
              </a:spcAft>
            </a:pPr>
            <a:r>
              <a:rPr sz="2000" b="0">
                <a:solidFill>
                  <a:srgbClr val="202122"/>
                </a:solidFill>
                <a:latin typeface="Calibri"/>
              </a:rPr>
              <a:t>Tolerances and fits must be designed so parts assemble correctly.</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10,000 plastic clips: injection moulding (shaping). One prototype clip: 3D printing.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Manufacturing processes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graphicFrame>
        <p:nvGraphicFramePr>
          <p:cNvPr id="6" name="Table 5"/>
          <p:cNvGraphicFramePr>
            <a:graphicFrameLocks noGrp="1"/>
          </p:cNvGraphicFramePr>
          <p:nvPr/>
        </p:nvGraphicFramePr>
        <p:xfrm>
          <a:off x="548640" y="1600200"/>
          <a:ext cx="11094413" cy="4526277"/>
        </p:xfrm>
        <a:graphic>
          <a:graphicData uri="http://schemas.openxmlformats.org/drawingml/2006/table">
            <a:tbl>
              <a:tblPr firstRow="1" bandRow="1">
                <a:tableStyleId>{5C22544A-7EE6-4342-B048-85BDC9FD1C3A}</a:tableStyleId>
              </a:tblPr>
              <a:tblGrid>
                <a:gridCol w="2322086"/>
                <a:gridCol w="4128154"/>
                <a:gridCol w="4644173"/>
              </a:tblGrid>
              <a:tr h="646611">
                <a:tc>
                  <a:txBody>
                    <a:bodyPr wrap="square"/>
                    <a:lstStyle/>
                    <a:p>
                      <a:r>
                        <a:rPr sz="1600" b="1">
                          <a:solidFill>
                            <a:srgbClr val="FFFFFF"/>
                          </a:solidFill>
                          <a:latin typeface="Calibri"/>
                        </a:rPr>
                        <a:t>Process</a:t>
                      </a:r>
                    </a:p>
                  </a:txBody>
                  <a:tcPr marL="91440" marR="91440" anchor="ctr">
                    <a:solidFill>
                      <a:srgbClr val="03306E"/>
                    </a:solidFill>
                  </a:tcPr>
                </a:tc>
                <a:tc>
                  <a:txBody>
                    <a:bodyPr wrap="square"/>
                    <a:lstStyle/>
                    <a:p>
                      <a:r>
                        <a:rPr sz="1600" b="1">
                          <a:solidFill>
                            <a:srgbClr val="FFFFFF"/>
                          </a:solidFill>
                          <a:latin typeface="Calibri"/>
                        </a:rPr>
                        <a:t>Examples</a:t>
                      </a:r>
                    </a:p>
                  </a:txBody>
                  <a:tcPr marL="91440" marR="91440" anchor="ctr">
                    <a:solidFill>
                      <a:srgbClr val="03306E"/>
                    </a:solidFill>
                  </a:tcPr>
                </a:tc>
                <a:tc>
                  <a:txBody>
                    <a:bodyPr wrap="square"/>
                    <a:lstStyle/>
                    <a:p>
                      <a:r>
                        <a:rPr sz="1600" b="1">
                          <a:solidFill>
                            <a:srgbClr val="FFFFFF"/>
                          </a:solidFill>
                          <a:latin typeface="Calibri"/>
                        </a:rPr>
                        <a:t>Trade-off</a:t>
                      </a:r>
                    </a:p>
                  </a:txBody>
                  <a:tcPr marL="91440" marR="91440" anchor="ctr">
                    <a:solidFill>
                      <a:srgbClr val="03306E"/>
                    </a:solidFill>
                  </a:tcPr>
                </a:tc>
              </a:tr>
              <a:tr h="646611">
                <a:tc>
                  <a:txBody>
                    <a:bodyPr wrap="square"/>
                    <a:lstStyle/>
                    <a:p>
                      <a:r>
                        <a:rPr sz="1600" b="1">
                          <a:solidFill>
                            <a:srgbClr val="03306E"/>
                          </a:solidFill>
                          <a:latin typeface="Calibri"/>
                        </a:rPr>
                        <a:t>Wasting</a:t>
                      </a:r>
                    </a:p>
                  </a:txBody>
                  <a:tcPr marL="91440" marR="91440" anchor="ctr">
                    <a:solidFill>
                      <a:srgbClr val="FFFFFF"/>
                    </a:solidFill>
                  </a:tcPr>
                </a:tc>
                <a:tc>
                  <a:txBody>
                    <a:bodyPr wrap="square"/>
                    <a:lstStyle/>
                    <a:p>
                      <a:r>
                        <a:rPr sz="1600" b="0">
                          <a:solidFill>
                            <a:srgbClr val="202122"/>
                          </a:solidFill>
                          <a:latin typeface="Calibri"/>
                        </a:rPr>
                        <a:t>Cutting, filing, turning, milling, grinding</a:t>
                      </a:r>
                    </a:p>
                  </a:txBody>
                  <a:tcPr marL="91440" marR="91440" anchor="ctr">
                    <a:solidFill>
                      <a:srgbClr val="FFFFFF"/>
                    </a:solidFill>
                  </a:tcPr>
                </a:tc>
                <a:tc>
                  <a:txBody>
                    <a:bodyPr wrap="square"/>
                    <a:lstStyle/>
                    <a:p>
                      <a:r>
                        <a:rPr sz="1600" b="0">
                          <a:solidFill>
                            <a:srgbClr val="202122"/>
                          </a:solidFill>
                          <a:latin typeface="Calibri"/>
                        </a:rPr>
                        <a:t>Accurate, but wastes material</a:t>
                      </a:r>
                    </a:p>
                  </a:txBody>
                  <a:tcPr marL="91440" marR="91440" anchor="ctr">
                    <a:solidFill>
                      <a:srgbClr val="FFFFFF"/>
                    </a:solidFill>
                  </a:tcPr>
                </a:tc>
              </a:tr>
              <a:tr h="646611">
                <a:tc>
                  <a:txBody>
                    <a:bodyPr wrap="square"/>
                    <a:lstStyle/>
                    <a:p>
                      <a:r>
                        <a:rPr sz="1600" b="1">
                          <a:solidFill>
                            <a:srgbClr val="03306E"/>
                          </a:solidFill>
                          <a:latin typeface="Calibri"/>
                        </a:rPr>
                        <a:t>Shaping</a:t>
                      </a:r>
                    </a:p>
                  </a:txBody>
                  <a:tcPr marL="91440" marR="91440" anchor="ctr">
                    <a:solidFill>
                      <a:srgbClr val="EAF3FF"/>
                    </a:solidFill>
                  </a:tcPr>
                </a:tc>
                <a:tc>
                  <a:txBody>
                    <a:bodyPr wrap="square"/>
                    <a:lstStyle/>
                    <a:p>
                      <a:r>
                        <a:rPr sz="1600" b="0">
                          <a:solidFill>
                            <a:srgbClr val="202122"/>
                          </a:solidFill>
                          <a:latin typeface="Calibri"/>
                        </a:rPr>
                        <a:t>Casting, moulding</a:t>
                      </a:r>
                    </a:p>
                  </a:txBody>
                  <a:tcPr marL="91440" marR="91440" anchor="ctr">
                    <a:solidFill>
                      <a:srgbClr val="EAF3FF"/>
                    </a:solidFill>
                  </a:tcPr>
                </a:tc>
                <a:tc>
                  <a:txBody>
                    <a:bodyPr wrap="square"/>
                    <a:lstStyle/>
                    <a:p>
                      <a:r>
                        <a:rPr sz="1600" b="0">
                          <a:solidFill>
                            <a:srgbClr val="202122"/>
                          </a:solidFill>
                          <a:latin typeface="Calibri"/>
                        </a:rPr>
                        <a:t>Complex shapes, high tooling cost</a:t>
                      </a:r>
                    </a:p>
                  </a:txBody>
                  <a:tcPr marL="91440" marR="91440" anchor="ctr">
                    <a:solidFill>
                      <a:srgbClr val="EAF3FF"/>
                    </a:solidFill>
                  </a:tcPr>
                </a:tc>
              </a:tr>
              <a:tr h="646611">
                <a:tc>
                  <a:txBody>
                    <a:bodyPr wrap="square"/>
                    <a:lstStyle/>
                    <a:p>
                      <a:r>
                        <a:rPr sz="1600" b="1">
                          <a:solidFill>
                            <a:srgbClr val="03306E"/>
                          </a:solidFill>
                          <a:latin typeface="Calibri"/>
                        </a:rPr>
                        <a:t>Forming</a:t>
                      </a:r>
                    </a:p>
                  </a:txBody>
                  <a:tcPr marL="91440" marR="91440" anchor="ctr">
                    <a:solidFill>
                      <a:srgbClr val="FFFFFF"/>
                    </a:solidFill>
                  </a:tcPr>
                </a:tc>
                <a:tc>
                  <a:txBody>
                    <a:bodyPr wrap="square"/>
                    <a:lstStyle/>
                    <a:p>
                      <a:r>
                        <a:rPr sz="1600" b="0">
                          <a:solidFill>
                            <a:srgbClr val="202122"/>
                          </a:solidFill>
                          <a:latin typeface="Calibri"/>
                        </a:rPr>
                        <a:t>Bending, pressing</a:t>
                      </a:r>
                    </a:p>
                  </a:txBody>
                  <a:tcPr marL="91440" marR="91440" anchor="ctr">
                    <a:solidFill>
                      <a:srgbClr val="FFFFFF"/>
                    </a:solidFill>
                  </a:tcPr>
                </a:tc>
                <a:tc>
                  <a:txBody>
                    <a:bodyPr wrap="square"/>
                    <a:lstStyle/>
                    <a:p>
                      <a:r>
                        <a:rPr sz="1600" b="0">
                          <a:solidFill>
                            <a:srgbClr val="202122"/>
                          </a:solidFill>
                          <a:latin typeface="Calibri"/>
                        </a:rPr>
                        <a:t>Fast, little waste, needs ductile material</a:t>
                      </a:r>
                    </a:p>
                  </a:txBody>
                  <a:tcPr marL="91440" marR="91440" anchor="ctr">
                    <a:solidFill>
                      <a:srgbClr val="FFFFFF"/>
                    </a:solidFill>
                  </a:tcPr>
                </a:tc>
              </a:tr>
              <a:tr h="646611">
                <a:tc>
                  <a:txBody>
                    <a:bodyPr wrap="square"/>
                    <a:lstStyle/>
                    <a:p>
                      <a:r>
                        <a:rPr sz="1600" b="1">
                          <a:solidFill>
                            <a:srgbClr val="03306E"/>
                          </a:solidFill>
                          <a:latin typeface="Calibri"/>
                        </a:rPr>
                        <a:t>Welding</a:t>
                      </a:r>
                    </a:p>
                  </a:txBody>
                  <a:tcPr marL="91440" marR="91440" anchor="ctr">
                    <a:solidFill>
                      <a:srgbClr val="EAF3FF"/>
                    </a:solidFill>
                  </a:tcPr>
                </a:tc>
                <a:tc>
                  <a:txBody>
                    <a:bodyPr wrap="square"/>
                    <a:lstStyle/>
                    <a:p>
                      <a:r>
                        <a:rPr sz="1600" b="0">
                          <a:solidFill>
                            <a:srgbClr val="202122"/>
                          </a:solidFill>
                          <a:latin typeface="Calibri"/>
                        </a:rPr>
                        <a:t>MIG/MAG, TIG</a:t>
                      </a:r>
                    </a:p>
                  </a:txBody>
                  <a:tcPr marL="91440" marR="91440" anchor="ctr">
                    <a:solidFill>
                      <a:srgbClr val="EAF3FF"/>
                    </a:solidFill>
                  </a:tcPr>
                </a:tc>
                <a:tc>
                  <a:txBody>
                    <a:bodyPr wrap="square"/>
                    <a:lstStyle/>
                    <a:p>
                      <a:r>
                        <a:rPr sz="1600" b="0">
                          <a:solidFill>
                            <a:srgbClr val="202122"/>
                          </a:solidFill>
                          <a:latin typeface="Calibri"/>
                        </a:rPr>
                        <a:t>Strong permanent joints, heat distortion</a:t>
                      </a:r>
                    </a:p>
                  </a:txBody>
                  <a:tcPr marL="91440" marR="91440" anchor="ctr">
                    <a:solidFill>
                      <a:srgbClr val="EAF3FF"/>
                    </a:solidFill>
                  </a:tcPr>
                </a:tc>
              </a:tr>
              <a:tr h="646611">
                <a:tc>
                  <a:txBody>
                    <a:bodyPr wrap="square"/>
                    <a:lstStyle/>
                    <a:p>
                      <a:r>
                        <a:rPr sz="1600" b="1">
                          <a:solidFill>
                            <a:srgbClr val="03306E"/>
                          </a:solidFill>
                          <a:latin typeface="Calibri"/>
                        </a:rPr>
                        <a:t>3D printing</a:t>
                      </a:r>
                    </a:p>
                  </a:txBody>
                  <a:tcPr marL="91440" marR="91440" anchor="ctr">
                    <a:solidFill>
                      <a:srgbClr val="FFFFFF"/>
                    </a:solidFill>
                  </a:tcPr>
                </a:tc>
                <a:tc>
                  <a:txBody>
                    <a:bodyPr wrap="square"/>
                    <a:lstStyle/>
                    <a:p>
                      <a:r>
                        <a:rPr sz="1600" b="0">
                          <a:solidFill>
                            <a:srgbClr val="202122"/>
                          </a:solidFill>
                          <a:latin typeface="Calibri"/>
                        </a:rPr>
                        <a:t>Additive layers</a:t>
                      </a:r>
                    </a:p>
                  </a:txBody>
                  <a:tcPr marL="91440" marR="91440" anchor="ctr">
                    <a:solidFill>
                      <a:srgbClr val="FFFFFF"/>
                    </a:solidFill>
                  </a:tcPr>
                </a:tc>
                <a:tc>
                  <a:txBody>
                    <a:bodyPr wrap="square"/>
                    <a:lstStyle/>
                    <a:p>
                      <a:r>
                        <a:rPr sz="1600" b="0">
                          <a:solidFill>
                            <a:srgbClr val="202122"/>
                          </a:solidFill>
                          <a:latin typeface="Calibri"/>
                        </a:rPr>
                        <a:t>Complex one-offs, slow for volume</a:t>
                      </a:r>
                    </a:p>
                  </a:txBody>
                  <a:tcPr marL="91440" marR="91440" anchor="ctr">
                    <a:solidFill>
                      <a:srgbClr val="FFFFFF"/>
                    </a:solidFill>
                  </a:tcPr>
                </a:tc>
              </a:tr>
              <a:tr h="646611">
                <a:tc>
                  <a:txBody>
                    <a:bodyPr wrap="square"/>
                    <a:lstStyle/>
                    <a:p>
                      <a:r>
                        <a:rPr sz="1600" b="1">
                          <a:solidFill>
                            <a:srgbClr val="03306E"/>
                          </a:solidFill>
                          <a:latin typeface="Calibri"/>
                        </a:rPr>
                        <a:t>Joining and finishing</a:t>
                      </a:r>
                    </a:p>
                  </a:txBody>
                  <a:tcPr marL="91440" marR="91440" anchor="ctr">
                    <a:solidFill>
                      <a:srgbClr val="EAF3FF"/>
                    </a:solidFill>
                  </a:tcPr>
                </a:tc>
                <a:tc>
                  <a:txBody>
                    <a:bodyPr wrap="square"/>
                    <a:lstStyle/>
                    <a:p>
                      <a:r>
                        <a:rPr sz="1600" b="0">
                          <a:solidFill>
                            <a:srgbClr val="202122"/>
                          </a:solidFill>
                          <a:latin typeface="Calibri"/>
                        </a:rPr>
                        <a:t>Fixings, adhesives, coatings, assembly</a:t>
                      </a:r>
                    </a:p>
                  </a:txBody>
                  <a:tcPr marL="91440" marR="91440" anchor="ctr">
                    <a:solidFill>
                      <a:srgbClr val="EAF3FF"/>
                    </a:solidFill>
                  </a:tcPr>
                </a:tc>
                <a:tc>
                  <a:txBody>
                    <a:bodyPr wrap="square"/>
                    <a:lstStyle/>
                    <a:p>
                      <a:r>
                        <a:rPr sz="1600" b="0">
                          <a:solidFill>
                            <a:srgbClr val="202122"/>
                          </a:solidFill>
                          <a:latin typeface="Calibri"/>
                        </a:rPr>
                        <a:t>Varies with method</a:t>
                      </a:r>
                    </a:p>
                  </a:txBody>
                  <a:tcPr marL="91440" marR="91440" anchor="ctr">
                    <a:solidFill>
                      <a:srgbClr val="EAF3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Manufacturing processes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welding process gives the neatest finish on thin stainless steel?</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is casting costly for small quantities?</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forming need from the material?</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is a factor of safety?</a:t>
            </a:r>
          </a:p>
        </p:txBody>
      </p:sp>
      <p:sp>
        <p:nvSpPr>
          <p:cNvPr id="8" name="Oval 7"/>
          <p:cNvSpPr/>
          <p:nvPr/>
        </p:nvSpPr>
        <p:spPr>
          <a:xfrm>
            <a:off x="548640" y="2814066"/>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Why use standard parts?</a:t>
            </a:r>
          </a:p>
        </p:txBody>
      </p:sp>
      <p:sp>
        <p:nvSpPr>
          <p:cNvPr id="10" name="Oval 9"/>
          <p:cNvSpPr/>
          <p:nvPr/>
        </p:nvSpPr>
        <p:spPr>
          <a:xfrm>
            <a:off x="548640" y="4009644"/>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Which welding process suits thin stainless steel with a neat finish?</a:t>
            </a:r>
          </a:p>
        </p:txBody>
      </p:sp>
      <p:sp>
        <p:nvSpPr>
          <p:cNvPr id="12" name="Oval 11"/>
          <p:cNvSpPr/>
          <p:nvPr/>
        </p:nvSpPr>
        <p:spPr>
          <a:xfrm>
            <a:off x="548640" y="5205221"/>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Why do tolerances matter for assembly?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is a factor of safety?</a:t>
            </a:r>
          </a:p>
          <a:p>
            <a:r>
              <a:rPr sz="1800" b="1">
                <a:solidFill>
                  <a:srgbClr val="03306E"/>
                </a:solidFill>
                <a:latin typeface="Calibri"/>
              </a:rPr>
              <a:t>The ratio of a design's strength to the load it is expected to carry.</a:t>
            </a:r>
          </a:p>
        </p:txBody>
      </p:sp>
      <p:sp>
        <p:nvSpPr>
          <p:cNvPr id="8" name="Oval 7"/>
          <p:cNvSpPr/>
          <p:nvPr/>
        </p:nvSpPr>
        <p:spPr>
          <a:xfrm>
            <a:off x="548640" y="2814066"/>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Why use standard parts?</a:t>
            </a:r>
          </a:p>
          <a:p>
            <a:r>
              <a:rPr sz="1800" b="1">
                <a:solidFill>
                  <a:srgbClr val="03306E"/>
                </a:solidFill>
                <a:latin typeface="Calibri"/>
              </a:rPr>
              <a:t>Cheaper, proven, easy to replace and source.</a:t>
            </a:r>
          </a:p>
        </p:txBody>
      </p:sp>
      <p:sp>
        <p:nvSpPr>
          <p:cNvPr id="10" name="Oval 9"/>
          <p:cNvSpPr/>
          <p:nvPr/>
        </p:nvSpPr>
        <p:spPr>
          <a:xfrm>
            <a:off x="548640" y="4009644"/>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Which welding process suits thin stainless steel with a neat finish?</a:t>
            </a:r>
          </a:p>
          <a:p>
            <a:r>
              <a:rPr sz="1800" b="1">
                <a:solidFill>
                  <a:srgbClr val="03306E"/>
                </a:solidFill>
                <a:latin typeface="Calibri"/>
              </a:rPr>
              <a:t>TIG.</a:t>
            </a:r>
          </a:p>
        </p:txBody>
      </p:sp>
      <p:sp>
        <p:nvSpPr>
          <p:cNvPr id="12" name="Oval 11"/>
          <p:cNvSpPr/>
          <p:nvPr/>
        </p:nvSpPr>
        <p:spPr>
          <a:xfrm>
            <a:off x="548640" y="5205221"/>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Why do tolerances matter for assembly?</a:t>
            </a:r>
          </a:p>
          <a:p>
            <a:r>
              <a:rPr sz="1800" b="1">
                <a:solidFill>
                  <a:srgbClr val="03306E"/>
                </a:solidFill>
                <a:latin typeface="Calibri"/>
              </a:rPr>
              <a:t>Parts must fit together as intended.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Process selection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Design and Development for Engineering and Manufacturing T Level  ·  Materials, Standard Parts and Manufacturing Processes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508760"/>
            <a:ext cx="2011680" cy="457200"/>
          </a:xfrm>
          <a:prstGeom prst="roundRect">
            <a:avLst>
              <a:gd name="adj" fmla="val 50000"/>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FFFFFF"/>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Three parts: a one-off prototype bracket, 10,000 plastic clips, and a steel frame.</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Choose a material and process for each.</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Name any standard parts you would buy in.</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Justify each choice.</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Process suits the quantity</a:t>
            </a:r>
          </a:p>
          <a:p>
            <a:pPr marL="274320" indent="-274320">
              <a:spcAft>
                <a:spcPts val="810"/>
              </a:spcAft>
              <a:buClr>
                <a:srgbClr val="0645AD"/>
              </a:buClr>
              <a:buFont typeface="Arial"/>
              <a:buChar char="•"/>
            </a:pPr>
            <a:r>
              <a:rPr sz="1800" b="0">
                <a:solidFill>
                  <a:srgbClr val="202122"/>
                </a:solidFill>
                <a:latin typeface="Calibri"/>
              </a:rPr>
              <a:t>Material suits the function</a:t>
            </a:r>
          </a:p>
          <a:p>
            <a:pPr marL="274320" indent="-274320">
              <a:spcAft>
                <a:spcPts val="810"/>
              </a:spcAft>
              <a:buClr>
                <a:srgbClr val="0645AD"/>
              </a:buClr>
              <a:buFont typeface="Arial"/>
              <a:buChar char="•"/>
            </a:pPr>
            <a:r>
              <a:rPr sz="1800" b="0">
                <a:solidFill>
                  <a:srgbClr val="202122"/>
                </a:solidFill>
                <a:latin typeface="Calibri"/>
              </a:rPr>
              <a:t>Standard parts sensibly used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MECHANICAL ENGINEERING  ·  Mechanical: Knowledge criteria</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When is 3D printing the best process?</a:t>
            </a:r>
          </a:p>
        </p:txBody>
      </p:sp>
      <p:sp>
        <p:nvSpPr>
          <p:cNvPr id="6" name="Oval 5"/>
          <p:cNvSpPr/>
          <p:nvPr/>
        </p:nvSpPr>
        <p:spPr>
          <a:xfrm>
            <a:off x="548640" y="26974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is the difference between MIG and TIG?</a:t>
            </a:r>
          </a:p>
        </p:txBody>
      </p:sp>
      <p:sp>
        <p:nvSpPr>
          <p:cNvPr id="8" name="Oval 7"/>
          <p:cNvSpPr/>
          <p:nvPr/>
        </p:nvSpPr>
        <p:spPr>
          <a:xfrm>
            <a:off x="548640" y="365760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Why choose a polymer over a metal?</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Knowledge Criteria</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https://lana6478.github.io/T-level-Design-Development-Engineering-Manufacturing/#/02-occupational-specialism/01-knowledge-criteria.md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Materials, Standard Parts and Manufacturing Processes</dc:title>
  <dc:subject>Design and Development for Engineering and Manufacturing T Level: Mechanical: Knowledge criteria</dc:subject>
  <dc:creator>Samuel O'Connell</dc:creator>
  <cp:keywords>T Level; Design and Development for Engineering and Manufacturing; lesson slides; 1.10, 1.11</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