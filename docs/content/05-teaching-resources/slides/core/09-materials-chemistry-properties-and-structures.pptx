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Valence (outer) electrons.</a:t>
            </a:r>
          </a:p>
          <a:p>
            <a:r>
              <a:t>2. Metallic bonding lets electrons move freely.</a:t>
            </a:r>
          </a:p>
          <a:p>
            <a:r>
              <a:t>3. E.g. electroplating.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Hardness resists scratching; toughness resists breaking on impact.</a:t>
            </a:r>
          </a:p>
          <a:p>
            <a:r>
              <a:t>2. 2,700 kg per cubic metre.</a:t>
            </a:r>
          </a:p>
          <a:p>
            <a:r>
              <a:t>3. The ability to be drawn into wire.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One containing iron.</a:t>
            </a:r>
          </a:p>
          <a:p>
            <a:r>
              <a:t>2. Thermoplastics can be reshaped when heated; thermosets set permanently.</a:t>
            </a:r>
          </a:p>
          <a:p>
            <a:r>
              <a:t>3. High strength with low weight.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F2B705"/>
                </a:solidFill>
                <a:latin typeface="Calibri"/>
              </a:rPr>
              <a:t>ENGINEERING CORE</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Materials: Chemistry, Properties and Structures</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Core topics 5 and 6</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5.5, 6.1, 6.2</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Design and Development for Engineering and Manufacturing T Level  ·  Lesson slides</a:t>
            </a:r>
          </a:p>
          <a:p>
            <a:pPr algn="l"/>
            <a:r>
              <a:rPr sz="1100" b="0" i="0">
                <a:solidFill>
                  <a:srgbClr val="A9C8F0"/>
                </a:solidFill>
                <a:latin typeface="Calibri"/>
              </a:rPr>
              <a:t>Unofficial teaching resource. Check the official City &amp; Guilds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topics 5 and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Materials: Chemistry, Properties and Structures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Describe atomic structure, bonding and chemical behaviour of materials.</a:t>
            </a:r>
          </a:p>
        </p:txBody>
      </p:sp>
      <p:sp>
        <p:nvSpPr>
          <p:cNvPr id="9" name="Oval 8"/>
          <p:cNvSpPr/>
          <p:nvPr/>
        </p:nvSpPr>
        <p:spPr>
          <a:xfrm>
            <a:off x="548640" y="327469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Distinguish physical and mechanical properties and calculate density.</a:t>
            </a:r>
          </a:p>
        </p:txBody>
      </p:sp>
      <p:sp>
        <p:nvSpPr>
          <p:cNvPr id="11" name="Oval 10"/>
          <p:cNvSpPr/>
          <p:nvPr/>
        </p:nvSpPr>
        <p:spPr>
          <a:xfrm>
            <a:off x="548640" y="4314825"/>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Describe the main families of engineering materials.</a:t>
            </a:r>
          </a:p>
        </p:txBody>
      </p:sp>
      <p:sp>
        <p:nvSpPr>
          <p:cNvPr id="13" name="Oval 12"/>
          <p:cNvSpPr/>
          <p:nvPr/>
        </p:nvSpPr>
        <p:spPr>
          <a:xfrm>
            <a:off x="548640" y="5354954"/>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Describe smart materials and their uses.</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Why is a kettle's body made of metal or plastic, but its handle always plastic?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topics 5 and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Chemistry for engineers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Materials: Chemistry, Properties and Structures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Atoms have a nucleus of protons and neutrons, surrounded by electrons. The outer (valence) electrons form bonds, which give materials their properties.</a:t>
            </a:r>
          </a:p>
          <a:p>
            <a:pPr>
              <a:spcAft>
                <a:spcPts val="1200"/>
              </a:spcAft>
            </a:pPr>
            <a:r>
              <a:rPr sz="2000" b="0">
                <a:solidFill>
                  <a:srgbClr val="202122"/>
                </a:solidFill>
                <a:latin typeface="Calibri"/>
              </a:rPr>
              <a:t>Metallic bonds share a 'sea' of electrons, making metals conduct and bend. Covalent bonds share electrons between atoms, giving strong, often brittle materials. Ionic bonds transfer electrons between atoms. Weak van der Waals forces hold polymer chains together.</a:t>
            </a:r>
          </a:p>
          <a:p>
            <a:pPr>
              <a:spcAft>
                <a:spcPts val="1200"/>
              </a:spcAft>
            </a:pPr>
            <a:r>
              <a:rPr sz="2000" b="0">
                <a:solidFill>
                  <a:srgbClr val="202122"/>
                </a:solidFill>
                <a:latin typeface="Calibri"/>
              </a:rPr>
              <a:t>Chemistry also matters for cells and batteries, electrolysis (used in plating) and how metals react with acids and alkalis, which is used in etching and surface finishing.</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Copper conducts electricity well because its metallic bonding lets electrons move freely.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topics 5 and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Chemistry for engineers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Materials: Chemistry, Properties and Structures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ounded Rectangle 5"/>
          <p:cNvSpPr/>
          <p:nvPr/>
        </p:nvSpPr>
        <p:spPr>
          <a:xfrm>
            <a:off x="548640"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Atoms</a:t>
            </a:r>
          </a:p>
        </p:txBody>
      </p:sp>
      <p:sp>
        <p:nvSpPr>
          <p:cNvPr id="9" name="TextBox 8"/>
          <p:cNvSpPr txBox="1"/>
          <p:nvPr/>
        </p:nvSpPr>
        <p:spPr>
          <a:xfrm>
            <a:off x="777240" y="2468880"/>
            <a:ext cx="4952847" cy="1143000"/>
          </a:xfrm>
          <a:prstGeom prst="rect">
            <a:avLst/>
          </a:prstGeom>
          <a:noFill/>
        </p:spPr>
        <p:txBody>
          <a:bodyPr wrap="square" anchor="t" lIns="0" rIns="0" tIns="0" bIns="0"/>
          <a:lstStyle/>
          <a:p>
            <a:pPr algn="l"/>
            <a:r>
              <a:rPr sz="2000" b="0" i="0">
                <a:solidFill>
                  <a:srgbClr val="202122"/>
                </a:solidFill>
                <a:latin typeface="Calibri"/>
              </a:rPr>
              <a:t>Nucleus of protons and neutrons, surrounded by electrons; valence electrons form bonds.</a:t>
            </a:r>
          </a:p>
        </p:txBody>
      </p:sp>
      <p:sp>
        <p:nvSpPr>
          <p:cNvPr id="10" name="Rounded Rectangle 9"/>
          <p:cNvSpPr/>
          <p:nvPr/>
        </p:nvSpPr>
        <p:spPr>
          <a:xfrm>
            <a:off x="6233007"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Bonding</a:t>
            </a:r>
          </a:p>
        </p:txBody>
      </p:sp>
      <p:sp>
        <p:nvSpPr>
          <p:cNvPr id="13" name="TextBox 12"/>
          <p:cNvSpPr txBox="1"/>
          <p:nvPr/>
        </p:nvSpPr>
        <p:spPr>
          <a:xfrm>
            <a:off x="6461607" y="2468880"/>
            <a:ext cx="4952847" cy="1143000"/>
          </a:xfrm>
          <a:prstGeom prst="rect">
            <a:avLst/>
          </a:prstGeom>
          <a:noFill/>
        </p:spPr>
        <p:txBody>
          <a:bodyPr wrap="square" anchor="t" lIns="0" rIns="0" tIns="0" bIns="0"/>
          <a:lstStyle/>
          <a:p>
            <a:pPr algn="l"/>
            <a:r>
              <a:rPr sz="2000" b="0" i="0">
                <a:solidFill>
                  <a:srgbClr val="202122"/>
                </a:solidFill>
                <a:latin typeface="Calibri"/>
              </a:rPr>
              <a:t>Metallic, covalent, ionic and van der Waals bonds.</a:t>
            </a:r>
          </a:p>
        </p:txBody>
      </p:sp>
      <p:sp>
        <p:nvSpPr>
          <p:cNvPr id="14" name="Rounded Rectangle 13"/>
          <p:cNvSpPr/>
          <p:nvPr/>
        </p:nvSpPr>
        <p:spPr>
          <a:xfrm>
            <a:off x="548640"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1371600" y="4224528"/>
            <a:ext cx="4404207" cy="512064"/>
          </a:xfrm>
          <a:prstGeom prst="rect">
            <a:avLst/>
          </a:prstGeom>
          <a:noFill/>
        </p:spPr>
        <p:txBody>
          <a:bodyPr wrap="square" anchor="ctr" lIns="0" rIns="0" tIns="0" bIns="0"/>
          <a:lstStyle/>
          <a:p>
            <a:pPr algn="l"/>
            <a:r>
              <a:rPr sz="1900" b="1" i="0">
                <a:solidFill>
                  <a:srgbClr val="03306E"/>
                </a:solidFill>
                <a:latin typeface="Calibri"/>
              </a:rPr>
              <a:t>Electrical chemistry</a:t>
            </a:r>
          </a:p>
        </p:txBody>
      </p:sp>
      <p:sp>
        <p:nvSpPr>
          <p:cNvPr id="17" name="TextBox 16"/>
          <p:cNvSpPr txBox="1"/>
          <p:nvPr/>
        </p:nvSpPr>
        <p:spPr>
          <a:xfrm>
            <a:off x="777240" y="4892040"/>
            <a:ext cx="4952847" cy="1143000"/>
          </a:xfrm>
          <a:prstGeom prst="rect">
            <a:avLst/>
          </a:prstGeom>
          <a:noFill/>
        </p:spPr>
        <p:txBody>
          <a:bodyPr wrap="square" anchor="t" lIns="0" rIns="0" tIns="0" bIns="0"/>
          <a:lstStyle/>
          <a:p>
            <a:pPr algn="l"/>
            <a:r>
              <a:rPr sz="2000" b="0" i="0">
                <a:solidFill>
                  <a:srgbClr val="202122"/>
                </a:solidFill>
                <a:latin typeface="Calibri"/>
              </a:rPr>
              <a:t>Cells, capacity, internal resistance and electrolysis.</a:t>
            </a:r>
          </a:p>
        </p:txBody>
      </p:sp>
      <p:sp>
        <p:nvSpPr>
          <p:cNvPr id="18" name="Rounded Rectangle 17"/>
          <p:cNvSpPr/>
          <p:nvPr/>
        </p:nvSpPr>
        <p:spPr>
          <a:xfrm>
            <a:off x="6233007"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7"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7055967" y="4224528"/>
            <a:ext cx="4404207" cy="512064"/>
          </a:xfrm>
          <a:prstGeom prst="rect">
            <a:avLst/>
          </a:prstGeom>
          <a:noFill/>
        </p:spPr>
        <p:txBody>
          <a:bodyPr wrap="square" anchor="ctr" lIns="0" rIns="0" tIns="0" bIns="0"/>
          <a:lstStyle/>
          <a:p>
            <a:pPr algn="l"/>
            <a:r>
              <a:rPr sz="1900" b="1" i="0">
                <a:solidFill>
                  <a:srgbClr val="03306E"/>
                </a:solidFill>
                <a:latin typeface="Calibri"/>
              </a:rPr>
              <a:t>Reactions</a:t>
            </a:r>
          </a:p>
        </p:txBody>
      </p:sp>
      <p:sp>
        <p:nvSpPr>
          <p:cNvPr id="21" name="TextBox 20"/>
          <p:cNvSpPr txBox="1"/>
          <p:nvPr/>
        </p:nvSpPr>
        <p:spPr>
          <a:xfrm>
            <a:off x="6461607" y="4892040"/>
            <a:ext cx="4952847" cy="1143000"/>
          </a:xfrm>
          <a:prstGeom prst="rect">
            <a:avLst/>
          </a:prstGeom>
          <a:noFill/>
        </p:spPr>
        <p:txBody>
          <a:bodyPr wrap="square" anchor="t" lIns="0" rIns="0" tIns="0" bIns="0"/>
          <a:lstStyle/>
          <a:p>
            <a:pPr algn="l"/>
            <a:r>
              <a:rPr sz="2000" b="0" i="0">
                <a:solidFill>
                  <a:srgbClr val="202122"/>
                </a:solidFill>
                <a:latin typeface="Calibri"/>
              </a:rPr>
              <a:t>Metals react with acids and alkalis: used in etching and surface finishing.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topics 5 and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Chemistry for engineers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Materials: Chemistry, Properties and Structures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particles form bonds?</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Why do metals conduct electricity?</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is electrolysis used for in engineering?</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topics 5 and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Properties of materials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Materials: Chemistry, Properties and Structures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Physical properties describe how a material behaves without being loaded: density, melting point, thermal and electrical conductivity, expansivity, corrosion resistance, weldability and recyclability.</a:t>
            </a:r>
          </a:p>
          <a:p>
            <a:pPr>
              <a:spcAft>
                <a:spcPts val="1260"/>
              </a:spcAft>
            </a:pPr>
            <a:r>
              <a:rPr sz="2100" b="0">
                <a:solidFill>
                  <a:srgbClr val="202122"/>
                </a:solidFill>
                <a:latin typeface="Calibri"/>
              </a:rPr>
              <a:t>Mechanical properties describe how it responds to force. Strength resists breaking under tension, compression, shear or torsion. Hardness resists scratching and wear. Toughness absorbs impact without breaking; brittleness is the opposite. Ductility lets it be drawn into wire; malleability lets it be hammered into shape. Elasticity means it returns to shape; plasticity means it stays deformed.</a:t>
            </a:r>
          </a:p>
          <a:p>
            <a:pPr>
              <a:spcAft>
                <a:spcPts val="1260"/>
              </a:spcAft>
            </a:pPr>
            <a:r>
              <a:rPr sz="2100" b="0">
                <a:solidFill>
                  <a:srgbClr val="202122"/>
                </a:solidFill>
                <a:latin typeface="Calibri"/>
              </a:rPr>
              <a:t>Density = mass / volume.</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Glass is hard but brittle: it resists scratches but shatters on impact. Rubber is tough and elastic.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topics 5 and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Properties of materials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Materials: Chemistry, Properties and Structures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Physical</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Density = mass / volume</a:t>
            </a:r>
          </a:p>
          <a:p>
            <a:pPr marL="274320" indent="-274320">
              <a:spcAft>
                <a:spcPts val="990"/>
              </a:spcAft>
              <a:buClr>
                <a:srgbClr val="0645AD"/>
              </a:buClr>
              <a:buFont typeface="Arial"/>
              <a:buChar char="•"/>
            </a:pPr>
            <a:r>
              <a:rPr sz="2200" b="0">
                <a:solidFill>
                  <a:srgbClr val="202122"/>
                </a:solidFill>
                <a:latin typeface="Calibri"/>
              </a:rPr>
              <a:t>Melting point</a:t>
            </a:r>
          </a:p>
          <a:p>
            <a:pPr marL="274320" indent="-274320">
              <a:spcAft>
                <a:spcPts val="990"/>
              </a:spcAft>
              <a:buClr>
                <a:srgbClr val="0645AD"/>
              </a:buClr>
              <a:buFont typeface="Arial"/>
              <a:buChar char="•"/>
            </a:pPr>
            <a:r>
              <a:rPr sz="2200" b="0">
                <a:solidFill>
                  <a:srgbClr val="202122"/>
                </a:solidFill>
                <a:latin typeface="Calibri"/>
              </a:rPr>
              <a:t>Thermal and electrical conductivity</a:t>
            </a:r>
          </a:p>
          <a:p>
            <a:pPr marL="274320" indent="-274320">
              <a:spcAft>
                <a:spcPts val="990"/>
              </a:spcAft>
              <a:buClr>
                <a:srgbClr val="0645AD"/>
              </a:buClr>
              <a:buFont typeface="Arial"/>
              <a:buChar char="•"/>
            </a:pPr>
            <a:r>
              <a:rPr sz="2200" b="0">
                <a:solidFill>
                  <a:srgbClr val="202122"/>
                </a:solidFill>
                <a:latin typeface="Calibri"/>
              </a:rPr>
              <a:t>Thermal expansivity, corrosion resistance</a:t>
            </a:r>
          </a:p>
          <a:p>
            <a:pPr marL="274320" indent="-274320">
              <a:spcAft>
                <a:spcPts val="990"/>
              </a:spcAft>
              <a:buClr>
                <a:srgbClr val="0645AD"/>
              </a:buClr>
              <a:buFont typeface="Arial"/>
              <a:buChar char="•"/>
            </a:pPr>
            <a:r>
              <a:rPr sz="2200" b="0">
                <a:solidFill>
                  <a:srgbClr val="202122"/>
                </a:solidFill>
                <a:latin typeface="Calibri"/>
              </a:rPr>
              <a:t>Weldability, recyclability</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Mechanical</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1">
                <a:solidFill>
                  <a:srgbClr val="202122"/>
                </a:solidFill>
                <a:latin typeface="Calibri"/>
              </a:rPr>
              <a:t>Strength:</a:t>
            </a:r>
            <a:r>
              <a:rPr sz="2200" b="0">
                <a:solidFill>
                  <a:srgbClr val="202122"/>
                </a:solidFill>
                <a:latin typeface="Calibri"/>
              </a:rPr>
              <a:t> tensile, compressive, shear, torsion</a:t>
            </a:r>
          </a:p>
          <a:p>
            <a:pPr marL="274320" indent="-274320">
              <a:spcAft>
                <a:spcPts val="990"/>
              </a:spcAft>
              <a:buClr>
                <a:srgbClr val="0645AD"/>
              </a:buClr>
              <a:buFont typeface="Arial"/>
              <a:buChar char="•"/>
            </a:pPr>
            <a:r>
              <a:rPr sz="2200" b="0">
                <a:solidFill>
                  <a:srgbClr val="202122"/>
                </a:solidFill>
                <a:latin typeface="Calibri"/>
              </a:rPr>
              <a:t>Hardness and toughness</a:t>
            </a:r>
          </a:p>
          <a:p>
            <a:pPr marL="274320" indent="-274320">
              <a:spcAft>
                <a:spcPts val="990"/>
              </a:spcAft>
              <a:buClr>
                <a:srgbClr val="0645AD"/>
              </a:buClr>
              <a:buFont typeface="Arial"/>
              <a:buChar char="•"/>
            </a:pPr>
            <a:r>
              <a:rPr sz="2200" b="0">
                <a:solidFill>
                  <a:srgbClr val="202122"/>
                </a:solidFill>
                <a:latin typeface="Calibri"/>
              </a:rPr>
              <a:t>Brittleness and ductility</a:t>
            </a:r>
          </a:p>
          <a:p>
            <a:pPr marL="274320" indent="-274320">
              <a:spcAft>
                <a:spcPts val="990"/>
              </a:spcAft>
              <a:buClr>
                <a:srgbClr val="0645AD"/>
              </a:buClr>
              <a:buFont typeface="Arial"/>
              <a:buChar char="•"/>
            </a:pPr>
            <a:r>
              <a:rPr sz="2200" b="0">
                <a:solidFill>
                  <a:srgbClr val="202122"/>
                </a:solidFill>
                <a:latin typeface="Calibri"/>
              </a:rPr>
              <a:t>Elasticity and plasticity</a:t>
            </a:r>
          </a:p>
          <a:p>
            <a:pPr marL="274320" indent="-274320">
              <a:spcAft>
                <a:spcPts val="990"/>
              </a:spcAft>
              <a:buClr>
                <a:srgbClr val="0645AD"/>
              </a:buClr>
              <a:buFont typeface="Arial"/>
              <a:buChar char="•"/>
            </a:pPr>
            <a:r>
              <a:rPr sz="2200" b="0">
                <a:solidFill>
                  <a:srgbClr val="202122"/>
                </a:solidFill>
                <a:latin typeface="Calibri"/>
              </a:rPr>
              <a:t>Malleability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topics 5 and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Properties of materials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Materials: Chemistry, Properties and Structures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the difference between hardness and toughness?</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A 5.4 kg block is 0.002 cubic metres. What is its density?</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is ductility?</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topics 5 and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Families of materials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Materials: Chemistry, Properties and Structures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Ferrous metals contain iron, such as steels and cast iron. They're strong but most rust. Non-ferrous metals, such as aluminium, copper and brass, don't rust and are often lighter.</a:t>
            </a:r>
          </a:p>
          <a:p>
            <a:pPr>
              <a:spcAft>
                <a:spcPts val="1320"/>
              </a:spcAft>
            </a:pPr>
            <a:r>
              <a:rPr sz="2200" b="0">
                <a:solidFill>
                  <a:srgbClr val="202122"/>
                </a:solidFill>
                <a:latin typeface="Calibri"/>
              </a:rPr>
              <a:t>Thermoplastics, such as ABS and acrylic, soften when heated and can be reshaped and recycled. Thermosets, such as epoxy resin, set permanently when cured. Elastomers, such as rubber, stretch and return.</a:t>
            </a:r>
          </a:p>
          <a:p>
            <a:pPr>
              <a:spcAft>
                <a:spcPts val="1320"/>
              </a:spcAft>
            </a:pPr>
            <a:r>
              <a:rPr sz="2200" b="1">
                <a:solidFill>
                  <a:srgbClr val="202122"/>
                </a:solidFill>
                <a:latin typeface="Calibri"/>
              </a:rPr>
              <a:t>Composites combine materials:</a:t>
            </a:r>
            <a:r>
              <a:rPr sz="2200" b="0">
                <a:solidFill>
                  <a:srgbClr val="202122"/>
                </a:solidFill>
                <a:latin typeface="Calibri"/>
              </a:rPr>
              <a:t> glass or carbon fibre in resin gives strength with low weight. Ceramics are hard and heat-resistant but brittle.</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 bike frame might be steel (ferrous, cheap), aluminium (non-ferrous, light) or carbon fibre composite (very light, expensive).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topics 5 and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Families of materials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Materials: Chemistry, Properties and Structures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graphicFrame>
        <p:nvGraphicFramePr>
          <p:cNvPr id="6" name="Table 5"/>
          <p:cNvGraphicFramePr>
            <a:graphicFrameLocks noGrp="1"/>
          </p:cNvGraphicFramePr>
          <p:nvPr/>
        </p:nvGraphicFramePr>
        <p:xfrm>
          <a:off x="548640" y="1600200"/>
          <a:ext cx="11094414" cy="4526277"/>
        </p:xfrm>
        <a:graphic>
          <a:graphicData uri="http://schemas.openxmlformats.org/drawingml/2006/table">
            <a:tbl>
              <a:tblPr firstRow="1" bandRow="1">
                <a:tableStyleId>{5C22544A-7EE6-4342-B048-85BDC9FD1C3A}</a:tableStyleId>
              </a:tblPr>
              <a:tblGrid>
                <a:gridCol w="3354125"/>
                <a:gridCol w="7740289"/>
              </a:tblGrid>
              <a:tr h="646611">
                <a:tc>
                  <a:txBody>
                    <a:bodyPr wrap="square"/>
                    <a:lstStyle/>
                    <a:p>
                      <a:r>
                        <a:rPr sz="1600" b="1">
                          <a:solidFill>
                            <a:srgbClr val="FFFFFF"/>
                          </a:solidFill>
                          <a:latin typeface="Calibri"/>
                        </a:rPr>
                        <a:t>Family</a:t>
                      </a:r>
                    </a:p>
                  </a:txBody>
                  <a:tcPr marL="91440" marR="91440" anchor="ctr">
                    <a:solidFill>
                      <a:srgbClr val="03306E"/>
                    </a:solidFill>
                  </a:tcPr>
                </a:tc>
                <a:tc>
                  <a:txBody>
                    <a:bodyPr wrap="square"/>
                    <a:lstStyle/>
                    <a:p>
                      <a:r>
                        <a:rPr sz="1600" b="1">
                          <a:solidFill>
                            <a:srgbClr val="FFFFFF"/>
                          </a:solidFill>
                          <a:latin typeface="Calibri"/>
                        </a:rPr>
                        <a:t>Examples</a:t>
                      </a:r>
                    </a:p>
                  </a:txBody>
                  <a:tcPr marL="91440" marR="91440" anchor="ctr">
                    <a:solidFill>
                      <a:srgbClr val="03306E"/>
                    </a:solidFill>
                  </a:tcPr>
                </a:tc>
              </a:tr>
              <a:tr h="646611">
                <a:tc>
                  <a:txBody>
                    <a:bodyPr wrap="square"/>
                    <a:lstStyle/>
                    <a:p>
                      <a:r>
                        <a:rPr sz="1600" b="1">
                          <a:solidFill>
                            <a:srgbClr val="03306E"/>
                          </a:solidFill>
                          <a:latin typeface="Calibri"/>
                        </a:rPr>
                        <a:t>Ferrous metals</a:t>
                      </a:r>
                    </a:p>
                  </a:txBody>
                  <a:tcPr marL="91440" marR="91440" anchor="ctr">
                    <a:solidFill>
                      <a:srgbClr val="FFFFFF"/>
                    </a:solidFill>
                  </a:tcPr>
                </a:tc>
                <a:tc>
                  <a:txBody>
                    <a:bodyPr wrap="square"/>
                    <a:lstStyle/>
                    <a:p>
                      <a:r>
                        <a:rPr sz="1600" b="0">
                          <a:solidFill>
                            <a:srgbClr val="202122"/>
                          </a:solidFill>
                          <a:latin typeface="Calibri"/>
                        </a:rPr>
                        <a:t>Cast iron, carbon steels, stainless steel</a:t>
                      </a:r>
                    </a:p>
                  </a:txBody>
                  <a:tcPr marL="91440" marR="91440" anchor="ctr">
                    <a:solidFill>
                      <a:srgbClr val="FFFFFF"/>
                    </a:solidFill>
                  </a:tcPr>
                </a:tc>
              </a:tr>
              <a:tr h="646611">
                <a:tc>
                  <a:txBody>
                    <a:bodyPr wrap="square"/>
                    <a:lstStyle/>
                    <a:p>
                      <a:r>
                        <a:rPr sz="1600" b="1">
                          <a:solidFill>
                            <a:srgbClr val="03306E"/>
                          </a:solidFill>
                          <a:latin typeface="Calibri"/>
                        </a:rPr>
                        <a:t>Non-ferrous metals</a:t>
                      </a:r>
                    </a:p>
                  </a:txBody>
                  <a:tcPr marL="91440" marR="91440" anchor="ctr">
                    <a:solidFill>
                      <a:srgbClr val="EAF3FF"/>
                    </a:solidFill>
                  </a:tcPr>
                </a:tc>
                <a:tc>
                  <a:txBody>
                    <a:bodyPr wrap="square"/>
                    <a:lstStyle/>
                    <a:p>
                      <a:r>
                        <a:rPr sz="1600" b="0">
                          <a:solidFill>
                            <a:srgbClr val="202122"/>
                          </a:solidFill>
                          <a:latin typeface="Calibri"/>
                        </a:rPr>
                        <a:t>Aluminium, copper, brass, zinc</a:t>
                      </a:r>
                    </a:p>
                  </a:txBody>
                  <a:tcPr marL="91440" marR="91440" anchor="ctr">
                    <a:solidFill>
                      <a:srgbClr val="EAF3FF"/>
                    </a:solidFill>
                  </a:tcPr>
                </a:tc>
              </a:tr>
              <a:tr h="646611">
                <a:tc>
                  <a:txBody>
                    <a:bodyPr wrap="square"/>
                    <a:lstStyle/>
                    <a:p>
                      <a:r>
                        <a:rPr sz="1600" b="1">
                          <a:solidFill>
                            <a:srgbClr val="03306E"/>
                          </a:solidFill>
                          <a:latin typeface="Calibri"/>
                        </a:rPr>
                        <a:t>Thermoplastics / thermosets</a:t>
                      </a:r>
                    </a:p>
                  </a:txBody>
                  <a:tcPr marL="91440" marR="91440" anchor="ctr">
                    <a:solidFill>
                      <a:srgbClr val="FFFFFF"/>
                    </a:solidFill>
                  </a:tcPr>
                </a:tc>
                <a:tc>
                  <a:txBody>
                    <a:bodyPr wrap="square"/>
                    <a:lstStyle/>
                    <a:p>
                      <a:r>
                        <a:rPr sz="1600" b="0">
                          <a:solidFill>
                            <a:srgbClr val="202122"/>
                          </a:solidFill>
                          <a:latin typeface="Calibri"/>
                        </a:rPr>
                        <a:t>ABS, acrylic / epoxy resin, melamine</a:t>
                      </a:r>
                    </a:p>
                  </a:txBody>
                  <a:tcPr marL="91440" marR="91440" anchor="ctr">
                    <a:solidFill>
                      <a:srgbClr val="FFFFFF"/>
                    </a:solidFill>
                  </a:tcPr>
                </a:tc>
              </a:tr>
              <a:tr h="646611">
                <a:tc>
                  <a:txBody>
                    <a:bodyPr wrap="square"/>
                    <a:lstStyle/>
                    <a:p>
                      <a:r>
                        <a:rPr sz="1600" b="1">
                          <a:solidFill>
                            <a:srgbClr val="03306E"/>
                          </a:solidFill>
                          <a:latin typeface="Calibri"/>
                        </a:rPr>
                        <a:t>Elastomers</a:t>
                      </a:r>
                    </a:p>
                  </a:txBody>
                  <a:tcPr marL="91440" marR="91440" anchor="ctr">
                    <a:solidFill>
                      <a:srgbClr val="EAF3FF"/>
                    </a:solidFill>
                  </a:tcPr>
                </a:tc>
                <a:tc>
                  <a:txBody>
                    <a:bodyPr wrap="square"/>
                    <a:lstStyle/>
                    <a:p>
                      <a:r>
                        <a:rPr sz="1600" b="0">
                          <a:solidFill>
                            <a:srgbClr val="202122"/>
                          </a:solidFill>
                          <a:latin typeface="Calibri"/>
                        </a:rPr>
                        <a:t>Rubber, neoprene</a:t>
                      </a:r>
                    </a:p>
                  </a:txBody>
                  <a:tcPr marL="91440" marR="91440" anchor="ctr">
                    <a:solidFill>
                      <a:srgbClr val="EAF3FF"/>
                    </a:solidFill>
                  </a:tcPr>
                </a:tc>
              </a:tr>
              <a:tr h="646611">
                <a:tc>
                  <a:txBody>
                    <a:bodyPr wrap="square"/>
                    <a:lstStyle/>
                    <a:p>
                      <a:r>
                        <a:rPr sz="1600" b="1">
                          <a:solidFill>
                            <a:srgbClr val="03306E"/>
                          </a:solidFill>
                          <a:latin typeface="Calibri"/>
                        </a:rPr>
                        <a:t>Composites</a:t>
                      </a:r>
                    </a:p>
                  </a:txBody>
                  <a:tcPr marL="91440" marR="91440" anchor="ctr">
                    <a:solidFill>
                      <a:srgbClr val="FFFFFF"/>
                    </a:solidFill>
                  </a:tcPr>
                </a:tc>
                <a:tc>
                  <a:txBody>
                    <a:bodyPr wrap="square"/>
                    <a:lstStyle/>
                    <a:p>
                      <a:r>
                        <a:rPr sz="1600" b="0">
                          <a:solidFill>
                            <a:srgbClr val="202122"/>
                          </a:solidFill>
                          <a:latin typeface="Calibri"/>
                        </a:rPr>
                        <a:t>GRP, carbon fibre (CRP), MDF</a:t>
                      </a:r>
                    </a:p>
                  </a:txBody>
                  <a:tcPr marL="91440" marR="91440" anchor="ctr">
                    <a:solidFill>
                      <a:srgbClr val="FFFFFF"/>
                    </a:solidFill>
                  </a:tcPr>
                </a:tc>
              </a:tr>
              <a:tr h="646611">
                <a:tc>
                  <a:txBody>
                    <a:bodyPr wrap="square"/>
                    <a:lstStyle/>
                    <a:p>
                      <a:r>
                        <a:rPr sz="1600" b="1">
                          <a:solidFill>
                            <a:srgbClr val="03306E"/>
                          </a:solidFill>
                          <a:latin typeface="Calibri"/>
                        </a:rPr>
                        <a:t>Ceramics</a:t>
                      </a:r>
                    </a:p>
                  </a:txBody>
                  <a:tcPr marL="91440" marR="91440" anchor="ctr">
                    <a:solidFill>
                      <a:srgbClr val="EAF3FF"/>
                    </a:solidFill>
                  </a:tcPr>
                </a:tc>
                <a:tc>
                  <a:txBody>
                    <a:bodyPr wrap="square"/>
                    <a:lstStyle/>
                    <a:p>
                      <a:r>
                        <a:rPr sz="1600" b="0">
                          <a:solidFill>
                            <a:srgbClr val="202122"/>
                          </a:solidFill>
                          <a:latin typeface="Calibri"/>
                        </a:rPr>
                        <a:t>Silicon carbide, glass</a:t>
                      </a:r>
                    </a:p>
                  </a:txBody>
                  <a:tcPr marL="91440" marR="91440" anchor="ctr">
                    <a:solidFill>
                      <a:srgbClr val="EAF3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topics 5 and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Families of materials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Materials: Chemistry, Properties and Structures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9164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a ferrous metal?</a:t>
            </a:r>
          </a:p>
        </p:txBody>
      </p:sp>
      <p:sp>
        <p:nvSpPr>
          <p:cNvPr id="8" name="Oval 7"/>
          <p:cNvSpPr/>
          <p:nvPr/>
        </p:nvSpPr>
        <p:spPr>
          <a:xfrm>
            <a:off x="548640" y="31089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is the difference between thermoplastics and thermosets?</a:t>
            </a:r>
          </a:p>
        </p:txBody>
      </p:sp>
      <p:sp>
        <p:nvSpPr>
          <p:cNvPr id="10" name="Oval 9"/>
          <p:cNvSpPr/>
          <p:nvPr/>
        </p:nvSpPr>
        <p:spPr>
          <a:xfrm>
            <a:off x="548640" y="45262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Why use composites?</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topics 5 and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Smart materials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Materials: Chemistry, Properties and Structures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Rounded Rectangle 5"/>
          <p:cNvSpPr/>
          <p:nvPr/>
        </p:nvSpPr>
        <p:spPr>
          <a:xfrm>
            <a:off x="548640"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Shape memory alloys</a:t>
            </a:r>
          </a:p>
        </p:txBody>
      </p:sp>
      <p:sp>
        <p:nvSpPr>
          <p:cNvPr id="9" name="TextBox 8"/>
          <p:cNvSpPr txBox="1"/>
          <p:nvPr/>
        </p:nvSpPr>
        <p:spPr>
          <a:xfrm>
            <a:off x="777240" y="2468880"/>
            <a:ext cx="4952847" cy="1143000"/>
          </a:xfrm>
          <a:prstGeom prst="rect">
            <a:avLst/>
          </a:prstGeom>
          <a:noFill/>
        </p:spPr>
        <p:txBody>
          <a:bodyPr wrap="square" anchor="t" lIns="0" rIns="0" tIns="0" bIns="0"/>
          <a:lstStyle/>
          <a:p>
            <a:pPr algn="l"/>
            <a:r>
              <a:rPr sz="2000" b="0" i="0">
                <a:solidFill>
                  <a:srgbClr val="202122"/>
                </a:solidFill>
                <a:latin typeface="Calibri"/>
              </a:rPr>
              <a:t>Return to a set shape when heated.</a:t>
            </a:r>
          </a:p>
        </p:txBody>
      </p:sp>
      <p:sp>
        <p:nvSpPr>
          <p:cNvPr id="10" name="Rounded Rectangle 9"/>
          <p:cNvSpPr/>
          <p:nvPr/>
        </p:nvSpPr>
        <p:spPr>
          <a:xfrm>
            <a:off x="6233007"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Quantum tunnelling composite</a:t>
            </a:r>
          </a:p>
        </p:txBody>
      </p:sp>
      <p:sp>
        <p:nvSpPr>
          <p:cNvPr id="13" name="TextBox 12"/>
          <p:cNvSpPr txBox="1"/>
          <p:nvPr/>
        </p:nvSpPr>
        <p:spPr>
          <a:xfrm>
            <a:off x="6461607" y="2468880"/>
            <a:ext cx="4952847" cy="1143000"/>
          </a:xfrm>
          <a:prstGeom prst="rect">
            <a:avLst/>
          </a:prstGeom>
          <a:noFill/>
        </p:spPr>
        <p:txBody>
          <a:bodyPr wrap="square" anchor="t" lIns="0" rIns="0" tIns="0" bIns="0"/>
          <a:lstStyle/>
          <a:p>
            <a:pPr algn="l"/>
            <a:r>
              <a:rPr sz="2000" b="0" i="0">
                <a:solidFill>
                  <a:srgbClr val="202122"/>
                </a:solidFill>
                <a:latin typeface="Calibri"/>
              </a:rPr>
              <a:t>Conducts when squeezed.</a:t>
            </a:r>
          </a:p>
        </p:txBody>
      </p:sp>
      <p:sp>
        <p:nvSpPr>
          <p:cNvPr id="14" name="Rounded Rectangle 13"/>
          <p:cNvSpPr/>
          <p:nvPr/>
        </p:nvSpPr>
        <p:spPr>
          <a:xfrm>
            <a:off x="548640"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1371600" y="4224528"/>
            <a:ext cx="4404207" cy="512064"/>
          </a:xfrm>
          <a:prstGeom prst="rect">
            <a:avLst/>
          </a:prstGeom>
          <a:noFill/>
        </p:spPr>
        <p:txBody>
          <a:bodyPr wrap="square" anchor="ctr" lIns="0" rIns="0" tIns="0" bIns="0"/>
          <a:lstStyle/>
          <a:p>
            <a:pPr algn="l"/>
            <a:r>
              <a:rPr sz="1900" b="1" i="0">
                <a:solidFill>
                  <a:srgbClr val="03306E"/>
                </a:solidFill>
                <a:latin typeface="Calibri"/>
              </a:rPr>
              <a:t>Thermochromic / photochromic</a:t>
            </a:r>
          </a:p>
        </p:txBody>
      </p:sp>
      <p:sp>
        <p:nvSpPr>
          <p:cNvPr id="17" name="TextBox 16"/>
          <p:cNvSpPr txBox="1"/>
          <p:nvPr/>
        </p:nvSpPr>
        <p:spPr>
          <a:xfrm>
            <a:off x="777240" y="4892040"/>
            <a:ext cx="4952847" cy="1143000"/>
          </a:xfrm>
          <a:prstGeom prst="rect">
            <a:avLst/>
          </a:prstGeom>
          <a:noFill/>
        </p:spPr>
        <p:txBody>
          <a:bodyPr wrap="square" anchor="t" lIns="0" rIns="0" tIns="0" bIns="0"/>
          <a:lstStyle/>
          <a:p>
            <a:pPr algn="l"/>
            <a:r>
              <a:rPr sz="2000" b="0" i="0">
                <a:solidFill>
                  <a:srgbClr val="202122"/>
                </a:solidFill>
                <a:latin typeface="Calibri"/>
              </a:rPr>
              <a:t>Change colour with heat / light.</a:t>
            </a:r>
          </a:p>
        </p:txBody>
      </p:sp>
      <p:sp>
        <p:nvSpPr>
          <p:cNvPr id="18" name="Rounded Rectangle 17"/>
          <p:cNvSpPr/>
          <p:nvPr/>
        </p:nvSpPr>
        <p:spPr>
          <a:xfrm>
            <a:off x="6233007"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7" y="4251960"/>
            <a:ext cx="457200" cy="45720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7055967" y="4224528"/>
            <a:ext cx="4404207" cy="512064"/>
          </a:xfrm>
          <a:prstGeom prst="rect">
            <a:avLst/>
          </a:prstGeom>
          <a:noFill/>
        </p:spPr>
        <p:txBody>
          <a:bodyPr wrap="square" anchor="ctr" lIns="0" rIns="0" tIns="0" bIns="0"/>
          <a:lstStyle/>
          <a:p>
            <a:pPr algn="l"/>
            <a:r>
              <a:rPr sz="1900" b="1" i="0">
                <a:solidFill>
                  <a:srgbClr val="03306E"/>
                </a:solidFill>
                <a:latin typeface="Calibri"/>
              </a:rPr>
              <a:t>Piezoelectric crystals</a:t>
            </a:r>
          </a:p>
        </p:txBody>
      </p:sp>
      <p:sp>
        <p:nvSpPr>
          <p:cNvPr id="21" name="TextBox 20"/>
          <p:cNvSpPr txBox="1"/>
          <p:nvPr/>
        </p:nvSpPr>
        <p:spPr>
          <a:xfrm>
            <a:off x="6461607" y="4892040"/>
            <a:ext cx="4952847" cy="1143000"/>
          </a:xfrm>
          <a:prstGeom prst="rect">
            <a:avLst/>
          </a:prstGeom>
          <a:noFill/>
        </p:spPr>
        <p:txBody>
          <a:bodyPr wrap="square" anchor="t" lIns="0" rIns="0" tIns="0" bIns="0"/>
          <a:lstStyle/>
          <a:p>
            <a:pPr algn="l"/>
            <a:r>
              <a:rPr sz="2000" b="0" i="0">
                <a:solidFill>
                  <a:srgbClr val="202122"/>
                </a:solidFill>
                <a:latin typeface="Calibri"/>
              </a:rPr>
              <a:t>Produce a voltage when stressed.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topics 5 and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Materials: Chemistry, Properties and Structures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2200" b="0" i="0">
                <a:solidFill>
                  <a:srgbClr val="202122"/>
                </a:solidFill>
                <a:latin typeface="Calibri"/>
              </a:rPr>
              <a:t>A block has mass 2.7 kg and volume 0.001 cubic metres. What is its density?</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2200" b="0" i="0">
                <a:solidFill>
                  <a:srgbClr val="202122"/>
                </a:solidFill>
                <a:latin typeface="Calibri"/>
              </a:rPr>
              <a:t>What is the difference between hardness and toughness?</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2200" b="0" i="0">
                <a:solidFill>
                  <a:srgbClr val="202122"/>
                </a:solidFill>
                <a:latin typeface="Calibri"/>
              </a:rPr>
              <a:t>Is brass ferrous or non-ferrous?</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2200" b="0" i="0">
                <a:solidFill>
                  <a:srgbClr val="202122"/>
                </a:solidFill>
                <a:latin typeface="Calibri"/>
              </a:rPr>
              <a:t>Which smart material produces a voltage under stress?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topics 5 and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Materials: Chemistry, Properties and Structures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Oval 5"/>
          <p:cNvSpPr/>
          <p:nvPr/>
        </p:nvSpPr>
        <p:spPr>
          <a:xfrm>
            <a:off x="548640" y="1618488"/>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1030986"/>
          </a:xfrm>
          <a:prstGeom prst="rect">
            <a:avLst/>
          </a:prstGeom>
          <a:noFill/>
        </p:spPr>
        <p:txBody>
          <a:bodyPr wrap="square" anchor="t" lIns="0" rIns="0" tIns="0" bIns="0"/>
          <a:lstStyle/>
          <a:p>
            <a:pPr algn="l"/>
            <a:r>
              <a:rPr sz="1800" b="0" i="0">
                <a:solidFill>
                  <a:srgbClr val="54595D"/>
                </a:solidFill>
                <a:latin typeface="Calibri"/>
              </a:rPr>
              <a:t>A block has mass 2.7 kg and volume 0.001 cubic metres. What is its density?</a:t>
            </a:r>
          </a:p>
          <a:p>
            <a:r>
              <a:rPr sz="1800" b="1">
                <a:solidFill>
                  <a:srgbClr val="03306E"/>
                </a:solidFill>
                <a:latin typeface="Calibri"/>
              </a:rPr>
              <a:t>2,700 kg per cubic metre (aluminium).</a:t>
            </a:r>
          </a:p>
        </p:txBody>
      </p:sp>
      <p:sp>
        <p:nvSpPr>
          <p:cNvPr id="8" name="Oval 7"/>
          <p:cNvSpPr/>
          <p:nvPr/>
        </p:nvSpPr>
        <p:spPr>
          <a:xfrm>
            <a:off x="548640" y="2814066"/>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795778"/>
            <a:ext cx="10408615" cy="1030986"/>
          </a:xfrm>
          <a:prstGeom prst="rect">
            <a:avLst/>
          </a:prstGeom>
          <a:noFill/>
        </p:spPr>
        <p:txBody>
          <a:bodyPr wrap="square" anchor="t" lIns="0" rIns="0" tIns="0" bIns="0"/>
          <a:lstStyle/>
          <a:p>
            <a:pPr algn="l"/>
            <a:r>
              <a:rPr sz="1800" b="0" i="0">
                <a:solidFill>
                  <a:srgbClr val="54595D"/>
                </a:solidFill>
                <a:latin typeface="Calibri"/>
              </a:rPr>
              <a:t>What is the difference between hardness and toughness?</a:t>
            </a:r>
          </a:p>
          <a:p>
            <a:r>
              <a:rPr sz="1800" b="1">
                <a:solidFill>
                  <a:srgbClr val="03306E"/>
                </a:solidFill>
                <a:latin typeface="Calibri"/>
              </a:rPr>
              <a:t>Hardness resists scratching and wear; toughness resists fracture from impact.</a:t>
            </a:r>
          </a:p>
        </p:txBody>
      </p:sp>
      <p:sp>
        <p:nvSpPr>
          <p:cNvPr id="10" name="Oval 9"/>
          <p:cNvSpPr/>
          <p:nvPr/>
        </p:nvSpPr>
        <p:spPr>
          <a:xfrm>
            <a:off x="548640" y="4009644"/>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991356"/>
            <a:ext cx="10408615" cy="1030986"/>
          </a:xfrm>
          <a:prstGeom prst="rect">
            <a:avLst/>
          </a:prstGeom>
          <a:noFill/>
        </p:spPr>
        <p:txBody>
          <a:bodyPr wrap="square" anchor="t" lIns="0" rIns="0" tIns="0" bIns="0"/>
          <a:lstStyle/>
          <a:p>
            <a:pPr algn="l"/>
            <a:r>
              <a:rPr sz="1800" b="0" i="0">
                <a:solidFill>
                  <a:srgbClr val="54595D"/>
                </a:solidFill>
                <a:latin typeface="Calibri"/>
              </a:rPr>
              <a:t>Is brass ferrous or non-ferrous?</a:t>
            </a:r>
          </a:p>
          <a:p>
            <a:r>
              <a:rPr sz="1800" b="1">
                <a:solidFill>
                  <a:srgbClr val="03306E"/>
                </a:solidFill>
                <a:latin typeface="Calibri"/>
              </a:rPr>
              <a:t>Non-ferrous.</a:t>
            </a:r>
          </a:p>
        </p:txBody>
      </p:sp>
      <p:sp>
        <p:nvSpPr>
          <p:cNvPr id="12" name="Oval 11"/>
          <p:cNvSpPr/>
          <p:nvPr/>
        </p:nvSpPr>
        <p:spPr>
          <a:xfrm>
            <a:off x="548640" y="5205221"/>
            <a:ext cx="411480" cy="41148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5186933"/>
            <a:ext cx="10408615" cy="1030986"/>
          </a:xfrm>
          <a:prstGeom prst="rect">
            <a:avLst/>
          </a:prstGeom>
          <a:noFill/>
        </p:spPr>
        <p:txBody>
          <a:bodyPr wrap="square" anchor="t" lIns="0" rIns="0" tIns="0" bIns="0"/>
          <a:lstStyle/>
          <a:p>
            <a:pPr algn="l"/>
            <a:r>
              <a:rPr sz="1800" b="0" i="0">
                <a:solidFill>
                  <a:srgbClr val="54595D"/>
                </a:solidFill>
                <a:latin typeface="Calibri"/>
              </a:rPr>
              <a:t>Which smart material produces a voltage under stress?</a:t>
            </a:r>
          </a:p>
          <a:p>
            <a:r>
              <a:rPr sz="1800" b="1">
                <a:solidFill>
                  <a:srgbClr val="03306E"/>
                </a:solidFill>
                <a:latin typeface="Calibri"/>
              </a:rPr>
              <a:t>A piezoelectric crystal.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ENGINEERING CORE  ·  Core topics 5 and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Material detective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Design and Development for Engineering and Manufacturing T Level  ·  Materials: Chemistry, Properties and Structures</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Rounded Rectangle 5"/>
          <p:cNvSpPr/>
          <p:nvPr/>
        </p:nvSpPr>
        <p:spPr>
          <a:xfrm>
            <a:off x="548640" y="1508760"/>
            <a:ext cx="2011680" cy="457200"/>
          </a:xfrm>
          <a:prstGeom prst="roundRect">
            <a:avLst>
              <a:gd name="adj" fmla="val 50000"/>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25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Small groups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Examine the material samples from your teacher.</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Identify each family and one likely material.</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Measure mass and volume to calculate density for two samples.</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Match each sample to a suitable product and justify it by properties.</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Families correct</a:t>
            </a:r>
          </a:p>
          <a:p>
            <a:pPr marL="274320" indent="-274320">
              <a:spcAft>
                <a:spcPts val="810"/>
              </a:spcAft>
              <a:buClr>
                <a:srgbClr val="0645AD"/>
              </a:buClr>
              <a:buFont typeface="Arial"/>
              <a:buChar char="•"/>
            </a:pPr>
            <a:r>
              <a:rPr sz="1800" b="0">
                <a:solidFill>
                  <a:srgbClr val="202122"/>
                </a:solidFill>
                <a:latin typeface="Calibri"/>
              </a:rPr>
              <a:t>Density calculated with units</a:t>
            </a:r>
          </a:p>
          <a:p>
            <a:pPr marL="274320" indent="-274320">
              <a:spcAft>
                <a:spcPts val="810"/>
              </a:spcAft>
              <a:buClr>
                <a:srgbClr val="0645AD"/>
              </a:buClr>
              <a:buFont typeface="Arial"/>
              <a:buChar char="•"/>
            </a:pPr>
            <a:r>
              <a:rPr sz="1800" b="0">
                <a:solidFill>
                  <a:srgbClr val="202122"/>
                </a:solidFill>
                <a:latin typeface="Calibri"/>
              </a:rPr>
              <a:t>Justifications use property names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ENGINEERING CORE  ·  Core topics 5 and 6</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Why are thermosets used for plug sockets?</a:t>
            </a:r>
          </a:p>
        </p:txBody>
      </p:sp>
      <p:sp>
        <p:nvSpPr>
          <p:cNvPr id="6" name="Oval 5"/>
          <p:cNvSpPr/>
          <p:nvPr/>
        </p:nvSpPr>
        <p:spPr>
          <a:xfrm>
            <a:off x="548640" y="269748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What is ductility?</a:t>
            </a:r>
          </a:p>
        </p:txBody>
      </p:sp>
      <p:sp>
        <p:nvSpPr>
          <p:cNvPr id="8" name="Oval 7"/>
          <p:cNvSpPr/>
          <p:nvPr/>
        </p:nvSpPr>
        <p:spPr>
          <a:xfrm>
            <a:off x="548640" y="3657600"/>
            <a:ext cx="502920" cy="502920"/>
          </a:xfrm>
          <a:prstGeom prst="ellipse">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Name one use of a shape memory alloy.</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2000" b="1" i="0">
                <a:solidFill>
                  <a:srgbClr val="FFFFFF"/>
                </a:solidFill>
                <a:latin typeface="Cambria"/>
              </a:rPr>
              <a:t>Engineering Core, Part 1</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https://lana6478.github.io/T-level-Design-Development-Engineering-Manufacturing/#/01-core-component/01-engineering-core-part1.md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Materials: Chemistry, Properties and Structures</dc:title>
  <dc:subject>Design and Development for Engineering and Manufacturing T Level: Core topics 5 and 6</dc:subject>
  <dc:creator>Samuel O'Connell</dc:creator>
  <cp:keywords>T Level; Design and Development for Engineering and Manufacturing; lesson slides; 5.5, 6.1, 6.2</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