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V = I x R.</a:t>
            </a:r>
          </a:p>
          <a:p>
            <a:r>
              <a:t>2. The ohm.</a:t>
            </a:r>
          </a:p>
          <a:p>
            <a:r>
              <a:t>3. 460 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Kirchhoff's current law: current into a junction equals current out. Voltage law: voltages around a loop sum to zero.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current.</a:t>
            </a:r>
          </a:p>
          <a:p>
            <a:r>
              <a:t>2. 3 ohms.</a:t>
            </a:r>
          </a:p>
          <a:p>
            <a:r>
              <a:t>3. Each device gets full voltage and works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One that varies continuously.</a:t>
            </a:r>
          </a:p>
          <a:p>
            <a:r>
              <a:t>2. E.g. resist noise, easy to process.</a:t>
            </a:r>
          </a:p>
          <a:p>
            <a:r>
              <a:t>3. Converts analogue signals to digital.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ENGINEERING CORE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Electrical and Electronic Principles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topic 8</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8.1</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Explain charge, current, voltage, resistance and power.</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Apply Ohm's law and Kirchhoff's laws to series and parallel circuits.</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Describe AC and DC, protection systems and semiconductors.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Compare analogue and digital signals.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Why does a fuse blow instead of the wires in your house catching fire?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quantities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Current (I) is the flow of charge, measured in amps. Voltage (V) is the push that drives it, in volts. Resistance (R) opposes the flow, in ohms. Power (P) is the rate energy is used, in watts.</a:t>
            </a:r>
          </a:p>
          <a:p>
            <a:pPr>
              <a:spcAft>
                <a:spcPts val="1320"/>
              </a:spcAft>
            </a:pPr>
            <a:r>
              <a:rPr sz="2200" b="1">
                <a:solidFill>
                  <a:srgbClr val="202122"/>
                </a:solidFill>
                <a:latin typeface="Calibri"/>
              </a:rPr>
              <a:t>Ohm's law:</a:t>
            </a:r>
            <a:r>
              <a:rPr sz="2200" b="0">
                <a:solidFill>
                  <a:srgbClr val="202122"/>
                </a:solidFill>
                <a:latin typeface="Calibri"/>
              </a:rPr>
              <a:t> V = I x R. Power: P = V x I.</a:t>
            </a:r>
          </a:p>
          <a:p>
            <a:pPr>
              <a:spcAft>
                <a:spcPts val="1320"/>
              </a:spcAft>
            </a:pPr>
            <a:r>
              <a:rPr sz="2200" b="1">
                <a:solidFill>
                  <a:srgbClr val="202122"/>
                </a:solidFill>
                <a:latin typeface="Calibri"/>
              </a:rPr>
              <a:t>Other key ideas:</a:t>
            </a:r>
            <a:r>
              <a:rPr sz="2200" b="0">
                <a:solidFill>
                  <a:srgbClr val="202122"/>
                </a:solidFill>
                <a:latin typeface="Calibri"/>
              </a:rPr>
              <a:t> capacitance (storing charge), inductance (opposing changes in current), magnetism and electromagnetism (used in motors and relays), and measuring these quantities with a multimeter.</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12 V supply across a 4 ohm resistor gives I = 12 / 4 = 3 A, and P = 12 x 3 = 36 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quantities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3" cy="4526280"/>
        </p:xfrm>
        <a:graphic>
          <a:graphicData uri="http://schemas.openxmlformats.org/drawingml/2006/table">
            <a:tbl>
              <a:tblPr firstRow="1" bandRow="1">
                <a:tableStyleId>{5C22544A-7EE6-4342-B048-85BDC9FD1C3A}</a:tableStyleId>
              </a:tblPr>
              <a:tblGrid>
                <a:gridCol w="3096115"/>
                <a:gridCol w="2580096"/>
                <a:gridCol w="5418202"/>
              </a:tblGrid>
              <a:tr h="905256">
                <a:tc>
                  <a:txBody>
                    <a:bodyPr wrap="square"/>
                    <a:lstStyle/>
                    <a:p>
                      <a:r>
                        <a:rPr sz="1600" b="1">
                          <a:solidFill>
                            <a:srgbClr val="FFFFFF"/>
                          </a:solidFill>
                          <a:latin typeface="Calibri"/>
                        </a:rPr>
                        <a:t>Quantity</a:t>
                      </a:r>
                    </a:p>
                  </a:txBody>
                  <a:tcPr marL="91440" marR="91440" anchor="ctr">
                    <a:solidFill>
                      <a:srgbClr val="03306E"/>
                    </a:solidFill>
                  </a:tcPr>
                </a:tc>
                <a:tc>
                  <a:txBody>
                    <a:bodyPr wrap="square"/>
                    <a:lstStyle/>
                    <a:p>
                      <a:r>
                        <a:rPr sz="1600" b="1">
                          <a:solidFill>
                            <a:srgbClr val="FFFFFF"/>
                          </a:solidFill>
                          <a:latin typeface="Calibri"/>
                        </a:rPr>
                        <a:t>Unit</a:t>
                      </a:r>
                    </a:p>
                  </a:txBody>
                  <a:tcPr marL="91440" marR="91440" anchor="ctr">
                    <a:solidFill>
                      <a:srgbClr val="03306E"/>
                    </a:solidFill>
                  </a:tcPr>
                </a:tc>
                <a:tc>
                  <a:txBody>
                    <a:bodyPr wrap="square"/>
                    <a:lstStyle/>
                    <a:p>
                      <a:r>
                        <a:rPr sz="1600" b="1">
                          <a:solidFill>
                            <a:srgbClr val="FFFFFF"/>
                          </a:solidFill>
                          <a:latin typeface="Calibri"/>
                        </a:rPr>
                        <a:t>Formula</a:t>
                      </a:r>
                    </a:p>
                  </a:txBody>
                  <a:tcPr marL="91440" marR="91440" anchor="ctr">
                    <a:solidFill>
                      <a:srgbClr val="03306E"/>
                    </a:solidFill>
                  </a:tcPr>
                </a:tc>
              </a:tr>
              <a:tr h="905256">
                <a:tc>
                  <a:txBody>
                    <a:bodyPr wrap="square"/>
                    <a:lstStyle/>
                    <a:p>
                      <a:r>
                        <a:rPr sz="1600" b="1">
                          <a:solidFill>
                            <a:srgbClr val="03306E"/>
                          </a:solidFill>
                          <a:latin typeface="Calibri"/>
                        </a:rPr>
                        <a:t>Current (I)</a:t>
                      </a:r>
                    </a:p>
                  </a:txBody>
                  <a:tcPr marL="91440" marR="91440" anchor="ctr">
                    <a:solidFill>
                      <a:srgbClr val="FFFFFF"/>
                    </a:solidFill>
                  </a:tcPr>
                </a:tc>
                <a:tc>
                  <a:txBody>
                    <a:bodyPr wrap="square"/>
                    <a:lstStyle/>
                    <a:p>
                      <a:r>
                        <a:rPr sz="1600" b="0">
                          <a:solidFill>
                            <a:srgbClr val="202122"/>
                          </a:solidFill>
                          <a:latin typeface="Calibri"/>
                        </a:rPr>
                        <a:t>amp (A)</a:t>
                      </a:r>
                    </a:p>
                  </a:txBody>
                  <a:tcPr marL="91440" marR="91440" anchor="ctr">
                    <a:solidFill>
                      <a:srgbClr val="FFFFFF"/>
                    </a:solidFill>
                  </a:tcPr>
                </a:tc>
                <a:tc>
                  <a:txBody>
                    <a:bodyPr wrap="square"/>
                    <a:lstStyle/>
                    <a:p>
                      <a:r>
                        <a:rPr sz="1600" b="0">
                          <a:solidFill>
                            <a:srgbClr val="202122"/>
                          </a:solidFill>
                          <a:latin typeface="Calibri"/>
                        </a:rPr>
                        <a:t>Charge / time</a:t>
                      </a:r>
                    </a:p>
                  </a:txBody>
                  <a:tcPr marL="91440" marR="91440" anchor="ctr">
                    <a:solidFill>
                      <a:srgbClr val="FFFFFF"/>
                    </a:solidFill>
                  </a:tcPr>
                </a:tc>
              </a:tr>
              <a:tr h="905256">
                <a:tc>
                  <a:txBody>
                    <a:bodyPr wrap="square"/>
                    <a:lstStyle/>
                    <a:p>
                      <a:r>
                        <a:rPr sz="1600" b="1">
                          <a:solidFill>
                            <a:srgbClr val="03306E"/>
                          </a:solidFill>
                          <a:latin typeface="Calibri"/>
                        </a:rPr>
                        <a:t>Voltage (V)</a:t>
                      </a:r>
                    </a:p>
                  </a:txBody>
                  <a:tcPr marL="91440" marR="91440" anchor="ctr">
                    <a:solidFill>
                      <a:srgbClr val="EAF3FF"/>
                    </a:solidFill>
                  </a:tcPr>
                </a:tc>
                <a:tc>
                  <a:txBody>
                    <a:bodyPr wrap="square"/>
                    <a:lstStyle/>
                    <a:p>
                      <a:r>
                        <a:rPr sz="1600" b="0">
                          <a:solidFill>
                            <a:srgbClr val="202122"/>
                          </a:solidFill>
                          <a:latin typeface="Calibri"/>
                        </a:rPr>
                        <a:t>volt (V)</a:t>
                      </a:r>
                    </a:p>
                  </a:txBody>
                  <a:tcPr marL="91440" marR="91440" anchor="ctr">
                    <a:solidFill>
                      <a:srgbClr val="EAF3FF"/>
                    </a:solidFill>
                  </a:tcPr>
                </a:tc>
                <a:tc>
                  <a:txBody>
                    <a:bodyPr wrap="square"/>
                    <a:lstStyle/>
                    <a:p>
                      <a:r>
                        <a:rPr sz="1600" b="0">
                          <a:solidFill>
                            <a:srgbClr val="202122"/>
                          </a:solidFill>
                          <a:latin typeface="Calibri"/>
                        </a:rPr>
                        <a:t>V = I x R (Ohm's law)</a:t>
                      </a:r>
                    </a:p>
                  </a:txBody>
                  <a:tcPr marL="91440" marR="91440" anchor="ctr">
                    <a:solidFill>
                      <a:srgbClr val="EAF3FF"/>
                    </a:solidFill>
                  </a:tcPr>
                </a:tc>
              </a:tr>
              <a:tr h="905256">
                <a:tc>
                  <a:txBody>
                    <a:bodyPr wrap="square"/>
                    <a:lstStyle/>
                    <a:p>
                      <a:r>
                        <a:rPr sz="1600" b="1">
                          <a:solidFill>
                            <a:srgbClr val="03306E"/>
                          </a:solidFill>
                          <a:latin typeface="Calibri"/>
                        </a:rPr>
                        <a:t>Resistance (R)</a:t>
                      </a:r>
                    </a:p>
                  </a:txBody>
                  <a:tcPr marL="91440" marR="91440" anchor="ctr">
                    <a:solidFill>
                      <a:srgbClr val="FFFFFF"/>
                    </a:solidFill>
                  </a:tcPr>
                </a:tc>
                <a:tc>
                  <a:txBody>
                    <a:bodyPr wrap="square"/>
                    <a:lstStyle/>
                    <a:p>
                      <a:r>
                        <a:rPr sz="1600" b="0">
                          <a:solidFill>
                            <a:srgbClr val="202122"/>
                          </a:solidFill>
                          <a:latin typeface="Calibri"/>
                        </a:rPr>
                        <a:t>ohm</a:t>
                      </a:r>
                    </a:p>
                  </a:txBody>
                  <a:tcPr marL="91440" marR="91440" anchor="ctr">
                    <a:solidFill>
                      <a:srgbClr val="FFFFFF"/>
                    </a:solidFill>
                  </a:tcPr>
                </a:tc>
                <a:tc>
                  <a:txBody>
                    <a:bodyPr wrap="square"/>
                    <a:lstStyle/>
                    <a:p>
                      <a:r>
                        <a:rPr sz="1600" b="0">
                          <a:solidFill>
                            <a:srgbClr val="202122"/>
                          </a:solidFill>
                          <a:latin typeface="Calibri"/>
                        </a:rPr>
                        <a:t>R = V / I</a:t>
                      </a:r>
                    </a:p>
                  </a:txBody>
                  <a:tcPr marL="91440" marR="91440" anchor="ctr">
                    <a:solidFill>
                      <a:srgbClr val="FFFFFF"/>
                    </a:solidFill>
                  </a:tcPr>
                </a:tc>
              </a:tr>
              <a:tr h="905256">
                <a:tc>
                  <a:txBody>
                    <a:bodyPr wrap="square"/>
                    <a:lstStyle/>
                    <a:p>
                      <a:r>
                        <a:rPr sz="1600" b="1">
                          <a:solidFill>
                            <a:srgbClr val="03306E"/>
                          </a:solidFill>
                          <a:latin typeface="Calibri"/>
                        </a:rPr>
                        <a:t>Power (P)</a:t>
                      </a:r>
                    </a:p>
                  </a:txBody>
                  <a:tcPr marL="91440" marR="91440" anchor="ctr">
                    <a:solidFill>
                      <a:srgbClr val="EAF3FF"/>
                    </a:solidFill>
                  </a:tcPr>
                </a:tc>
                <a:tc>
                  <a:txBody>
                    <a:bodyPr wrap="square"/>
                    <a:lstStyle/>
                    <a:p>
                      <a:r>
                        <a:rPr sz="1600" b="0">
                          <a:solidFill>
                            <a:srgbClr val="202122"/>
                          </a:solidFill>
                          <a:latin typeface="Calibri"/>
                        </a:rPr>
                        <a:t>watt (W)</a:t>
                      </a:r>
                    </a:p>
                  </a:txBody>
                  <a:tcPr marL="91440" marR="91440" anchor="ctr">
                    <a:solidFill>
                      <a:srgbClr val="EAF3FF"/>
                    </a:solidFill>
                  </a:tcPr>
                </a:tc>
                <a:tc>
                  <a:txBody>
                    <a:bodyPr wrap="square"/>
                    <a:lstStyle/>
                    <a:p>
                      <a:r>
                        <a:rPr sz="1600" b="0">
                          <a:solidFill>
                            <a:srgbClr val="202122"/>
                          </a:solidFill>
                          <a:latin typeface="Calibri"/>
                        </a:rPr>
                        <a:t>P = V x I</a:t>
                      </a:r>
                    </a:p>
                  </a:txBody>
                  <a:tcPr marL="91440" marR="91440" anchor="ctr">
                    <a:solidFill>
                      <a:srgbClr val="EAF3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Key quantities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State Ohm's law.</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the unit of resistance?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A device draws 2 A at 230 V. What is its power?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Series and parallel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In a series circuit, components are in one loop. The same current flows through each, the voltages across them add up to the supply voltage, and total resistance = R1 + R2 + ... If one component fails, the whole circuit stops.</a:t>
            </a:r>
          </a:p>
          <a:p>
            <a:pPr>
              <a:spcAft>
                <a:spcPts val="1260"/>
              </a:spcAft>
            </a:pPr>
            <a:r>
              <a:rPr sz="2100" b="0">
                <a:solidFill>
                  <a:srgbClr val="202122"/>
                </a:solidFill>
                <a:latin typeface="Calibri"/>
              </a:rPr>
              <a:t>In a parallel circuit, each component has its own branch. Each gets the full supply voltage, the branch currents add up to the total, and 1 / R total = 1 / R1 + 1 / R2 + ... One failure doesn't stop the others.</a:t>
            </a:r>
          </a:p>
          <a:p>
            <a:pPr>
              <a:spcAft>
                <a:spcPts val="1260"/>
              </a:spcAft>
            </a:pPr>
            <a:r>
              <a:rPr sz="2100" b="1">
                <a:solidFill>
                  <a:srgbClr val="202122"/>
                </a:solidFill>
                <a:latin typeface="Calibri"/>
              </a:rPr>
              <a:t>Kirchhoff's laws:</a:t>
            </a:r>
            <a:r>
              <a:rPr sz="2100" b="0">
                <a:solidFill>
                  <a:srgbClr val="202122"/>
                </a:solidFill>
                <a:latin typeface="Calibri"/>
              </a:rPr>
              <a:t> current into a junction equals current out; voltages around a loop sum to zero.</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Two 10 ohm resistors: in series, 20 ohms; in parallel, 5 ohms. Household sockets are wired in parallel.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Series and parallel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Series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Same current through every component</a:t>
            </a:r>
          </a:p>
          <a:p>
            <a:pPr marL="274320" indent="-274320">
              <a:spcAft>
                <a:spcPts val="990"/>
              </a:spcAft>
              <a:buClr>
                <a:srgbClr val="0645AD"/>
              </a:buClr>
              <a:buFont typeface="Arial"/>
              <a:buChar char="•"/>
            </a:pPr>
            <a:r>
              <a:rPr sz="2200" b="0">
                <a:solidFill>
                  <a:srgbClr val="202122"/>
                </a:solidFill>
                <a:latin typeface="Calibri"/>
              </a:rPr>
              <a:t>Voltages add up to the supply</a:t>
            </a:r>
          </a:p>
          <a:p>
            <a:pPr marL="274320" indent="-274320">
              <a:spcAft>
                <a:spcPts val="990"/>
              </a:spcAft>
              <a:buClr>
                <a:srgbClr val="0645AD"/>
              </a:buClr>
              <a:buFont typeface="Arial"/>
              <a:buChar char="•"/>
            </a:pPr>
            <a:r>
              <a:rPr sz="2200" b="0">
                <a:solidFill>
                  <a:srgbClr val="202122"/>
                </a:solidFill>
                <a:latin typeface="Calibri"/>
              </a:rPr>
              <a:t>Total R = R1 + R2 + ...</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Parallel</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Same voltage across each branch</a:t>
            </a:r>
          </a:p>
          <a:p>
            <a:pPr marL="274320" indent="-274320">
              <a:spcAft>
                <a:spcPts val="990"/>
              </a:spcAft>
              <a:buClr>
                <a:srgbClr val="0645AD"/>
              </a:buClr>
              <a:buFont typeface="Arial"/>
              <a:buChar char="•"/>
            </a:pPr>
            <a:r>
              <a:rPr sz="2200" b="0">
                <a:solidFill>
                  <a:srgbClr val="202122"/>
                </a:solidFill>
                <a:latin typeface="Calibri"/>
              </a:rPr>
              <a:t>Currents add up to the total</a:t>
            </a:r>
          </a:p>
          <a:p>
            <a:pPr marL="274320" indent="-274320">
              <a:spcAft>
                <a:spcPts val="990"/>
              </a:spcAft>
              <a:buClr>
                <a:srgbClr val="0645AD"/>
              </a:buClr>
              <a:buFont typeface="Arial"/>
              <a:buChar char="•"/>
            </a:pPr>
            <a:r>
              <a:rPr sz="2200" b="0">
                <a:solidFill>
                  <a:srgbClr val="202122"/>
                </a:solidFill>
                <a:latin typeface="Calibri"/>
              </a:rPr>
              <a:t>1 / R total = 1 / R1 + 1 / R2 +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Series and parallel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In series, what is the same through every component?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Two 6 ohm resistors in parallel give what total?</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are house circuits in parallel?</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 protection and components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AC and DC</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AC reverses direction (mains); DC flows one way (batteries). Phasor diagrams show AC phase.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Protection</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Fuses, RCDs and lightning arrestors; differential and transformer protection.</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Capacitors and inductors</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Store energy in electric and magnetic fields; time constants in DC circuits.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Semiconductors</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Diodes let current flow one way; transistors switch and amplify.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Signals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An analogue signal varies continuously, like the voltage from a temperature sensor rising smoothly as it warms. It carries fine detail but is easily affected by noise.</a:t>
            </a:r>
          </a:p>
          <a:p>
            <a:pPr>
              <a:spcAft>
                <a:spcPts val="1260"/>
              </a:spcAft>
            </a:pPr>
            <a:r>
              <a:rPr sz="2100" b="0">
                <a:solidFill>
                  <a:srgbClr val="202122"/>
                </a:solidFill>
                <a:latin typeface="Calibri"/>
              </a:rPr>
              <a:t>A digital signal has discrete levels, usually just on (1) and off (0), like a limit switch. It resists noise and is easy for computers and PLCs to process.</a:t>
            </a:r>
          </a:p>
          <a:p>
            <a:pPr>
              <a:spcAft>
                <a:spcPts val="1260"/>
              </a:spcAft>
            </a:pPr>
            <a:r>
              <a:rPr sz="2100" b="0">
                <a:solidFill>
                  <a:srgbClr val="202122"/>
                </a:solidFill>
                <a:latin typeface="Calibri"/>
              </a:rPr>
              <a:t>Analogue-to-digital converters turn sensor readings into numbers. Fan-in and fan-out limit how many inputs and outputs a logic gate can connect to. Signals often need conditioning (filtering or amplifying).</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car's fuel gauge sender produces an analogue voltage; the engine computer converts it to a digital value to display.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Signals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Analogue</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Continuously variable</a:t>
            </a:r>
          </a:p>
          <a:p>
            <a:pPr marL="274320" indent="-274320">
              <a:spcAft>
                <a:spcPts val="990"/>
              </a:spcAft>
              <a:buClr>
                <a:srgbClr val="0645AD"/>
              </a:buClr>
              <a:buFont typeface="Arial"/>
              <a:buChar char="•"/>
            </a:pPr>
            <a:r>
              <a:rPr sz="2200" b="0">
                <a:solidFill>
                  <a:srgbClr val="202122"/>
                </a:solidFill>
                <a:latin typeface="Calibri"/>
              </a:rPr>
              <a:t>e.g. a thermistor's voltage</a:t>
            </a:r>
          </a:p>
          <a:p>
            <a:pPr marL="274320" indent="-274320">
              <a:spcAft>
                <a:spcPts val="990"/>
              </a:spcAft>
              <a:buClr>
                <a:srgbClr val="0645AD"/>
              </a:buClr>
              <a:buFont typeface="Arial"/>
              <a:buChar char="•"/>
            </a:pPr>
            <a:r>
              <a:rPr sz="2200" b="0">
                <a:solidFill>
                  <a:srgbClr val="202122"/>
                </a:solidFill>
                <a:latin typeface="Calibri"/>
              </a:rPr>
              <a:t>Affected by noise</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Digital</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Discrete levels:</a:t>
            </a:r>
            <a:r>
              <a:rPr sz="2200" b="0">
                <a:solidFill>
                  <a:srgbClr val="202122"/>
                </a:solidFill>
                <a:latin typeface="Calibri"/>
              </a:rPr>
              <a:t> on or off</a:t>
            </a:r>
          </a:p>
          <a:p>
            <a:pPr marL="274320" indent="-274320">
              <a:spcAft>
                <a:spcPts val="990"/>
              </a:spcAft>
              <a:buClr>
                <a:srgbClr val="0645AD"/>
              </a:buClr>
              <a:buFont typeface="Arial"/>
              <a:buChar char="•"/>
            </a:pPr>
            <a:r>
              <a:rPr sz="2200" b="0">
                <a:solidFill>
                  <a:srgbClr val="202122"/>
                </a:solidFill>
                <a:latin typeface="Calibri"/>
              </a:rPr>
              <a:t>e.g. a limit switch</a:t>
            </a:r>
          </a:p>
          <a:p>
            <a:pPr marL="274320" indent="-274320">
              <a:spcAft>
                <a:spcPts val="990"/>
              </a:spcAft>
              <a:buClr>
                <a:srgbClr val="0645AD"/>
              </a:buClr>
              <a:buFont typeface="Arial"/>
              <a:buChar char="•"/>
            </a:pPr>
            <a:r>
              <a:rPr sz="2200" b="0">
                <a:solidFill>
                  <a:srgbClr val="202122"/>
                </a:solidFill>
                <a:latin typeface="Calibri"/>
              </a:rPr>
              <a:t>Robust, easy to process</a:t>
            </a:r>
          </a:p>
          <a:p>
            <a:pPr marL="274320" indent="-274320">
              <a:spcAft>
                <a:spcPts val="990"/>
              </a:spcAft>
              <a:buClr>
                <a:srgbClr val="0645AD"/>
              </a:buClr>
              <a:buFont typeface="Arial"/>
              <a:buChar char="•"/>
            </a:pPr>
            <a:r>
              <a:rPr sz="2200" b="0">
                <a:solidFill>
                  <a:srgbClr val="202122"/>
                </a:solidFill>
                <a:latin typeface="Calibri"/>
              </a:rPr>
              <a:t>Fan in / fan out limits how many gates connect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Signals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an analogue signal?</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one advantage of digital signals.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an ADC do?</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A 12 V supply drives 2 A. What is the resistance?</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Two 10 ohm resistors in series: total resistance?</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Two 10 ohm resistors in parallel: total resistance?</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does an RCD do?</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does a diode 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A 12 V supply drives 2 A. What is the resistance?</a:t>
            </a:r>
          </a:p>
          <a:p>
            <a:r>
              <a:rPr sz="1800" b="1">
                <a:solidFill>
                  <a:srgbClr val="03306E"/>
                </a:solidFill>
                <a:latin typeface="Calibri"/>
              </a:rPr>
              <a:t>6 ohms.</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Two 10 ohm resistors in series: total resistance?</a:t>
            </a:r>
          </a:p>
          <a:p>
            <a:r>
              <a:rPr sz="1800" b="1">
                <a:solidFill>
                  <a:srgbClr val="03306E"/>
                </a:solidFill>
                <a:latin typeface="Calibri"/>
              </a:rPr>
              <a:t>20 ohms.</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Two 10 ohm resistors in parallel: total resistance?</a:t>
            </a:r>
          </a:p>
          <a:p>
            <a:r>
              <a:rPr sz="1800" b="1">
                <a:solidFill>
                  <a:srgbClr val="03306E"/>
                </a:solidFill>
                <a:latin typeface="Calibri"/>
              </a:rPr>
              <a:t>5 ohms.</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does an RCD do?</a:t>
            </a:r>
          </a:p>
          <a:p>
            <a:r>
              <a:rPr sz="1800" b="1">
                <a:solidFill>
                  <a:srgbClr val="03306E"/>
                </a:solidFill>
                <a:latin typeface="Calibri"/>
              </a:rPr>
              <a:t>Cuts the supply when it detects a current imbalance (leakage).</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does a diode do?</a:t>
            </a:r>
          </a:p>
          <a:p>
            <a:r>
              <a:rPr sz="1800" b="1">
                <a:solidFill>
                  <a:srgbClr val="03306E"/>
                </a:solidFill>
                <a:latin typeface="Calibri"/>
              </a:rPr>
              <a:t>Lets current flow in one direction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Circuit calculations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Electrical and Electronic Principles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 with breadboards if available</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Build (or sketch) a series and a parallel circuit with two resistors.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Predict currents and voltages using Ohm's law.</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Measure them with a multimeter.</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Explain any differences between prediction and measurement.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Predictions calculated correctly</a:t>
            </a:r>
          </a:p>
          <a:p>
            <a:pPr marL="274320" indent="-274320">
              <a:spcAft>
                <a:spcPts val="810"/>
              </a:spcAft>
              <a:buClr>
                <a:srgbClr val="0645AD"/>
              </a:buClr>
              <a:buFont typeface="Arial"/>
              <a:buChar char="•"/>
            </a:pPr>
            <a:r>
              <a:rPr sz="1800" b="0">
                <a:solidFill>
                  <a:srgbClr val="202122"/>
                </a:solidFill>
                <a:latin typeface="Calibri"/>
              </a:rPr>
              <a:t>Meter used safely</a:t>
            </a:r>
          </a:p>
          <a:p>
            <a:pPr marL="274320" indent="-274320">
              <a:spcAft>
                <a:spcPts val="810"/>
              </a:spcAft>
              <a:buClr>
                <a:srgbClr val="0645AD"/>
              </a:buClr>
              <a:buFont typeface="Arial"/>
              <a:buChar char="•"/>
            </a:pPr>
            <a:r>
              <a:rPr sz="1800" b="0">
                <a:solidFill>
                  <a:srgbClr val="202122"/>
                </a:solidFill>
                <a:latin typeface="Calibri"/>
              </a:rPr>
              <a:t>Differences explained (tolerance, meter resistance)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ENGINEERING CORE  ·  Core topic 8</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are house circuits wired in parallel?</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the power of a 230 V, 5 A heater?</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Give one advantage of digital signals.</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Engineering Core, Part 1</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https://lana6478.github.io/T-level-Design-Development-Engineering-Manufacturing/#/01-core-component/01-engineering-core-part1.md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Electrical and Electronic Principles</dc:title>
  <dc:subject>Design and Development for Engineering and Manufacturing T Level: Core topic 8</dc:subject>
  <dc:creator>Samuel O'Connell</dc:creator>
  <cp:keywords>T Level; Design and Development for Engineering and Manufacturing; lesson slides; 8.1</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