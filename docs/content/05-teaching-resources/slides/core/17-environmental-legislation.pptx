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The Environmental Protection Act.</a:t>
            </a:r>
          </a:p>
          <a:p>
            <a:r>
              <a:t>2. The Clean Air Act.</a:t>
            </a:r>
          </a:p>
          <a:p>
            <a:r>
              <a:t>3. By a licensed carrier, with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Environmental management systems.</a:t>
            </a:r>
          </a:p>
          <a:p>
            <a:r>
              <a:t>2. E.g. lower costs, compliance, reputation.</a:t>
            </a:r>
          </a:p>
          <a:p>
            <a:r>
              <a:t>3. E.g. fines, prosecution, lost contracts.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in the organisation shares responsibility for compliance, led by management.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ENGINEERING CORE</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Environmental Legislation and Waste</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Core topic 12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12.6</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Design and Development for Engineering and Manufacturing T Level  ·  Lesson slides</a:t>
            </a:r>
          </a:p>
          <a:p>
            <a:pPr algn="l"/>
            <a:r>
              <a:rPr sz="1100" b="0" i="0">
                <a:solidFill>
                  <a:srgbClr val="A9C8F0"/>
                </a:solidFill>
                <a:latin typeface="Calibri"/>
              </a:rPr>
              <a:t>Unofficial teaching resource. Check the official City &amp; Guilds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4028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14400"/>
          </a:xfrm>
          <a:prstGeom prst="rect">
            <a:avLst/>
          </a:prstGeom>
          <a:noFill/>
        </p:spPr>
        <p:txBody>
          <a:bodyPr wrap="square" anchor="ctr" lIns="0" rIns="0" tIns="0" bIns="0"/>
          <a:lstStyle/>
          <a:p>
            <a:pPr algn="l"/>
            <a:r>
              <a:rPr sz="2000" b="0" i="0">
                <a:solidFill>
                  <a:srgbClr val="202122"/>
                </a:solidFill>
                <a:latin typeface="Calibri"/>
              </a:rPr>
              <a:t>Describe the main environmental legislation affecting engineering.</a:t>
            </a:r>
          </a:p>
        </p:txBody>
      </p:sp>
      <p:sp>
        <p:nvSpPr>
          <p:cNvPr id="9" name="Oval 8"/>
          <p:cNvSpPr/>
          <p:nvPr/>
        </p:nvSpPr>
        <p:spPr>
          <a:xfrm>
            <a:off x="548640" y="329184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63240"/>
            <a:ext cx="6035040" cy="914400"/>
          </a:xfrm>
          <a:prstGeom prst="rect">
            <a:avLst/>
          </a:prstGeom>
          <a:noFill/>
        </p:spPr>
        <p:txBody>
          <a:bodyPr wrap="square" anchor="ctr" lIns="0" rIns="0" tIns="0" bIns="0"/>
          <a:lstStyle/>
          <a:p>
            <a:pPr algn="l"/>
            <a:r>
              <a:rPr sz="2000" b="0" i="0">
                <a:solidFill>
                  <a:srgbClr val="202122"/>
                </a:solidFill>
                <a:latin typeface="Calibri"/>
              </a:rPr>
              <a:t>Explain the aims and benefits of ISO 14001.</a:t>
            </a:r>
          </a:p>
        </p:txBody>
      </p:sp>
      <p:sp>
        <p:nvSpPr>
          <p:cNvPr id="11" name="Oval 10"/>
          <p:cNvSpPr/>
          <p:nvPr/>
        </p:nvSpPr>
        <p:spPr>
          <a:xfrm>
            <a:off x="548640" y="43434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114800"/>
            <a:ext cx="6035040" cy="914400"/>
          </a:xfrm>
          <a:prstGeom prst="rect">
            <a:avLst/>
          </a:prstGeom>
          <a:noFill/>
        </p:spPr>
        <p:txBody>
          <a:bodyPr wrap="square" anchor="ctr" lIns="0" rIns="0" tIns="0" bIns="0"/>
          <a:lstStyle/>
          <a:p>
            <a:pPr algn="l"/>
            <a:r>
              <a:rPr sz="2000" b="0" i="0">
                <a:solidFill>
                  <a:srgbClr val="202122"/>
                </a:solidFill>
                <a:latin typeface="Calibri"/>
              </a:rPr>
              <a:t>Compare waste disposal methods.</a:t>
            </a:r>
          </a:p>
        </p:txBody>
      </p:sp>
      <p:sp>
        <p:nvSpPr>
          <p:cNvPr id="13" name="Rounded Rectangle 12"/>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5" name="TextBox 14"/>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Where does the swarf from a milling machine end up? Where should it end 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Environmental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Engineering can harm the environment, so several laws apply.</a:t>
            </a:r>
          </a:p>
          <a:p>
            <a:pPr>
              <a:spcAft>
                <a:spcPts val="1260"/>
              </a:spcAft>
            </a:pPr>
            <a:r>
              <a:rPr sz="2100" b="0">
                <a:solidFill>
                  <a:srgbClr val="202122"/>
                </a:solidFill>
                <a:latin typeface="Calibri"/>
              </a:rPr>
              <a:t>The Environmental Protection Act sets a duty of care for waste and controls pollution. The Pollution Prevention and Control Act requires permits for polluting industrial activity. The Clean Air Act controls smoke and air pollution. The Radioactive Substances Act controls radioactive materials. The Controlled Waste, Hazardous Waste and Dangerous Substances rules govern handling, storage and disposal.</a:t>
            </a:r>
          </a:p>
          <a:p>
            <a:pPr>
              <a:spcAft>
                <a:spcPts val="1260"/>
              </a:spcAft>
            </a:pPr>
            <a:r>
              <a:rPr sz="2100" b="0">
                <a:solidFill>
                  <a:srgbClr val="202122"/>
                </a:solidFill>
                <a:latin typeface="Calibri"/>
              </a:rPr>
              <a:t>Everyone shares responsibility for compliance, led by management.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Used cutting fluid is hazardous waste: it must be stored safely and collected by a licensed carrier, with records kept.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Environmental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4644173"/>
                <a:gridCol w="6450241"/>
              </a:tblGrid>
              <a:tr h="754380">
                <a:tc>
                  <a:txBody>
                    <a:bodyPr wrap="square"/>
                    <a:lstStyle/>
                    <a:p>
                      <a:r>
                        <a:rPr sz="1600" b="1">
                          <a:solidFill>
                            <a:srgbClr val="FFFFFF"/>
                          </a:solidFill>
                          <a:latin typeface="Calibri"/>
                        </a:rPr>
                        <a:t>Legislation</a:t>
                      </a:r>
                    </a:p>
                  </a:txBody>
                  <a:tcPr marL="91440" marR="91440" anchor="ctr">
                    <a:solidFill>
                      <a:srgbClr val="03306E"/>
                    </a:solidFill>
                  </a:tcPr>
                </a:tc>
                <a:tc>
                  <a:txBody>
                    <a:bodyPr wrap="square"/>
                    <a:lstStyle/>
                    <a:p>
                      <a:r>
                        <a:rPr sz="1600" b="1">
                          <a:solidFill>
                            <a:srgbClr val="FFFFFF"/>
                          </a:solidFill>
                          <a:latin typeface="Calibri"/>
                        </a:rPr>
                        <a:t>Purpose</a:t>
                      </a:r>
                    </a:p>
                  </a:txBody>
                  <a:tcPr marL="91440" marR="91440" anchor="ctr">
                    <a:solidFill>
                      <a:srgbClr val="03306E"/>
                    </a:solidFill>
                  </a:tcPr>
                </a:tc>
              </a:tr>
              <a:tr h="754380">
                <a:tc>
                  <a:txBody>
                    <a:bodyPr wrap="square"/>
                    <a:lstStyle/>
                    <a:p>
                      <a:r>
                        <a:rPr sz="1600" b="1">
                          <a:solidFill>
                            <a:srgbClr val="03306E"/>
                          </a:solidFill>
                          <a:latin typeface="Calibri"/>
                        </a:rPr>
                        <a:t>Environmental Protection Act</a:t>
                      </a:r>
                    </a:p>
                  </a:txBody>
                  <a:tcPr marL="91440" marR="91440" anchor="ctr">
                    <a:solidFill>
                      <a:srgbClr val="FFFFFF"/>
                    </a:solidFill>
                  </a:tcPr>
                </a:tc>
                <a:tc>
                  <a:txBody>
                    <a:bodyPr wrap="square"/>
                    <a:lstStyle/>
                    <a:p>
                      <a:r>
                        <a:rPr sz="1600" b="0">
                          <a:solidFill>
                            <a:srgbClr val="202122"/>
                          </a:solidFill>
                          <a:latin typeface="Calibri"/>
                        </a:rPr>
                        <a:t>Duty of care for waste; controls pollution</a:t>
                      </a:r>
                    </a:p>
                  </a:txBody>
                  <a:tcPr marL="91440" marR="91440" anchor="ctr">
                    <a:solidFill>
                      <a:srgbClr val="FFFFFF"/>
                    </a:solidFill>
                  </a:tcPr>
                </a:tc>
              </a:tr>
              <a:tr h="754380">
                <a:tc>
                  <a:txBody>
                    <a:bodyPr wrap="square"/>
                    <a:lstStyle/>
                    <a:p>
                      <a:r>
                        <a:rPr sz="1600" b="1">
                          <a:solidFill>
                            <a:srgbClr val="03306E"/>
                          </a:solidFill>
                          <a:latin typeface="Calibri"/>
                        </a:rPr>
                        <a:t>Pollution Prevention and Control Act</a:t>
                      </a:r>
                    </a:p>
                  </a:txBody>
                  <a:tcPr marL="91440" marR="91440" anchor="ctr">
                    <a:solidFill>
                      <a:srgbClr val="EAF3FF"/>
                    </a:solidFill>
                  </a:tcPr>
                </a:tc>
                <a:tc>
                  <a:txBody>
                    <a:bodyPr wrap="square"/>
                    <a:lstStyle/>
                    <a:p>
                      <a:r>
                        <a:rPr sz="1600" b="0">
                          <a:solidFill>
                            <a:srgbClr val="202122"/>
                          </a:solidFill>
                          <a:latin typeface="Calibri"/>
                        </a:rPr>
                        <a:t>Permits for polluting industrial activities</a:t>
                      </a:r>
                    </a:p>
                  </a:txBody>
                  <a:tcPr marL="91440" marR="91440" anchor="ctr">
                    <a:solidFill>
                      <a:srgbClr val="EAF3FF"/>
                    </a:solidFill>
                  </a:tcPr>
                </a:tc>
              </a:tr>
              <a:tr h="754380">
                <a:tc>
                  <a:txBody>
                    <a:bodyPr wrap="square"/>
                    <a:lstStyle/>
                    <a:p>
                      <a:r>
                        <a:rPr sz="1600" b="1">
                          <a:solidFill>
                            <a:srgbClr val="03306E"/>
                          </a:solidFill>
                          <a:latin typeface="Calibri"/>
                        </a:rPr>
                        <a:t>Clean Air Act</a:t>
                      </a:r>
                    </a:p>
                  </a:txBody>
                  <a:tcPr marL="91440" marR="91440" anchor="ctr">
                    <a:solidFill>
                      <a:srgbClr val="FFFFFF"/>
                    </a:solidFill>
                  </a:tcPr>
                </a:tc>
                <a:tc>
                  <a:txBody>
                    <a:bodyPr wrap="square"/>
                    <a:lstStyle/>
                    <a:p>
                      <a:r>
                        <a:rPr sz="1600" b="0">
                          <a:solidFill>
                            <a:srgbClr val="202122"/>
                          </a:solidFill>
                          <a:latin typeface="Calibri"/>
                        </a:rPr>
                        <a:t>Controls smoke and air pollution</a:t>
                      </a:r>
                    </a:p>
                  </a:txBody>
                  <a:tcPr marL="91440" marR="91440" anchor="ctr">
                    <a:solidFill>
                      <a:srgbClr val="FFFFFF"/>
                    </a:solidFill>
                  </a:tcPr>
                </a:tc>
              </a:tr>
              <a:tr h="754380">
                <a:tc>
                  <a:txBody>
                    <a:bodyPr wrap="square"/>
                    <a:lstStyle/>
                    <a:p>
                      <a:r>
                        <a:rPr sz="1600" b="1">
                          <a:solidFill>
                            <a:srgbClr val="03306E"/>
                          </a:solidFill>
                          <a:latin typeface="Calibri"/>
                        </a:rPr>
                        <a:t>Radioactive Substances Act</a:t>
                      </a:r>
                    </a:p>
                  </a:txBody>
                  <a:tcPr marL="91440" marR="91440" anchor="ctr">
                    <a:solidFill>
                      <a:srgbClr val="EAF3FF"/>
                    </a:solidFill>
                  </a:tcPr>
                </a:tc>
                <a:tc>
                  <a:txBody>
                    <a:bodyPr wrap="square"/>
                    <a:lstStyle/>
                    <a:p>
                      <a:r>
                        <a:rPr sz="1600" b="0">
                          <a:solidFill>
                            <a:srgbClr val="202122"/>
                          </a:solidFill>
                          <a:latin typeface="Calibri"/>
                        </a:rPr>
                        <a:t>Controls radioactive materials and waste</a:t>
                      </a:r>
                    </a:p>
                  </a:txBody>
                  <a:tcPr marL="91440" marR="91440" anchor="ctr">
                    <a:solidFill>
                      <a:srgbClr val="EAF3FF"/>
                    </a:solidFill>
                  </a:tcPr>
                </a:tc>
              </a:tr>
              <a:tr h="754380">
                <a:tc>
                  <a:txBody>
                    <a:bodyPr wrap="square"/>
                    <a:lstStyle/>
                    <a:p>
                      <a:r>
                        <a:rPr sz="1600" b="1">
                          <a:solidFill>
                            <a:srgbClr val="03306E"/>
                          </a:solidFill>
                          <a:latin typeface="Calibri"/>
                        </a:rPr>
                        <a:t>Controlled, Hazardous Waste and Dangerous Substances rules</a:t>
                      </a:r>
                    </a:p>
                  </a:txBody>
                  <a:tcPr marL="91440" marR="91440" anchor="ctr">
                    <a:solidFill>
                      <a:srgbClr val="FFFFFF"/>
                    </a:solidFill>
                  </a:tcPr>
                </a:tc>
                <a:tc>
                  <a:txBody>
                    <a:bodyPr wrap="square"/>
                    <a:lstStyle/>
                    <a:p>
                      <a:r>
                        <a:rPr sz="1600" b="0">
                          <a:solidFill>
                            <a:srgbClr val="202122"/>
                          </a:solidFill>
                          <a:latin typeface="Calibri"/>
                        </a:rPr>
                        <a:t>Safe handling, storage and disposal</a:t>
                      </a:r>
                    </a:p>
                  </a:txBody>
                  <a:tcPr marL="91440" marR="9144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Environmental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Act sets a duty of care for waste?</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Act controls smoke?</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How must hazardous waste be removed?</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ISO 14001</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ISO 14001 is the international standard for environmental management systems.</a:t>
            </a:r>
          </a:p>
          <a:p>
            <a:pPr>
              <a:spcAft>
                <a:spcPts val="1320"/>
              </a:spcAft>
            </a:pPr>
            <a:r>
              <a:rPr sz="2200" b="0">
                <a:solidFill>
                  <a:srgbClr val="202122"/>
                </a:solidFill>
                <a:latin typeface="Calibri"/>
              </a:rPr>
              <a:t>It helps an organisation identify its environmental impacts, set targets to reduce them, comply with the law and keep improving.</a:t>
            </a:r>
          </a:p>
          <a:p>
            <a:pPr>
              <a:spcAft>
                <a:spcPts val="1320"/>
              </a:spcAft>
            </a:pPr>
            <a:r>
              <a:rPr sz="2200" b="0">
                <a:solidFill>
                  <a:srgbClr val="202122"/>
                </a:solidFill>
                <a:latin typeface="Calibri"/>
              </a:rPr>
              <a:t>Benefits include lower costs through using less energy and producing less waste, easier legal compliance, and a better reputation, which helps win contracts.</a:t>
            </a:r>
          </a:p>
          <a:p>
            <a:pPr>
              <a:spcAft>
                <a:spcPts val="1320"/>
              </a:spcAft>
            </a:pPr>
            <a:r>
              <a:rPr sz="2200" b="0">
                <a:solidFill>
                  <a:srgbClr val="202122"/>
                </a:solidFill>
                <a:latin typeface="Calibri"/>
              </a:rPr>
              <a:t>Ignoring environmental responsibilities risks fines, prosecution, lost contracts and environmental damage.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factory certified to ISO 14001 cuts its energy bills by 15% after monitoring shows compressors running all night unnecessarily.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ISO 14001</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Aims and benefits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An environmental management system</a:t>
            </a:r>
          </a:p>
          <a:p>
            <a:pPr marL="274320" indent="-274320">
              <a:spcAft>
                <a:spcPts val="990"/>
              </a:spcAft>
              <a:buClr>
                <a:srgbClr val="0645AD"/>
              </a:buClr>
              <a:buFont typeface="Arial"/>
              <a:buChar char="•"/>
            </a:pPr>
            <a:r>
              <a:rPr sz="2200" b="0">
                <a:solidFill>
                  <a:srgbClr val="202122"/>
                </a:solidFill>
                <a:latin typeface="Calibri"/>
              </a:rPr>
              <a:t>Identify and reduce environmental impact</a:t>
            </a:r>
          </a:p>
          <a:p>
            <a:pPr marL="274320" indent="-274320">
              <a:spcAft>
                <a:spcPts val="990"/>
              </a:spcAft>
              <a:buClr>
                <a:srgbClr val="0645AD"/>
              </a:buClr>
              <a:buFont typeface="Arial"/>
              <a:buChar char="•"/>
            </a:pPr>
            <a:r>
              <a:rPr sz="2200" b="0">
                <a:solidFill>
                  <a:srgbClr val="202122"/>
                </a:solidFill>
                <a:latin typeface="Calibri"/>
              </a:rPr>
              <a:t>Comply with the law</a:t>
            </a:r>
          </a:p>
          <a:p>
            <a:pPr marL="274320" indent="-274320">
              <a:spcAft>
                <a:spcPts val="990"/>
              </a:spcAft>
              <a:buClr>
                <a:srgbClr val="0645AD"/>
              </a:buClr>
              <a:buFont typeface="Arial"/>
              <a:buChar char="•"/>
            </a:pPr>
            <a:r>
              <a:rPr sz="2200" b="0">
                <a:solidFill>
                  <a:srgbClr val="202122"/>
                </a:solidFill>
                <a:latin typeface="Calibri"/>
              </a:rPr>
              <a:t>Lower costs and better reputation</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If ignored</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Fines and prosecution</a:t>
            </a:r>
          </a:p>
          <a:p>
            <a:pPr marL="274320" indent="-274320">
              <a:spcAft>
                <a:spcPts val="990"/>
              </a:spcAft>
              <a:buClr>
                <a:srgbClr val="0645AD"/>
              </a:buClr>
              <a:buFont typeface="Arial"/>
              <a:buChar char="•"/>
            </a:pPr>
            <a:r>
              <a:rPr sz="2200" b="0">
                <a:solidFill>
                  <a:srgbClr val="202122"/>
                </a:solidFill>
                <a:latin typeface="Calibri"/>
              </a:rPr>
              <a:t>Lost contracts</a:t>
            </a:r>
          </a:p>
          <a:p>
            <a:pPr marL="274320" indent="-274320">
              <a:spcAft>
                <a:spcPts val="990"/>
              </a:spcAft>
              <a:buClr>
                <a:srgbClr val="0645AD"/>
              </a:buClr>
              <a:buFont typeface="Arial"/>
              <a:buChar char="•"/>
            </a:pPr>
            <a:r>
              <a:rPr sz="2200" b="0">
                <a:solidFill>
                  <a:srgbClr val="202122"/>
                </a:solidFill>
                <a:latin typeface="Calibri"/>
              </a:rPr>
              <a:t>Environmental damage</a:t>
            </a:r>
          </a:p>
          <a:p>
            <a:pPr marL="274320" indent="-274320">
              <a:spcAft>
                <a:spcPts val="990"/>
              </a:spcAft>
              <a:buClr>
                <a:srgbClr val="0645AD"/>
              </a:buClr>
              <a:buFont typeface="Arial"/>
              <a:buChar char="•"/>
            </a:pPr>
            <a:r>
              <a:rPr sz="2200" b="0">
                <a:solidFill>
                  <a:srgbClr val="202122"/>
                </a:solidFill>
                <a:latin typeface="Calibri"/>
              </a:rPr>
              <a:t>Reputational harm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ISO 14001</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ISO 14001 cover?</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Give two benefits.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Give one consequence of ignoring environmental law.</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Waste disposal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3096115"/>
                <a:gridCol w="7998299"/>
              </a:tblGrid>
              <a:tr h="905256">
                <a:tc>
                  <a:txBody>
                    <a:bodyPr wrap="square"/>
                    <a:lstStyle/>
                    <a:p>
                      <a:r>
                        <a:rPr sz="1600" b="1">
                          <a:solidFill>
                            <a:srgbClr val="FFFFFF"/>
                          </a:solidFill>
                          <a:latin typeface="Calibri"/>
                        </a:rPr>
                        <a:t>Method</a:t>
                      </a:r>
                    </a:p>
                  </a:txBody>
                  <a:tcPr marL="91440" marR="91440" anchor="ctr">
                    <a:solidFill>
                      <a:srgbClr val="03306E"/>
                    </a:solidFill>
                  </a:tcPr>
                </a:tc>
                <a:tc>
                  <a:txBody>
                    <a:bodyPr wrap="square"/>
                    <a:lstStyle/>
                    <a:p>
                      <a:r>
                        <a:rPr sz="1600" b="1">
                          <a:solidFill>
                            <a:srgbClr val="FFFFFF"/>
                          </a:solidFill>
                          <a:latin typeface="Calibri"/>
                        </a:rPr>
                        <a:t>Implications</a:t>
                      </a:r>
                    </a:p>
                  </a:txBody>
                  <a:tcPr marL="91440" marR="91440" anchor="ctr">
                    <a:solidFill>
                      <a:srgbClr val="03306E"/>
                    </a:solidFill>
                  </a:tcPr>
                </a:tc>
              </a:tr>
              <a:tr h="905256">
                <a:tc>
                  <a:txBody>
                    <a:bodyPr wrap="square"/>
                    <a:lstStyle/>
                    <a:p>
                      <a:r>
                        <a:rPr sz="1600" b="1">
                          <a:solidFill>
                            <a:srgbClr val="03306E"/>
                          </a:solidFill>
                          <a:latin typeface="Calibri"/>
                        </a:rPr>
                        <a:t>Landfill</a:t>
                      </a:r>
                    </a:p>
                  </a:txBody>
                  <a:tcPr marL="91440" marR="91440" anchor="ctr">
                    <a:solidFill>
                      <a:srgbClr val="FFFFFF"/>
                    </a:solidFill>
                  </a:tcPr>
                </a:tc>
                <a:tc>
                  <a:txBody>
                    <a:bodyPr wrap="square"/>
                    <a:lstStyle/>
                    <a:p>
                      <a:r>
                        <a:rPr sz="1600" b="0">
                          <a:solidFill>
                            <a:srgbClr val="202122"/>
                          </a:solidFill>
                          <a:latin typeface="Calibri"/>
                        </a:rPr>
                        <a:t>Cheap but harmful and increasingly taxed</a:t>
                      </a:r>
                    </a:p>
                  </a:txBody>
                  <a:tcPr marL="91440" marR="91440" anchor="ctr">
                    <a:solidFill>
                      <a:srgbClr val="FFFFFF"/>
                    </a:solidFill>
                  </a:tcPr>
                </a:tc>
              </a:tr>
              <a:tr h="905256">
                <a:tc>
                  <a:txBody>
                    <a:bodyPr wrap="square"/>
                    <a:lstStyle/>
                    <a:p>
                      <a:r>
                        <a:rPr sz="1600" b="1">
                          <a:solidFill>
                            <a:srgbClr val="03306E"/>
                          </a:solidFill>
                          <a:latin typeface="Calibri"/>
                        </a:rPr>
                        <a:t>Reuse</a:t>
                      </a:r>
                    </a:p>
                  </a:txBody>
                  <a:tcPr marL="91440" marR="91440" anchor="ctr">
                    <a:solidFill>
                      <a:srgbClr val="EAF3FF"/>
                    </a:solidFill>
                  </a:tcPr>
                </a:tc>
                <a:tc>
                  <a:txBody>
                    <a:bodyPr wrap="square"/>
                    <a:lstStyle/>
                    <a:p>
                      <a:r>
                        <a:rPr sz="1600" b="0">
                          <a:solidFill>
                            <a:srgbClr val="202122"/>
                          </a:solidFill>
                          <a:latin typeface="Calibri"/>
                        </a:rPr>
                        <a:t>Lowest impact; needs planning</a:t>
                      </a:r>
                    </a:p>
                  </a:txBody>
                  <a:tcPr marL="91440" marR="91440" anchor="ctr">
                    <a:solidFill>
                      <a:srgbClr val="EAF3FF"/>
                    </a:solidFill>
                  </a:tcPr>
                </a:tc>
              </a:tr>
              <a:tr h="905256">
                <a:tc>
                  <a:txBody>
                    <a:bodyPr wrap="square"/>
                    <a:lstStyle/>
                    <a:p>
                      <a:r>
                        <a:rPr sz="1600" b="1">
                          <a:solidFill>
                            <a:srgbClr val="03306E"/>
                          </a:solidFill>
                          <a:latin typeface="Calibri"/>
                        </a:rPr>
                        <a:t>Recycling</a:t>
                      </a:r>
                    </a:p>
                  </a:txBody>
                  <a:tcPr marL="91440" marR="91440" anchor="ctr">
                    <a:solidFill>
                      <a:srgbClr val="FFFFFF"/>
                    </a:solidFill>
                  </a:tcPr>
                </a:tc>
                <a:tc>
                  <a:txBody>
                    <a:bodyPr wrap="square"/>
                    <a:lstStyle/>
                    <a:p>
                      <a:r>
                        <a:rPr sz="1600" b="0">
                          <a:solidFill>
                            <a:srgbClr val="202122"/>
                          </a:solidFill>
                          <a:latin typeface="Calibri"/>
                        </a:rPr>
                        <a:t>Recovers materials such as metal swarf</a:t>
                      </a:r>
                    </a:p>
                  </a:txBody>
                  <a:tcPr marL="91440" marR="91440" anchor="ctr">
                    <a:solidFill>
                      <a:srgbClr val="FFFFFF"/>
                    </a:solidFill>
                  </a:tcPr>
                </a:tc>
              </a:tr>
              <a:tr h="905256">
                <a:tc>
                  <a:txBody>
                    <a:bodyPr wrap="square"/>
                    <a:lstStyle/>
                    <a:p>
                      <a:r>
                        <a:rPr sz="1600" b="1">
                          <a:solidFill>
                            <a:srgbClr val="03306E"/>
                          </a:solidFill>
                          <a:latin typeface="Calibri"/>
                        </a:rPr>
                        <a:t>Controlled waste</a:t>
                      </a:r>
                    </a:p>
                  </a:txBody>
                  <a:tcPr marL="91440" marR="91440" anchor="ctr">
                    <a:solidFill>
                      <a:srgbClr val="EAF3FF"/>
                    </a:solidFill>
                  </a:tcPr>
                </a:tc>
                <a:tc>
                  <a:txBody>
                    <a:bodyPr wrap="square"/>
                    <a:lstStyle/>
                    <a:p>
                      <a:r>
                        <a:rPr sz="1600" b="0">
                          <a:solidFill>
                            <a:srgbClr val="202122"/>
                          </a:solidFill>
                          <a:latin typeface="Calibri"/>
                        </a:rPr>
                        <a:t>Licensed carriers and records for hazardous waste</a:t>
                      </a:r>
                    </a:p>
                  </a:txBody>
                  <a:tcPr marL="91440" marR="91440" anchor="ctr">
                    <a:solidFill>
                      <a:srgbClr val="EAF3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What does ISO 14001 cover?</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Which Act controls smoke pollution?</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Which disposal method has the lowest environmental impact?</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What must happen to hazardous waste?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What does ISO 14001 cover?</a:t>
            </a:r>
          </a:p>
          <a:p>
            <a:r>
              <a:rPr sz="1800" b="1">
                <a:solidFill>
                  <a:srgbClr val="03306E"/>
                </a:solidFill>
                <a:latin typeface="Calibri"/>
              </a:rPr>
              <a:t>Environmental management systems.</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Which Act controls smoke pollution?</a:t>
            </a:r>
          </a:p>
          <a:p>
            <a:r>
              <a:rPr sz="1800" b="1">
                <a:solidFill>
                  <a:srgbClr val="03306E"/>
                </a:solidFill>
                <a:latin typeface="Calibri"/>
              </a:rPr>
              <a:t>The Clean Air Act.</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Which disposal method has the lowest environmental impact?</a:t>
            </a:r>
          </a:p>
          <a:p>
            <a:r>
              <a:rPr sz="1800" b="1">
                <a:solidFill>
                  <a:srgbClr val="03306E"/>
                </a:solidFill>
                <a:latin typeface="Calibri"/>
              </a:rPr>
              <a:t>Reuse.</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What must happen to hazardous waste?</a:t>
            </a:r>
          </a:p>
          <a:p>
            <a:r>
              <a:rPr sz="1800" b="1">
                <a:solidFill>
                  <a:srgbClr val="03306E"/>
                </a:solidFill>
                <a:latin typeface="Calibri"/>
              </a:rPr>
              <a:t>It must be handled, stored and disposed of by licensed routes with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Waste audit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Environmental Legislation and Waste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List every type of waste your workshop produces.</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Classify each as general, recyclable or hazardous.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Suggest the correct disposal route.</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Suggest one way to reduce each waste stream.</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Hazardous waste identified</a:t>
            </a:r>
          </a:p>
          <a:p>
            <a:pPr marL="274320" indent="-274320">
              <a:spcAft>
                <a:spcPts val="810"/>
              </a:spcAft>
              <a:buClr>
                <a:srgbClr val="0645AD"/>
              </a:buClr>
              <a:buFont typeface="Arial"/>
              <a:buChar char="•"/>
            </a:pPr>
            <a:r>
              <a:rPr sz="1800" b="0">
                <a:solidFill>
                  <a:srgbClr val="202122"/>
                </a:solidFill>
                <a:latin typeface="Calibri"/>
              </a:rPr>
              <a:t>Correct routes chosen</a:t>
            </a:r>
          </a:p>
          <a:p>
            <a:pPr marL="274320" indent="-274320">
              <a:spcAft>
                <a:spcPts val="810"/>
              </a:spcAft>
              <a:buClr>
                <a:srgbClr val="0645AD"/>
              </a:buClr>
              <a:buFont typeface="Arial"/>
              <a:buChar char="•"/>
            </a:pPr>
            <a:r>
              <a:rPr sz="1800" b="0">
                <a:solidFill>
                  <a:srgbClr val="202122"/>
                </a:solidFill>
                <a:latin typeface="Calibri"/>
              </a:rPr>
              <a:t>Reduction ideas practical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ENGINEERING CORE  ·  Core topic 12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is landfill discouraged?</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Who is responsible for environmental compliance?</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Name one hazardous waste from engineering.</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Engineering Core, Part 2</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https://lana6478.github.io/T-level-Design-Development-Engineering-Manufacturing/#/01-core-component/02-engineering-core-part2.md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Environmental Legislation and Waste</dc:title>
  <dc:subject>Design and Development for Engineering and Manufacturing T Level: Core topic 12</dc:subject>
  <dc:creator>Samuel O'Connell</dc:creator>
  <cp:keywords>T Level; Design and Development for Engineering and Manufacturing; lesson slides; 12.6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