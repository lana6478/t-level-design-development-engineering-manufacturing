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Reactive.</a:t>
            </a:r>
          </a:p>
          <a:p>
            <a:r>
              <a:t>2. Sensor data, e.g. vibration or temperature.</a:t>
            </a:r>
          </a:p>
          <a:p>
            <a:r>
              <a:t>3. Parts may be replaced before they need to be.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Checking new equipment works safely and as intended before use.</a:t>
            </a:r>
          </a:p>
          <a:p>
            <a:r>
              <a:t>2. The maintenance manager.</a:t>
            </a:r>
          </a:p>
          <a:p>
            <a:r>
              <a:t>3. Efficient machines use less energy and create less waste.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ENGINEERING CORE</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Maintenance, Repair and Installation</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topic 1</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1.2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Compare planned, reactive, preventative and condition-based maintenance.</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maintenance roles and operations.</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Explain installation and commissioning requirements.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Explain how maintenance supports the environment.</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Should you change a car's oil on a schedule, or wait until the engine sounds wrong?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Types of maintenance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Planned maintenance is scheduled in advance, such as servicing a machine every 500 hours. It's predictable but may replace parts that still had life left.</a:t>
            </a:r>
          </a:p>
          <a:p>
            <a:pPr>
              <a:spcAft>
                <a:spcPts val="1200"/>
              </a:spcAft>
            </a:pPr>
            <a:r>
              <a:rPr sz="2000" b="0">
                <a:solidFill>
                  <a:srgbClr val="202122"/>
                </a:solidFill>
                <a:latin typeface="Calibri"/>
              </a:rPr>
              <a:t>Reactive maintenance fixes things when they break. There's no upfront cost, but breakdowns are unplanned and can stop production.</a:t>
            </a:r>
          </a:p>
          <a:p>
            <a:pPr>
              <a:spcAft>
                <a:spcPts val="1200"/>
              </a:spcAft>
            </a:pPr>
            <a:r>
              <a:rPr sz="2000" b="0">
                <a:solidFill>
                  <a:srgbClr val="202122"/>
                </a:solidFill>
                <a:latin typeface="Calibri"/>
              </a:rPr>
              <a:t>Preventative maintenance carries out regular checks and servicing to stop failures happening.</a:t>
            </a:r>
          </a:p>
          <a:p>
            <a:pPr>
              <a:spcAft>
                <a:spcPts val="1200"/>
              </a:spcAft>
            </a:pPr>
            <a:r>
              <a:rPr sz="2000" b="0">
                <a:solidFill>
                  <a:srgbClr val="202122"/>
                </a:solidFill>
                <a:latin typeface="Calibri"/>
              </a:rPr>
              <a:t>Condition-based monitoring uses sensors, such as for vibration or temperature, to spot early signs of wear, so work is done only when needed. It's efficient but needs sensors and data analysis.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vibration sensor on a pump shows a rising trend. The bearing is replaced at the next planned stop, before it fails mid-shift.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Types of maintenance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2711968"/>
                <a:gridCol w="4191223"/>
                <a:gridCol w="4191223"/>
              </a:tblGrid>
              <a:tr h="905256">
                <a:tc>
                  <a:txBody>
                    <a:bodyPr wrap="square"/>
                    <a:lstStyle/>
                    <a:p>
                      <a:r>
                        <a:rPr sz="1600" b="1">
                          <a:solidFill>
                            <a:srgbClr val="FFFFFF"/>
                          </a:solidFill>
                          <a:latin typeface="Calibri"/>
                        </a:rPr>
                        <a:t>Type</a:t>
                      </a:r>
                    </a:p>
                  </a:txBody>
                  <a:tcPr marL="91440" marR="91440" anchor="ctr">
                    <a:solidFill>
                      <a:srgbClr val="03306E"/>
                    </a:solidFill>
                  </a:tcPr>
                </a:tc>
                <a:tc>
                  <a:txBody>
                    <a:bodyPr wrap="square"/>
                    <a:lstStyle/>
                    <a:p>
                      <a:r>
                        <a:rPr sz="1600" b="1">
                          <a:solidFill>
                            <a:srgbClr val="FFFFFF"/>
                          </a:solidFill>
                          <a:latin typeface="Calibri"/>
                        </a:rPr>
                        <a:t>What it means</a:t>
                      </a:r>
                    </a:p>
                  </a:txBody>
                  <a:tcPr marL="91440" marR="91440" anchor="ctr">
                    <a:solidFill>
                      <a:srgbClr val="03306E"/>
                    </a:solidFill>
                  </a:tcPr>
                </a:tc>
                <a:tc>
                  <a:txBody>
                    <a:bodyPr wrap="square"/>
                    <a:lstStyle/>
                    <a:p>
                      <a:r>
                        <a:rPr sz="1600" b="1">
                          <a:solidFill>
                            <a:srgbClr val="FFFFFF"/>
                          </a:solidFill>
                          <a:latin typeface="Calibri"/>
                        </a:rPr>
                        <a:t>Trade-off</a:t>
                      </a:r>
                    </a:p>
                  </a:txBody>
                  <a:tcPr marL="91440" marR="91440" anchor="ctr">
                    <a:solidFill>
                      <a:srgbClr val="03306E"/>
                    </a:solidFill>
                  </a:tcPr>
                </a:tc>
              </a:tr>
              <a:tr h="905256">
                <a:tc>
                  <a:txBody>
                    <a:bodyPr wrap="square"/>
                    <a:lstStyle/>
                    <a:p>
                      <a:r>
                        <a:rPr sz="1600" b="1">
                          <a:solidFill>
                            <a:srgbClr val="03306E"/>
                          </a:solidFill>
                          <a:latin typeface="Calibri"/>
                        </a:rPr>
                        <a:t>Planned</a:t>
                      </a:r>
                    </a:p>
                  </a:txBody>
                  <a:tcPr marL="91440" marR="91440" anchor="ctr">
                    <a:solidFill>
                      <a:srgbClr val="FFFFFF"/>
                    </a:solidFill>
                  </a:tcPr>
                </a:tc>
                <a:tc>
                  <a:txBody>
                    <a:bodyPr wrap="square"/>
                    <a:lstStyle/>
                    <a:p>
                      <a:r>
                        <a:rPr sz="1600" b="0">
                          <a:solidFill>
                            <a:srgbClr val="202122"/>
                          </a:solidFill>
                          <a:latin typeface="Calibri"/>
                        </a:rPr>
                        <a:t>Scheduled in advance</a:t>
                      </a:r>
                    </a:p>
                  </a:txBody>
                  <a:tcPr marL="91440" marR="91440" anchor="ctr">
                    <a:solidFill>
                      <a:srgbClr val="FFFFFF"/>
                    </a:solidFill>
                  </a:tcPr>
                </a:tc>
                <a:tc>
                  <a:txBody>
                    <a:bodyPr wrap="square"/>
                    <a:lstStyle/>
                    <a:p>
                      <a:r>
                        <a:rPr sz="1600" b="0">
                          <a:solidFill>
                            <a:srgbClr val="202122"/>
                          </a:solidFill>
                          <a:latin typeface="Calibri"/>
                        </a:rPr>
                        <a:t>Predictable, but may replace parts early</a:t>
                      </a:r>
                    </a:p>
                  </a:txBody>
                  <a:tcPr marL="91440" marR="91440" anchor="ctr">
                    <a:solidFill>
                      <a:srgbClr val="FFFFFF"/>
                    </a:solidFill>
                  </a:tcPr>
                </a:tc>
              </a:tr>
              <a:tr h="905256">
                <a:tc>
                  <a:txBody>
                    <a:bodyPr wrap="square"/>
                    <a:lstStyle/>
                    <a:p>
                      <a:r>
                        <a:rPr sz="1600" b="1">
                          <a:solidFill>
                            <a:srgbClr val="03306E"/>
                          </a:solidFill>
                          <a:latin typeface="Calibri"/>
                        </a:rPr>
                        <a:t>Reactive</a:t>
                      </a:r>
                    </a:p>
                  </a:txBody>
                  <a:tcPr marL="91440" marR="91440" anchor="ctr">
                    <a:solidFill>
                      <a:srgbClr val="EAF3FF"/>
                    </a:solidFill>
                  </a:tcPr>
                </a:tc>
                <a:tc>
                  <a:txBody>
                    <a:bodyPr wrap="square"/>
                    <a:lstStyle/>
                    <a:p>
                      <a:r>
                        <a:rPr sz="1600" b="0">
                          <a:solidFill>
                            <a:srgbClr val="202122"/>
                          </a:solidFill>
                          <a:latin typeface="Calibri"/>
                        </a:rPr>
                        <a:t>Fix it when it breaks</a:t>
                      </a:r>
                    </a:p>
                  </a:txBody>
                  <a:tcPr marL="91440" marR="91440" anchor="ctr">
                    <a:solidFill>
                      <a:srgbClr val="EAF3FF"/>
                    </a:solidFill>
                  </a:tcPr>
                </a:tc>
                <a:tc>
                  <a:txBody>
                    <a:bodyPr wrap="square"/>
                    <a:lstStyle/>
                    <a:p>
                      <a:r>
                        <a:rPr sz="1600" b="0">
                          <a:solidFill>
                            <a:srgbClr val="202122"/>
                          </a:solidFill>
                          <a:latin typeface="Calibri"/>
                        </a:rPr>
                        <a:t>No upfront cost, but unplanned downtime</a:t>
                      </a:r>
                    </a:p>
                  </a:txBody>
                  <a:tcPr marL="91440" marR="91440" anchor="ctr">
                    <a:solidFill>
                      <a:srgbClr val="EAF3FF"/>
                    </a:solidFill>
                  </a:tcPr>
                </a:tc>
              </a:tr>
              <a:tr h="905256">
                <a:tc>
                  <a:txBody>
                    <a:bodyPr wrap="square"/>
                    <a:lstStyle/>
                    <a:p>
                      <a:r>
                        <a:rPr sz="1600" b="1">
                          <a:solidFill>
                            <a:srgbClr val="03306E"/>
                          </a:solidFill>
                          <a:latin typeface="Calibri"/>
                        </a:rPr>
                        <a:t>Preventative</a:t>
                      </a:r>
                    </a:p>
                  </a:txBody>
                  <a:tcPr marL="91440" marR="91440" anchor="ctr">
                    <a:solidFill>
                      <a:srgbClr val="FFFFFF"/>
                    </a:solidFill>
                  </a:tcPr>
                </a:tc>
                <a:tc>
                  <a:txBody>
                    <a:bodyPr wrap="square"/>
                    <a:lstStyle/>
                    <a:p>
                      <a:r>
                        <a:rPr sz="1600" b="0">
                          <a:solidFill>
                            <a:srgbClr val="202122"/>
                          </a:solidFill>
                          <a:latin typeface="Calibri"/>
                        </a:rPr>
                        <a:t>Regular servicing to stop failures</a:t>
                      </a:r>
                    </a:p>
                  </a:txBody>
                  <a:tcPr marL="91440" marR="91440" anchor="ctr">
                    <a:solidFill>
                      <a:srgbClr val="FFFFFF"/>
                    </a:solidFill>
                  </a:tcPr>
                </a:tc>
                <a:tc>
                  <a:txBody>
                    <a:bodyPr wrap="square"/>
                    <a:lstStyle/>
                    <a:p>
                      <a:r>
                        <a:rPr sz="1600" b="0">
                          <a:solidFill>
                            <a:srgbClr val="202122"/>
                          </a:solidFill>
                          <a:latin typeface="Calibri"/>
                        </a:rPr>
                        <a:t>Fewer breakdowns, ongoing cost</a:t>
                      </a:r>
                    </a:p>
                  </a:txBody>
                  <a:tcPr marL="91440" marR="91440" anchor="ctr">
                    <a:solidFill>
                      <a:srgbClr val="FFFFFF"/>
                    </a:solidFill>
                  </a:tcPr>
                </a:tc>
              </a:tr>
              <a:tr h="905256">
                <a:tc>
                  <a:txBody>
                    <a:bodyPr wrap="square"/>
                    <a:lstStyle/>
                    <a:p>
                      <a:r>
                        <a:rPr sz="1600" b="1">
                          <a:solidFill>
                            <a:srgbClr val="03306E"/>
                          </a:solidFill>
                          <a:latin typeface="Calibri"/>
                        </a:rPr>
                        <a:t>Condition-based</a:t>
                      </a:r>
                    </a:p>
                  </a:txBody>
                  <a:tcPr marL="91440" marR="91440" anchor="ctr">
                    <a:solidFill>
                      <a:srgbClr val="EAF3FF"/>
                    </a:solidFill>
                  </a:tcPr>
                </a:tc>
                <a:tc>
                  <a:txBody>
                    <a:bodyPr wrap="square"/>
                    <a:lstStyle/>
                    <a:p>
                      <a:r>
                        <a:rPr sz="1600" b="0">
                          <a:solidFill>
                            <a:srgbClr val="202122"/>
                          </a:solidFill>
                          <a:latin typeface="Calibri"/>
                        </a:rPr>
                        <a:t>Monitor and act when readings change</a:t>
                      </a:r>
                    </a:p>
                  </a:txBody>
                  <a:tcPr marL="91440" marR="91440" anchor="ctr">
                    <a:solidFill>
                      <a:srgbClr val="EAF3FF"/>
                    </a:solidFill>
                  </a:tcPr>
                </a:tc>
                <a:tc>
                  <a:txBody>
                    <a:bodyPr wrap="square"/>
                    <a:lstStyle/>
                    <a:p>
                      <a:r>
                        <a:rPr sz="1600" b="0">
                          <a:solidFill>
                            <a:srgbClr val="202122"/>
                          </a:solidFill>
                          <a:latin typeface="Calibri"/>
                        </a:rPr>
                        <a:t>Efficient, needs sensors and data</a:t>
                      </a:r>
                    </a:p>
                  </a:txBody>
                  <a:tcPr marL="91440" marR="91440" anchor="ctr">
                    <a:solidFill>
                      <a:srgbClr val="EAF3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Types of maintenance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maintenance type waits for a breakdown?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condition-based monitoring use?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one drawback of planned maintenance.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Roles and operations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Machine operator</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Runs the equipment and reports faults.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Maintenance engineer</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Services, repairs and monitors equipment.</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Maintenance manager</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Plans schedules, resources and priorities.</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Operations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Monitoring, repair, shutdown and servicing.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Installation and the future of maintenance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New equipment must be installed to meet customer requirements, regulations and the manufacturer's specifications. Commissioning then checks it works safely and as intended before it goes into use.</a:t>
            </a:r>
          </a:p>
          <a:p>
            <a:pPr>
              <a:spcAft>
                <a:spcPts val="1260"/>
              </a:spcAft>
            </a:pPr>
            <a:r>
              <a:rPr sz="2100" b="0">
                <a:solidFill>
                  <a:srgbClr val="202122"/>
                </a:solidFill>
                <a:latin typeface="Calibri"/>
              </a:rPr>
              <a:t>Maintenance roles include the machine operator (who runs it and reports faults), the maintenance engineer (who services and repairs it) and the maintenance manager (who plans the work).</a:t>
            </a:r>
          </a:p>
          <a:p>
            <a:pPr>
              <a:spcAft>
                <a:spcPts val="1260"/>
              </a:spcAft>
            </a:pPr>
            <a:r>
              <a:rPr sz="2100" b="0">
                <a:solidFill>
                  <a:srgbClr val="202122"/>
                </a:solidFill>
                <a:latin typeface="Calibri"/>
              </a:rPr>
              <a:t>New technology, such as sensors, data and predictive software, is making maintenance smarter. Good maintenance also helps the environment: efficient machines use less energy, last longer and create less waste.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new CNC machine is levelled and wired to the manufacturer's specification, then commissioned by running test parts and checking the dimensions before production starts.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Installation and the future of maintenance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TextBox 5"/>
          <p:cNvSpPr txBox="1"/>
          <p:nvPr/>
        </p:nvSpPr>
        <p:spPr>
          <a:xfrm>
            <a:off x="548640" y="1600200"/>
            <a:ext cx="6675120" cy="4572000"/>
          </a:xfrm>
          <a:prstGeom prst="rect">
            <a:avLst/>
          </a:prstGeom>
          <a:noFill/>
        </p:spPr>
        <p:txBody>
          <a:bodyPr wrap="square" lIns="0" rIns="0" tIns="0" bIns="0">
            <a:spAutoFit/>
          </a:bodyPr>
          <a:lstStyle/>
          <a:p>
            <a:pPr marL="274320" indent="-274320">
              <a:spcAft>
                <a:spcPts val="1080"/>
              </a:spcAft>
              <a:buClr>
                <a:srgbClr val="0645AD"/>
              </a:buClr>
              <a:buFont typeface="Arial"/>
              <a:buChar char="•"/>
            </a:pPr>
            <a:r>
              <a:rPr sz="2400" b="0">
                <a:solidFill>
                  <a:srgbClr val="202122"/>
                </a:solidFill>
                <a:latin typeface="Calibri"/>
              </a:rPr>
              <a:t>Installation must meet customer, regulatory and manufacturer requirements.</a:t>
            </a:r>
          </a:p>
          <a:p>
            <a:pPr marL="274320" indent="-274320">
              <a:spcAft>
                <a:spcPts val="1080"/>
              </a:spcAft>
              <a:buClr>
                <a:srgbClr val="0645AD"/>
              </a:buClr>
              <a:buFont typeface="Arial"/>
              <a:buChar char="•"/>
            </a:pPr>
            <a:r>
              <a:rPr sz="2400" b="0">
                <a:solidFill>
                  <a:srgbClr val="202122"/>
                </a:solidFill>
                <a:latin typeface="Calibri"/>
              </a:rPr>
              <a:t>Commissioning checks new equipment works safely and as specified before use.</a:t>
            </a:r>
          </a:p>
          <a:p>
            <a:pPr marL="274320" indent="-274320">
              <a:spcAft>
                <a:spcPts val="1080"/>
              </a:spcAft>
              <a:buClr>
                <a:srgbClr val="0645AD"/>
              </a:buClr>
              <a:buFont typeface="Arial"/>
              <a:buChar char="•"/>
            </a:pPr>
            <a:r>
              <a:rPr sz="2400" b="1">
                <a:solidFill>
                  <a:srgbClr val="202122"/>
                </a:solidFill>
                <a:latin typeface="Calibri"/>
              </a:rPr>
              <a:t>New technology:</a:t>
            </a:r>
            <a:r>
              <a:rPr sz="2400" b="0">
                <a:solidFill>
                  <a:srgbClr val="202122"/>
                </a:solidFill>
                <a:latin typeface="Calibri"/>
              </a:rPr>
              <a:t> sensors and data make condition-based monitoring easier.</a:t>
            </a:r>
          </a:p>
          <a:p>
            <a:pPr marL="274320" indent="-274320">
              <a:spcAft>
                <a:spcPts val="1080"/>
              </a:spcAft>
              <a:buClr>
                <a:srgbClr val="0645AD"/>
              </a:buClr>
              <a:buFont typeface="Arial"/>
              <a:buChar char="•"/>
            </a:pPr>
            <a:r>
              <a:rPr sz="2400" b="0">
                <a:solidFill>
                  <a:srgbClr val="202122"/>
                </a:solidFill>
                <a:latin typeface="Calibri"/>
              </a:rPr>
              <a:t>Good maintenance reduces waste, energy use and environmental impact.</a:t>
            </a:r>
          </a:p>
          <a:p>
            <a:pPr marL="274320" indent="-274320">
              <a:spcAft>
                <a:spcPts val="1080"/>
              </a:spcAft>
              <a:buClr>
                <a:srgbClr val="0645AD"/>
              </a:buClr>
              <a:buFont typeface="Arial"/>
              <a:buChar char="•"/>
            </a:pPr>
            <a:r>
              <a:rPr sz="2400" b="0">
                <a:solidFill>
                  <a:srgbClr val="202122"/>
                </a:solidFill>
                <a:latin typeface="Calibri"/>
              </a:rPr>
              <a:t>Waste from maintenance must be disposed of safely.</a:t>
            </a:r>
          </a:p>
        </p:txBody>
      </p:sp>
      <p:sp>
        <p:nvSpPr>
          <p:cNvPr id="7" name="Rounded Rectangle 6"/>
          <p:cNvSpPr/>
          <p:nvPr/>
        </p:nvSpPr>
        <p:spPr>
          <a:xfrm>
            <a:off x="7772400" y="1600200"/>
            <a:ext cx="3867912" cy="443484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74519"/>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a:t>
            </a:r>
          </a:p>
        </p:txBody>
      </p:sp>
      <p:sp>
        <p:nvSpPr>
          <p:cNvPr id="9" name="TextBox 8"/>
          <p:cNvSpPr txBox="1"/>
          <p:nvPr/>
        </p:nvSpPr>
        <p:spPr>
          <a:xfrm>
            <a:off x="8046720" y="2606040"/>
            <a:ext cx="3291840" cy="365760"/>
          </a:xfrm>
          <a:prstGeom prst="rect">
            <a:avLst/>
          </a:prstGeom>
          <a:noFill/>
        </p:spPr>
        <p:txBody>
          <a:bodyPr wrap="square" anchor="t" lIns="0" rIns="0" tIns="0" bIns="0"/>
          <a:lstStyle/>
          <a:p>
            <a:pPr algn="l"/>
            <a:r>
              <a:rPr sz="1300" b="1" i="0">
                <a:solidFill>
                  <a:srgbClr val="A9C8F0"/>
                </a:solidFill>
                <a:latin typeface="Calibri"/>
              </a:rPr>
              <a:t>KEY IDEA</a:t>
            </a:r>
          </a:p>
        </p:txBody>
      </p:sp>
      <p:sp>
        <p:nvSpPr>
          <p:cNvPr id="10" name="TextBox 9"/>
          <p:cNvSpPr txBox="1"/>
          <p:nvPr/>
        </p:nvSpPr>
        <p:spPr>
          <a:xfrm>
            <a:off x="8046720" y="3017520"/>
            <a:ext cx="3291840" cy="2926080"/>
          </a:xfrm>
          <a:prstGeom prst="rect">
            <a:avLst/>
          </a:prstGeom>
          <a:noFill/>
        </p:spPr>
        <p:txBody>
          <a:bodyPr wrap="square" anchor="t" lIns="0" rIns="0" tIns="0" bIns="0"/>
          <a:lstStyle/>
          <a:p>
            <a:pPr algn="l"/>
            <a:r>
              <a:rPr sz="2200" b="0" i="0">
                <a:solidFill>
                  <a:srgbClr val="FFFFFF"/>
                </a:solidFill>
                <a:latin typeface="Cambria"/>
              </a:rPr>
              <a:t>Well-maintained machines last longer, waste less and are safer.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000" b="1" i="0">
                <a:solidFill>
                  <a:srgbClr val="03306E"/>
                </a:solidFill>
                <a:latin typeface="Cambria"/>
              </a:rPr>
              <a:t>Quick check: Installation and the future of maintenance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commissioning?</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Who plans maintenance work?</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How does maintenance help the environment?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Which maintenance type waits until something breaks?</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is condition-based monitoring?</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Why commission new equipment?</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Who plans maintenance schedules?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Which maintenance type waits until something breaks?</a:t>
            </a:r>
          </a:p>
          <a:p>
            <a:r>
              <a:rPr sz="1800" b="1">
                <a:solidFill>
                  <a:srgbClr val="03306E"/>
                </a:solidFill>
                <a:latin typeface="Calibri"/>
              </a:rPr>
              <a:t>Reactive.</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is condition-based monitoring?</a:t>
            </a:r>
          </a:p>
          <a:p>
            <a:r>
              <a:rPr sz="1800" b="1">
                <a:solidFill>
                  <a:srgbClr val="03306E"/>
                </a:solidFill>
                <a:latin typeface="Calibri"/>
              </a:rPr>
              <a:t>Watching equipment readings and acting when they change.</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Why commission new equipment?</a:t>
            </a:r>
          </a:p>
          <a:p>
            <a:r>
              <a:rPr sz="1800" b="1">
                <a:solidFill>
                  <a:srgbClr val="03306E"/>
                </a:solidFill>
                <a:latin typeface="Calibri"/>
              </a:rPr>
              <a:t>To prove it works safely and as specified before use.</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Who plans maintenance schedules?</a:t>
            </a:r>
          </a:p>
          <a:p>
            <a:r>
              <a:rPr sz="1800" b="1">
                <a:solidFill>
                  <a:srgbClr val="03306E"/>
                </a:solidFill>
                <a:latin typeface="Calibri"/>
              </a:rPr>
              <a:t>The maintenance manager.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Maintenance plan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Maintenance, Repair and Installation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Choose a workshop machine such as a pillar drill or lathe.</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Write a preventative maintenance schedule.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Suggest one condition you could monitor.</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Explain how your plan reduces environmental impact.</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Tasks and frequencies realistic</a:t>
            </a:r>
          </a:p>
          <a:p>
            <a:pPr marL="274320" indent="-274320">
              <a:spcAft>
                <a:spcPts val="810"/>
              </a:spcAft>
              <a:buClr>
                <a:srgbClr val="0645AD"/>
              </a:buClr>
              <a:buFont typeface="Arial"/>
              <a:buChar char="•"/>
            </a:pPr>
            <a:r>
              <a:rPr sz="1800" b="0">
                <a:solidFill>
                  <a:srgbClr val="202122"/>
                </a:solidFill>
                <a:latin typeface="Calibri"/>
              </a:rPr>
              <a:t>Monitoring idea is practical</a:t>
            </a:r>
          </a:p>
          <a:p>
            <a:pPr marL="274320" indent="-274320">
              <a:spcAft>
                <a:spcPts val="810"/>
              </a:spcAft>
              <a:buClr>
                <a:srgbClr val="0645AD"/>
              </a:buClr>
              <a:buFont typeface="Arial"/>
              <a:buChar char="•"/>
            </a:pPr>
            <a:r>
              <a:rPr sz="1800" b="0">
                <a:solidFill>
                  <a:srgbClr val="202122"/>
                </a:solidFill>
                <a:latin typeface="Calibri"/>
              </a:rPr>
              <a:t>Environmental benefit explained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ENGINEERING CORE  ·  Core topic 1</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When is reactive maintenance acceptable?</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happens during a shutdown?</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one tool used in maintenance.</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Engineering Core, Part 1</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https://lana6478.github.io/T-level-Design-Development-Engineering-Manufacturing/#/01-core-component/01-engineering-core-part1.md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Repair and Installation</dc:title>
  <dc:subject>Design and Development for Engineering and Manufacturing T Level: Core topic 1</dc:subject>
  <dc:creator>Samuel O'Connell</dc:creator>
  <cp:keywords>T Level; Design and Development for Engineering and Manufacturing; lesson slides; 1.2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