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Constraints: budget, cost, quality, time, safety, resources, communication, reputation, changing requirements. Collaborative working includes matrix working and collaborative technologies.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ordering can start during design, the path is order, machine, assemble, test = 12 days; if it waits for design, 15 days. Discuss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ENGINEERING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Project and Programme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topic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17.1, 17.2, 17.3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Project and Programme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project life cycle, constraints and risk management.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project roles and responsibilities.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Plan a project using Gantt charts, CPA and PERT.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Monitor and control a project by stages and by exception.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Building a bridge involves hundreds of tasks. How would you know which ones can't be allowed to slip?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project life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Project and Programme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6024" y="2816352"/>
            <a:ext cx="9359646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095984" y="251460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Initiate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69080"/>
            <a:ext cx="1734769" cy="11887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206240"/>
            <a:ext cx="1460449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Brief, goals and success criteria.</a:t>
            </a:r>
          </a:p>
        </p:txBody>
      </p:sp>
      <p:sp>
        <p:nvSpPr>
          <p:cNvPr id="11" name="Oval 10"/>
          <p:cNvSpPr/>
          <p:nvPr/>
        </p:nvSpPr>
        <p:spPr>
          <a:xfrm>
            <a:off x="2967913" y="251460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0569" y="329184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Plan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0569" y="4069080"/>
            <a:ext cx="1734769" cy="11887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557729" y="4206240"/>
            <a:ext cx="1460449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Resources, schedule, risks.</a:t>
            </a:r>
          </a:p>
        </p:txBody>
      </p:sp>
      <p:sp>
        <p:nvSpPr>
          <p:cNvPr id="15" name="Oval 14"/>
          <p:cNvSpPr/>
          <p:nvPr/>
        </p:nvSpPr>
        <p:spPr>
          <a:xfrm>
            <a:off x="4839843" y="251460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2498" y="329184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Implement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2498" y="4069080"/>
            <a:ext cx="1734769" cy="11887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29658" y="4206240"/>
            <a:ext cx="1460449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Do the work.</a:t>
            </a:r>
          </a:p>
        </p:txBody>
      </p:sp>
      <p:sp>
        <p:nvSpPr>
          <p:cNvPr id="19" name="Oval 18"/>
          <p:cNvSpPr/>
          <p:nvPr/>
        </p:nvSpPr>
        <p:spPr>
          <a:xfrm>
            <a:off x="6711772" y="251460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4427" y="329184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Monitor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4427" y="4069080"/>
            <a:ext cx="1734769" cy="11887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01587" y="4206240"/>
            <a:ext cx="1460449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Track against the plan.</a:t>
            </a:r>
          </a:p>
        </p:txBody>
      </p:sp>
      <p:sp>
        <p:nvSpPr>
          <p:cNvPr id="23" name="Oval 22"/>
          <p:cNvSpPr/>
          <p:nvPr/>
        </p:nvSpPr>
        <p:spPr>
          <a:xfrm>
            <a:off x="8583701" y="251460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6356" y="329184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Report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6356" y="4069080"/>
            <a:ext cx="1734769" cy="11887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73516" y="4206240"/>
            <a:ext cx="1460449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Keep stakeholders informed.</a:t>
            </a:r>
          </a:p>
        </p:txBody>
      </p:sp>
      <p:sp>
        <p:nvSpPr>
          <p:cNvPr id="27" name="Oval 26"/>
          <p:cNvSpPr/>
          <p:nvPr/>
        </p:nvSpPr>
        <p:spPr>
          <a:xfrm>
            <a:off x="10455630" y="251460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8286" y="329184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Evaluate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08286" y="4069080"/>
            <a:ext cx="1734769" cy="11887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045446" y="4206240"/>
            <a:ext cx="1460449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Review and learn.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Project and Programme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Stakeholders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Clients, regulators and others with an interest.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Project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Plans, monitors and controls the project.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Team members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Deliver the tasks and report progress.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Responsibilities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Communication, monitoring, planning, finance, reporting.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Planning and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Project and Programme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Planning 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Gantt charts:</a:t>
            </a:r>
            <a:r>
              <a:rPr sz="2200" b="0">
                <a:solidFill>
                  <a:srgbClr val="202122"/>
                </a:solidFill>
                <a:latin typeface="Calibri"/>
              </a:rPr>
              <a:t> tasks on a timeline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Critical path analysis:</a:t>
            </a:r>
            <a:r>
              <a:rPr sz="2200" b="0">
                <a:solidFill>
                  <a:srgbClr val="202122"/>
                </a:solidFill>
                <a:latin typeface="Calibri"/>
              </a:rPr>
              <a:t> the longest chain of dependent tasks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PERT:</a:t>
            </a:r>
            <a:r>
              <a:rPr sz="2200" b="0">
                <a:solidFill>
                  <a:srgbClr val="202122"/>
                </a:solidFill>
                <a:latin typeface="Calibri"/>
              </a:rPr>
              <a:t> optimistic, likely and pessimistic estimates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Contingency planning and managing interdependencies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Control methods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Monitoring reports:</a:t>
            </a:r>
            <a:r>
              <a:rPr sz="2200" b="0">
                <a:solidFill>
                  <a:srgbClr val="202122"/>
                </a:solidFill>
                <a:latin typeface="Calibri"/>
              </a:rPr>
              <a:t> budget, quality, cost, time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Managing by stages:</a:t>
            </a:r>
            <a:r>
              <a:rPr sz="2200" b="0">
                <a:solidFill>
                  <a:srgbClr val="202122"/>
                </a:solidFill>
                <a:latin typeface="Calibri"/>
              </a:rPr>
              <a:t> approve each stage before the next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Managing by exception:</a:t>
            </a:r>
            <a:r>
              <a:rPr sz="2200" b="0">
                <a:solidFill>
                  <a:srgbClr val="202122"/>
                </a:solidFill>
                <a:latin typeface="Calibri"/>
              </a:rPr>
              <a:t> escalate only when limits are exceeded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Project and Programme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happens if a critical path task is delayed?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managing by exception?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PERT use for time estimates?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three project constraints.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Project and Programme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happens if a critical path task is delayed?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whole project is delayed.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managing by exception?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Only escalating issues when agreed tolerances are exceeded.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PERT use for time estimates?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Optimistic, most likely and pessimistic estimates.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three project constraints.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three, e.g. budget, time, quality.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Plan a workshop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Project and Programme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Tasks: design (3 days), order parts (5), machine parts (4), assemble (2), test (1). Machining can't start until parts arrive.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Draw a Gantt chart.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Find the critical path and total duration.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one contingency plan.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Dependencies correct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Critical path identified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Contingency is realistic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ENGINEERING CORE  ·  Core topic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involve regulators as stakeholders?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float?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When would you manage by stages?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Engineering Core, Part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https://lana6478.github.io/T-level-Design-Development-Engineering-Manufacturing/#/01-core-component/02-engineering-core-part2.md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and Programme Management</dc:title>
  <dc:subject>Design and Development for Engineering and Manufacturing T Level: Core topic 17</dc:subject>
  <dc:creator>Samuel O'Connell</dc:creator>
  <cp:keywords>T Level; Design and Development for Engineering and Manufacturing; lesson slides; 17.1, 17.2, 17.3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