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machine changes the magnitude, direction or type of motion.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Rack and pinion.</a:t>
            </a:r>
          </a:p>
          <a:p>
            <a:r>
              <a:t>2. Class 2.</a:t>
            </a:r>
          </a:p>
          <a:p>
            <a:r>
              <a:t>3. Turns rotary motion into reciprocating motion.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3:1.</a:t>
            </a:r>
          </a:p>
          <a:p>
            <a:r>
              <a:t>2. 300 rpm.</a:t>
            </a:r>
          </a:p>
          <a:p>
            <a:r>
              <a:t>3. Multiply the ratios of each pair.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Load / effort.</a:t>
            </a:r>
          </a:p>
          <a:p>
            <a:r>
              <a:t>2. 75%.</a:t>
            </a:r>
          </a:p>
          <a:p>
            <a:r>
              <a:t>3. Friction and the weight of moving parts.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Beams can be simply supported or cantilevered; learners calculate reactions, shear force and bending moment.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E0463A"/>
                </a:solidFill>
                <a:latin typeface="Calibri"/>
              </a:rPr>
              <a:t>MECHANICAL ENGINEERING</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Simple Machines and Mechanical Calculations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Mechanical: Knowledge criteria</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1.5, 1.6, 1.13</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Design and Development for Engineering and Manufacturing T Level  ·  Lesson slides</a:t>
            </a:r>
          </a:p>
          <a:p>
            <a:pPr algn="l"/>
            <a:r>
              <a:rPr sz="1100" b="0" i="0">
                <a:solidFill>
                  <a:srgbClr val="A9C8F0"/>
                </a:solidFill>
                <a:latin typeface="Calibri"/>
              </a:rPr>
              <a:t>Unofficial teaching resource. Check the official City &amp; Guilds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Describe gears, pulleys, levers, linkages, cams and ratchets.</a:t>
            </a:r>
          </a:p>
        </p:txBody>
      </p:sp>
      <p:sp>
        <p:nvSpPr>
          <p:cNvPr id="9" name="Oval 8"/>
          <p:cNvSpPr/>
          <p:nvPr/>
        </p:nvSpPr>
        <p:spPr>
          <a:xfrm>
            <a:off x="548640" y="327469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Calculate gear ratios for simple and compound gear trains.</a:t>
            </a:r>
          </a:p>
        </p:txBody>
      </p:sp>
      <p:sp>
        <p:nvSpPr>
          <p:cNvPr id="11" name="Oval 10"/>
          <p:cNvSpPr/>
          <p:nvPr/>
        </p:nvSpPr>
        <p:spPr>
          <a:xfrm>
            <a:off x="548640" y="431482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Calculate mechanical advantage, velocity ratio and efficiency.</a:t>
            </a:r>
          </a:p>
        </p:txBody>
      </p:sp>
      <p:sp>
        <p:nvSpPr>
          <p:cNvPr id="13" name="Oval 12"/>
          <p:cNvSpPr/>
          <p:nvPr/>
        </p:nvSpPr>
        <p:spPr>
          <a:xfrm>
            <a:off x="548640" y="5354954"/>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Apply stress, strain and beam calculations to design.</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A bike's pedal gear has 48 teeth and the rear gear has 16. How many times does the wheel turn for each pedal turn?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Simple machines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0">
                <a:solidFill>
                  <a:srgbClr val="202122"/>
                </a:solidFill>
                <a:latin typeface="Calibri"/>
              </a:rPr>
              <a:t>Simple machines change the size, direction or type of motion.</a:t>
            </a:r>
          </a:p>
          <a:p>
            <a:pPr>
              <a:spcAft>
                <a:spcPts val="1140"/>
              </a:spcAft>
            </a:pPr>
            <a:r>
              <a:rPr sz="1900" b="1">
                <a:solidFill>
                  <a:srgbClr val="202122"/>
                </a:solidFill>
                <a:latin typeface="Calibri"/>
              </a:rPr>
              <a:t>Gears transmit rotation:</a:t>
            </a:r>
            <a:r>
              <a:rPr sz="1900" b="0">
                <a:solidFill>
                  <a:srgbClr val="202122"/>
                </a:solidFill>
                <a:latin typeface="Calibri"/>
              </a:rPr>
              <a:t> spur gears (parallel shafts), helical (quieter), bevel (turning through 90 degrees), worm (large reductions) and rack and pinion (rotary to linear).</a:t>
            </a:r>
          </a:p>
          <a:p>
            <a:pPr>
              <a:spcAft>
                <a:spcPts val="1140"/>
              </a:spcAft>
            </a:pPr>
            <a:r>
              <a:rPr sz="1900" b="0">
                <a:solidFill>
                  <a:srgbClr val="202122"/>
                </a:solidFill>
                <a:latin typeface="Calibri"/>
              </a:rPr>
              <a:t>Levers are class 1 (pivot in the middle, like a seesaw), class 2 (load in the middle, like a wheelbarrow) or class 3 (effort in the middle, like tweezers).</a:t>
            </a:r>
          </a:p>
          <a:p>
            <a:pPr>
              <a:spcAft>
                <a:spcPts val="1140"/>
              </a:spcAft>
            </a:pPr>
            <a:r>
              <a:rPr sz="1900" b="0">
                <a:solidFill>
                  <a:srgbClr val="202122"/>
                </a:solidFill>
                <a:latin typeface="Calibri"/>
              </a:rPr>
              <a:t>Linkages include reverse motion, parallel motion, bell crank and crank and slider. Cams (circular, eccentric, snail) turn rotation into reciprocating motion. Pulleys change the direction of force and ratchets allow movement one way only.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car's steering uses a rack and pinion to turn the steering wheel's rotation into the sideways motion that turns the wheels.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Simple machines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Gears</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Spur, helical, bevel, worm, rack and pinion.</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Levers</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Class 1 (seesaw), class 2 (wheelbarrow), class 3 (tweezers).</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Linkages</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Reverse motion, parallel motion, bell crank, crank and slider.</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Cams</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1800" b="0" i="0">
                <a:solidFill>
                  <a:srgbClr val="202122"/>
                </a:solidFill>
                <a:latin typeface="Calibri"/>
              </a:rPr>
              <a:t>Circular, eccentric and snail (drop) cams turn rotary into reciprocating motion.</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800" b="1" i="0">
                <a:solidFill>
                  <a:srgbClr val="03306E"/>
                </a:solidFill>
                <a:latin typeface="Calibri"/>
              </a:rPr>
              <a:t>Pulleys and ratchets</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Change force direction; allow motion one way only.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Simple machines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gear turns rotation into linear motion?</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Which lever class is a wheelbarrow?</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a cam do?</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Gear trains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Gear ratio = teeth on the driven gear / teeth on the driver gear.</a:t>
            </a:r>
          </a:p>
          <a:p>
            <a:pPr>
              <a:spcAft>
                <a:spcPts val="1320"/>
              </a:spcAft>
            </a:pPr>
            <a:r>
              <a:rPr sz="2200" b="0">
                <a:solidFill>
                  <a:srgbClr val="202122"/>
                </a:solidFill>
                <a:latin typeface="Calibri"/>
              </a:rPr>
              <a:t>Output speed = input speed / gear ratio. A ratio above 1 slows the output but increases torque; below 1 speeds it up and reduces torque.</a:t>
            </a:r>
          </a:p>
          <a:p>
            <a:pPr>
              <a:spcAft>
                <a:spcPts val="1320"/>
              </a:spcAft>
            </a:pPr>
            <a:r>
              <a:rPr sz="2200" b="0">
                <a:solidFill>
                  <a:srgbClr val="202122"/>
                </a:solidFill>
                <a:latin typeface="Calibri"/>
              </a:rPr>
              <a:t>In a compound gear train, two gears share a shaft. Multiply the ratios of each pair to get the overall ratio, which allows large reductions in a small space.</a:t>
            </a:r>
          </a:p>
          <a:p>
            <a:pPr>
              <a:spcAft>
                <a:spcPts val="1320"/>
              </a:spcAft>
            </a:pPr>
            <a:r>
              <a:rPr sz="2200" b="0">
                <a:solidFill>
                  <a:srgbClr val="202122"/>
                </a:solidFill>
                <a:latin typeface="Calibri"/>
              </a:rPr>
              <a:t>An idler gear between two gears changes the direction of rotation but not the ratio.</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Driver 20 teeth to driven 60 teeth (3:1), then on the same shaft 15 teeth to 45 teeth (3:1). Overall ratio = 3 x 3 = 9:1, so 900 rpm in gives 100 rpm out.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Gear trains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0">
                <a:solidFill>
                  <a:srgbClr val="202122"/>
                </a:solidFill>
                <a:latin typeface="Calibri"/>
              </a:rPr>
              <a:t>Gear ratio = teeth on driven gear / teeth on driver gear.</a:t>
            </a:r>
          </a:p>
          <a:p>
            <a:pPr marL="274320" indent="-274320">
              <a:spcAft>
                <a:spcPts val="1080"/>
              </a:spcAft>
              <a:buClr>
                <a:srgbClr val="0645AD"/>
              </a:buClr>
              <a:buFont typeface="Arial"/>
              <a:buChar char="•"/>
            </a:pPr>
            <a:r>
              <a:rPr sz="2400" b="0">
                <a:solidFill>
                  <a:srgbClr val="202122"/>
                </a:solidFill>
                <a:latin typeface="Calibri"/>
              </a:rPr>
              <a:t>Output speed = input speed / gear ratio.</a:t>
            </a:r>
          </a:p>
          <a:p>
            <a:pPr marL="274320" indent="-274320">
              <a:spcAft>
                <a:spcPts val="1080"/>
              </a:spcAft>
              <a:buClr>
                <a:srgbClr val="0645AD"/>
              </a:buClr>
              <a:buFont typeface="Arial"/>
              <a:buChar char="•"/>
            </a:pPr>
            <a:r>
              <a:rPr sz="2400" b="1">
                <a:solidFill>
                  <a:srgbClr val="202122"/>
                </a:solidFill>
                <a:latin typeface="Calibri"/>
              </a:rPr>
              <a:t>Compound train:</a:t>
            </a:r>
            <a:r>
              <a:rPr sz="2400" b="0">
                <a:solidFill>
                  <a:srgbClr val="202122"/>
                </a:solidFill>
                <a:latin typeface="Calibri"/>
              </a:rPr>
              <a:t> multiply the ratios of each pair.</a:t>
            </a:r>
          </a:p>
          <a:p>
            <a:pPr marL="274320" indent="-274320">
              <a:spcAft>
                <a:spcPts val="1080"/>
              </a:spcAft>
              <a:buClr>
                <a:srgbClr val="0645AD"/>
              </a:buClr>
              <a:buFont typeface="Arial"/>
              <a:buChar char="•"/>
            </a:pPr>
            <a:r>
              <a:rPr sz="2400" b="1">
                <a:solidFill>
                  <a:srgbClr val="202122"/>
                </a:solidFill>
                <a:latin typeface="Calibri"/>
              </a:rPr>
              <a:t>Starter:</a:t>
            </a:r>
            <a:r>
              <a:rPr sz="2400" b="0">
                <a:solidFill>
                  <a:srgbClr val="202122"/>
                </a:solidFill>
                <a:latin typeface="Calibri"/>
              </a:rPr>
              <a:t> 16 / 48 = 1/3, so the wheel turns 3 times per pedal turn.</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A ratio above 1 slows the output and increases torque. Below 1 speeds it up and reduces torque.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Gear trains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A 25-tooth driver meshes with a 75-tooth gear. Gear ratio?</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If the input is 1,200 rpm through a 4:1 ratio, what is the output?</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do you find a compound train's ratio?</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Machine performance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Mechanical advantage (MA) = load / effort. It shows how much a machine multiplies force.</a:t>
            </a:r>
          </a:p>
          <a:p>
            <a:pPr>
              <a:spcAft>
                <a:spcPts val="1320"/>
              </a:spcAft>
            </a:pPr>
            <a:r>
              <a:rPr sz="2200" b="0">
                <a:solidFill>
                  <a:srgbClr val="202122"/>
                </a:solidFill>
                <a:latin typeface="Calibri"/>
              </a:rPr>
              <a:t>Velocity ratio (VR) = distance moved by the effort / distance moved by the load. It depends only on the machine's geometry.</a:t>
            </a:r>
          </a:p>
          <a:p>
            <a:pPr>
              <a:spcAft>
                <a:spcPts val="1320"/>
              </a:spcAft>
            </a:pPr>
            <a:r>
              <a:rPr sz="2200" b="0">
                <a:solidFill>
                  <a:srgbClr val="202122"/>
                </a:solidFill>
                <a:latin typeface="Calibri"/>
              </a:rPr>
              <a:t>Efficiency = MA / VR x 100%. Real machines are never 100% efficient because of friction and the weight of moving parts.</a:t>
            </a:r>
          </a:p>
          <a:p>
            <a:pPr>
              <a:spcAft>
                <a:spcPts val="1320"/>
              </a:spcAft>
            </a:pPr>
            <a:r>
              <a:rPr sz="2200" b="0">
                <a:solidFill>
                  <a:srgbClr val="202122"/>
                </a:solidFill>
                <a:latin typeface="Calibri"/>
              </a:rPr>
              <a:t>Work = force x distance, and power = work / time.</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pulley system lifts 800 N with 250 N effort. The effort moves 4 m while the load rises 1 m. MA = 3.2, VR = 4, efficiency = 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Machine performance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3870144"/>
                <a:gridCol w="7224270"/>
              </a:tblGrid>
              <a:tr h="754380">
                <a:tc>
                  <a:txBody>
                    <a:bodyPr wrap="square"/>
                    <a:lstStyle/>
                    <a:p>
                      <a:r>
                        <a:rPr sz="1600" b="1">
                          <a:solidFill>
                            <a:srgbClr val="FFFFFF"/>
                          </a:solidFill>
                          <a:latin typeface="Calibri"/>
                        </a:rPr>
                        <a:t>Quantity</a:t>
                      </a:r>
                    </a:p>
                  </a:txBody>
                  <a:tcPr marL="91440" marR="91440" anchor="ctr">
                    <a:solidFill>
                      <a:srgbClr val="03306E"/>
                    </a:solidFill>
                  </a:tcPr>
                </a:tc>
                <a:tc>
                  <a:txBody>
                    <a:bodyPr wrap="square"/>
                    <a:lstStyle/>
                    <a:p>
                      <a:r>
                        <a:rPr sz="1600" b="1">
                          <a:solidFill>
                            <a:srgbClr val="FFFFFF"/>
                          </a:solidFill>
                          <a:latin typeface="Calibri"/>
                        </a:rPr>
                        <a:t>Formula</a:t>
                      </a:r>
                    </a:p>
                  </a:txBody>
                  <a:tcPr marL="91440" marR="91440" anchor="ctr">
                    <a:solidFill>
                      <a:srgbClr val="03306E"/>
                    </a:solidFill>
                  </a:tcPr>
                </a:tc>
              </a:tr>
              <a:tr h="754380">
                <a:tc>
                  <a:txBody>
                    <a:bodyPr wrap="square"/>
                    <a:lstStyle/>
                    <a:p>
                      <a:r>
                        <a:rPr sz="1600" b="1">
                          <a:solidFill>
                            <a:srgbClr val="03306E"/>
                          </a:solidFill>
                          <a:latin typeface="Calibri"/>
                        </a:rPr>
                        <a:t>Mechanical advantage (MA)</a:t>
                      </a:r>
                    </a:p>
                  </a:txBody>
                  <a:tcPr marL="91440" marR="91440" anchor="ctr">
                    <a:solidFill>
                      <a:srgbClr val="FFFFFF"/>
                    </a:solidFill>
                  </a:tcPr>
                </a:tc>
                <a:tc>
                  <a:txBody>
                    <a:bodyPr wrap="square"/>
                    <a:lstStyle/>
                    <a:p>
                      <a:r>
                        <a:rPr sz="1600" b="0">
                          <a:solidFill>
                            <a:srgbClr val="202122"/>
                          </a:solidFill>
                          <a:latin typeface="Calibri"/>
                        </a:rPr>
                        <a:t>Load / effort</a:t>
                      </a:r>
                    </a:p>
                  </a:txBody>
                  <a:tcPr marL="91440" marR="91440" anchor="ctr">
                    <a:solidFill>
                      <a:srgbClr val="FFFFFF"/>
                    </a:solidFill>
                  </a:tcPr>
                </a:tc>
              </a:tr>
              <a:tr h="754380">
                <a:tc>
                  <a:txBody>
                    <a:bodyPr wrap="square"/>
                    <a:lstStyle/>
                    <a:p>
                      <a:r>
                        <a:rPr sz="1600" b="1">
                          <a:solidFill>
                            <a:srgbClr val="03306E"/>
                          </a:solidFill>
                          <a:latin typeface="Calibri"/>
                        </a:rPr>
                        <a:t>Velocity ratio (VR)</a:t>
                      </a:r>
                    </a:p>
                  </a:txBody>
                  <a:tcPr marL="91440" marR="91440" anchor="ctr">
                    <a:solidFill>
                      <a:srgbClr val="EAF3FF"/>
                    </a:solidFill>
                  </a:tcPr>
                </a:tc>
                <a:tc>
                  <a:txBody>
                    <a:bodyPr wrap="square"/>
                    <a:lstStyle/>
                    <a:p>
                      <a:r>
                        <a:rPr sz="1600" b="0">
                          <a:solidFill>
                            <a:srgbClr val="202122"/>
                          </a:solidFill>
                          <a:latin typeface="Calibri"/>
                        </a:rPr>
                        <a:t>Distance moved by effort / distance moved by load</a:t>
                      </a:r>
                    </a:p>
                  </a:txBody>
                  <a:tcPr marL="91440" marR="91440" anchor="ctr">
                    <a:solidFill>
                      <a:srgbClr val="EAF3FF"/>
                    </a:solidFill>
                  </a:tcPr>
                </a:tc>
              </a:tr>
              <a:tr h="754380">
                <a:tc>
                  <a:txBody>
                    <a:bodyPr wrap="square"/>
                    <a:lstStyle/>
                    <a:p>
                      <a:r>
                        <a:rPr sz="1600" b="1">
                          <a:solidFill>
                            <a:srgbClr val="03306E"/>
                          </a:solidFill>
                          <a:latin typeface="Calibri"/>
                        </a:rPr>
                        <a:t>Efficiency</a:t>
                      </a:r>
                    </a:p>
                  </a:txBody>
                  <a:tcPr marL="91440" marR="91440" anchor="ctr">
                    <a:solidFill>
                      <a:srgbClr val="FFFFFF"/>
                    </a:solidFill>
                  </a:tcPr>
                </a:tc>
                <a:tc>
                  <a:txBody>
                    <a:bodyPr wrap="square"/>
                    <a:lstStyle/>
                    <a:p>
                      <a:r>
                        <a:rPr sz="1600" b="0">
                          <a:solidFill>
                            <a:srgbClr val="202122"/>
                          </a:solidFill>
                          <a:latin typeface="Calibri"/>
                        </a:rPr>
                        <a:t>MA / VR x 100%</a:t>
                      </a:r>
                    </a:p>
                  </a:txBody>
                  <a:tcPr marL="91440" marR="91440" anchor="ctr">
                    <a:solidFill>
                      <a:srgbClr val="FFFFFF"/>
                    </a:solidFill>
                  </a:tcPr>
                </a:tc>
              </a:tr>
              <a:tr h="754380">
                <a:tc>
                  <a:txBody>
                    <a:bodyPr wrap="square"/>
                    <a:lstStyle/>
                    <a:p>
                      <a:r>
                        <a:rPr sz="1600" b="1">
                          <a:solidFill>
                            <a:srgbClr val="03306E"/>
                          </a:solidFill>
                          <a:latin typeface="Calibri"/>
                        </a:rPr>
                        <a:t>Work</a:t>
                      </a:r>
                    </a:p>
                  </a:txBody>
                  <a:tcPr marL="91440" marR="91440" anchor="ctr">
                    <a:solidFill>
                      <a:srgbClr val="EAF3FF"/>
                    </a:solidFill>
                  </a:tcPr>
                </a:tc>
                <a:tc>
                  <a:txBody>
                    <a:bodyPr wrap="square"/>
                    <a:lstStyle/>
                    <a:p>
                      <a:r>
                        <a:rPr sz="1600" b="0">
                          <a:solidFill>
                            <a:srgbClr val="202122"/>
                          </a:solidFill>
                          <a:latin typeface="Calibri"/>
                        </a:rPr>
                        <a:t>Force x distance</a:t>
                      </a:r>
                    </a:p>
                  </a:txBody>
                  <a:tcPr marL="91440" marR="91440" anchor="ctr">
                    <a:solidFill>
                      <a:srgbClr val="EAF3FF"/>
                    </a:solidFill>
                  </a:tcPr>
                </a:tc>
              </a:tr>
              <a:tr h="754380">
                <a:tc>
                  <a:txBody>
                    <a:bodyPr wrap="square"/>
                    <a:lstStyle/>
                    <a:p>
                      <a:r>
                        <a:rPr sz="1600" b="1">
                          <a:solidFill>
                            <a:srgbClr val="03306E"/>
                          </a:solidFill>
                          <a:latin typeface="Calibri"/>
                        </a:rPr>
                        <a:t>Power</a:t>
                      </a:r>
                    </a:p>
                  </a:txBody>
                  <a:tcPr marL="91440" marR="91440" anchor="ctr">
                    <a:solidFill>
                      <a:srgbClr val="FFFFFF"/>
                    </a:solidFill>
                  </a:tcPr>
                </a:tc>
                <a:tc>
                  <a:txBody>
                    <a:bodyPr wrap="square"/>
                    <a:lstStyle/>
                    <a:p>
                      <a:r>
                        <a:rPr sz="1600" b="0">
                          <a:solidFill>
                            <a:srgbClr val="202122"/>
                          </a:solidFill>
                          <a:latin typeface="Calibri"/>
                        </a:rPr>
                        <a:t>Work / time</a:t>
                      </a:r>
                    </a:p>
                  </a:txBody>
                  <a:tcPr marL="91440" marR="91440"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Machine performance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the formula for mechanical advantage?</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If MA is 3 and VR is 4, what is the efficiency?</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is efficiency never 100%?</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Force calculations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3870144"/>
                <a:gridCol w="7224270"/>
              </a:tblGrid>
              <a:tr h="754380">
                <a:tc>
                  <a:txBody>
                    <a:bodyPr wrap="square"/>
                    <a:lstStyle/>
                    <a:p>
                      <a:r>
                        <a:rPr sz="1600" b="1">
                          <a:solidFill>
                            <a:srgbClr val="FFFFFF"/>
                          </a:solidFill>
                          <a:latin typeface="Calibri"/>
                        </a:rPr>
                        <a:t>Quantity</a:t>
                      </a:r>
                    </a:p>
                  </a:txBody>
                  <a:tcPr marL="91440" marR="91440" anchor="ctr">
                    <a:solidFill>
                      <a:srgbClr val="03306E"/>
                    </a:solidFill>
                  </a:tcPr>
                </a:tc>
                <a:tc>
                  <a:txBody>
                    <a:bodyPr wrap="square"/>
                    <a:lstStyle/>
                    <a:p>
                      <a:r>
                        <a:rPr sz="1600" b="1">
                          <a:solidFill>
                            <a:srgbClr val="FFFFFF"/>
                          </a:solidFill>
                          <a:latin typeface="Calibri"/>
                        </a:rPr>
                        <a:t>Formula</a:t>
                      </a:r>
                    </a:p>
                  </a:txBody>
                  <a:tcPr marL="91440" marR="91440" anchor="ctr">
                    <a:solidFill>
                      <a:srgbClr val="03306E"/>
                    </a:solidFill>
                  </a:tcPr>
                </a:tc>
              </a:tr>
              <a:tr h="754380">
                <a:tc>
                  <a:txBody>
                    <a:bodyPr wrap="square"/>
                    <a:lstStyle/>
                    <a:p>
                      <a:r>
                        <a:rPr sz="1600" b="1">
                          <a:solidFill>
                            <a:srgbClr val="03306E"/>
                          </a:solidFill>
                          <a:latin typeface="Calibri"/>
                        </a:rPr>
                        <a:t>Stress</a:t>
                      </a:r>
                    </a:p>
                  </a:txBody>
                  <a:tcPr marL="91440" marR="91440" anchor="ctr">
                    <a:solidFill>
                      <a:srgbClr val="FFFFFF"/>
                    </a:solidFill>
                  </a:tcPr>
                </a:tc>
                <a:tc>
                  <a:txBody>
                    <a:bodyPr wrap="square"/>
                    <a:lstStyle/>
                    <a:p>
                      <a:r>
                        <a:rPr sz="1600" b="0">
                          <a:solidFill>
                            <a:srgbClr val="202122"/>
                          </a:solidFill>
                          <a:latin typeface="Calibri"/>
                        </a:rPr>
                        <a:t>Force / area</a:t>
                      </a:r>
                    </a:p>
                  </a:txBody>
                  <a:tcPr marL="91440" marR="91440" anchor="ctr">
                    <a:solidFill>
                      <a:srgbClr val="FFFFFF"/>
                    </a:solidFill>
                  </a:tcPr>
                </a:tc>
              </a:tr>
              <a:tr h="754380">
                <a:tc>
                  <a:txBody>
                    <a:bodyPr wrap="square"/>
                    <a:lstStyle/>
                    <a:p>
                      <a:r>
                        <a:rPr sz="1600" b="1">
                          <a:solidFill>
                            <a:srgbClr val="03306E"/>
                          </a:solidFill>
                          <a:latin typeface="Calibri"/>
                        </a:rPr>
                        <a:t>Strain</a:t>
                      </a:r>
                    </a:p>
                  </a:txBody>
                  <a:tcPr marL="91440" marR="91440" anchor="ctr">
                    <a:solidFill>
                      <a:srgbClr val="EAF3FF"/>
                    </a:solidFill>
                  </a:tcPr>
                </a:tc>
                <a:tc>
                  <a:txBody>
                    <a:bodyPr wrap="square"/>
                    <a:lstStyle/>
                    <a:p>
                      <a:r>
                        <a:rPr sz="1600" b="0">
                          <a:solidFill>
                            <a:srgbClr val="202122"/>
                          </a:solidFill>
                          <a:latin typeface="Calibri"/>
                        </a:rPr>
                        <a:t>Extension / original length</a:t>
                      </a:r>
                    </a:p>
                  </a:txBody>
                  <a:tcPr marL="91440" marR="91440" anchor="ctr">
                    <a:solidFill>
                      <a:srgbClr val="EAF3FF"/>
                    </a:solidFill>
                  </a:tcPr>
                </a:tc>
              </a:tr>
              <a:tr h="754380">
                <a:tc>
                  <a:txBody>
                    <a:bodyPr wrap="square"/>
                    <a:lstStyle/>
                    <a:p>
                      <a:r>
                        <a:rPr sz="1600" b="1">
                          <a:solidFill>
                            <a:srgbClr val="03306E"/>
                          </a:solidFill>
                          <a:latin typeface="Calibri"/>
                        </a:rPr>
                        <a:t>Young's modulus</a:t>
                      </a:r>
                    </a:p>
                  </a:txBody>
                  <a:tcPr marL="91440" marR="91440" anchor="ctr">
                    <a:solidFill>
                      <a:srgbClr val="FFFFFF"/>
                    </a:solidFill>
                  </a:tcPr>
                </a:tc>
                <a:tc>
                  <a:txBody>
                    <a:bodyPr wrap="square"/>
                    <a:lstStyle/>
                    <a:p>
                      <a:r>
                        <a:rPr sz="1600" b="0">
                          <a:solidFill>
                            <a:srgbClr val="202122"/>
                          </a:solidFill>
                          <a:latin typeface="Calibri"/>
                        </a:rPr>
                        <a:t>Stress / strain</a:t>
                      </a:r>
                    </a:p>
                  </a:txBody>
                  <a:tcPr marL="91440" marR="91440" anchor="ctr">
                    <a:solidFill>
                      <a:srgbClr val="FFFFFF"/>
                    </a:solidFill>
                  </a:tcPr>
                </a:tc>
              </a:tr>
              <a:tr h="754380">
                <a:tc>
                  <a:txBody>
                    <a:bodyPr wrap="square"/>
                    <a:lstStyle/>
                    <a:p>
                      <a:r>
                        <a:rPr sz="1600" b="1">
                          <a:solidFill>
                            <a:srgbClr val="03306E"/>
                          </a:solidFill>
                          <a:latin typeface="Calibri"/>
                        </a:rPr>
                        <a:t>Beam reactions</a:t>
                      </a:r>
                    </a:p>
                  </a:txBody>
                  <a:tcPr marL="91440" marR="91440" anchor="ctr">
                    <a:solidFill>
                      <a:srgbClr val="EAF3FF"/>
                    </a:solidFill>
                  </a:tcPr>
                </a:tc>
                <a:tc>
                  <a:txBody>
                    <a:bodyPr wrap="square"/>
                    <a:lstStyle/>
                    <a:p>
                      <a:r>
                        <a:rPr sz="1600" b="0">
                          <a:solidFill>
                            <a:srgbClr val="202122"/>
                          </a:solidFill>
                          <a:latin typeface="Calibri"/>
                        </a:rPr>
                        <a:t>Take moments about a support; reactions sum to the total load</a:t>
                      </a:r>
                    </a:p>
                  </a:txBody>
                  <a:tcPr marL="91440" marR="91440" anchor="ctr">
                    <a:solidFill>
                      <a:srgbClr val="EAF3FF"/>
                    </a:solidFill>
                  </a:tcPr>
                </a:tc>
              </a:tr>
              <a:tr h="754380">
                <a:tc>
                  <a:txBody>
                    <a:bodyPr wrap="square"/>
                    <a:lstStyle/>
                    <a:p>
                      <a:r>
                        <a:rPr sz="1600" b="1">
                          <a:solidFill>
                            <a:srgbClr val="03306E"/>
                          </a:solidFill>
                          <a:latin typeface="Calibri"/>
                        </a:rPr>
                        <a:t>Material quantity and cost</a:t>
                      </a:r>
                    </a:p>
                  </a:txBody>
                  <a:tcPr marL="91440" marR="91440" anchor="ctr">
                    <a:solidFill>
                      <a:srgbClr val="FFFFFF"/>
                    </a:solidFill>
                  </a:tcPr>
                </a:tc>
                <a:tc>
                  <a:txBody>
                    <a:bodyPr wrap="square"/>
                    <a:lstStyle/>
                    <a:p>
                      <a:r>
                        <a:rPr sz="1600" b="0">
                          <a:solidFill>
                            <a:srgbClr val="202122"/>
                          </a:solidFill>
                          <a:latin typeface="Calibri"/>
                        </a:rPr>
                        <a:t>Area or volume x unit cost, plus manufacturing cost</a:t>
                      </a:r>
                    </a:p>
                  </a:txBody>
                  <a:tcPr marL="91440" marR="9144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A 20-tooth driver meshes with a 60-tooth driven gear. Gear ratio?</a:t>
            </a:r>
          </a:p>
        </p:txBody>
      </p:sp>
      <p:sp>
        <p:nvSpPr>
          <p:cNvPr id="8" name="Oval 7"/>
          <p:cNvSpPr/>
          <p:nvPr/>
        </p:nvSpPr>
        <p:spPr>
          <a:xfrm>
            <a:off x="548640" y="2574950"/>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If the driver turns at 900 rpm, what is the output speed?</a:t>
            </a:r>
          </a:p>
        </p:txBody>
      </p:sp>
      <p:sp>
        <p:nvSpPr>
          <p:cNvPr id="10" name="Oval 9"/>
          <p:cNvSpPr/>
          <p:nvPr/>
        </p:nvSpPr>
        <p:spPr>
          <a:xfrm>
            <a:off x="548640" y="3531412"/>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A pulley lifts 400 N with 100 N effort. MA?</a:t>
            </a:r>
          </a:p>
        </p:txBody>
      </p:sp>
      <p:sp>
        <p:nvSpPr>
          <p:cNvPr id="12" name="Oval 11"/>
          <p:cNvSpPr/>
          <p:nvPr/>
        </p:nvSpPr>
        <p:spPr>
          <a:xfrm>
            <a:off x="548640" y="4487875"/>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If VR is 5 and MA is 4, what is the efficiency?</a:t>
            </a:r>
          </a:p>
        </p:txBody>
      </p:sp>
      <p:sp>
        <p:nvSpPr>
          <p:cNvPr id="14" name="Oval 13"/>
          <p:cNvSpPr/>
          <p:nvPr/>
        </p:nvSpPr>
        <p:spPr>
          <a:xfrm>
            <a:off x="548640" y="5444337"/>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Which lever class is a wheelbarrow?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A 20-tooth driver meshes with a 60-tooth driven gear. Gear ratio?</a:t>
            </a:r>
          </a:p>
          <a:p>
            <a:r>
              <a:rPr sz="1800" b="1">
                <a:solidFill>
                  <a:srgbClr val="03306E"/>
                </a:solidFill>
                <a:latin typeface="Calibri"/>
              </a:rPr>
              <a:t>3:1.</a:t>
            </a:r>
          </a:p>
        </p:txBody>
      </p:sp>
      <p:sp>
        <p:nvSpPr>
          <p:cNvPr id="8" name="Oval 7"/>
          <p:cNvSpPr/>
          <p:nvPr/>
        </p:nvSpPr>
        <p:spPr>
          <a:xfrm>
            <a:off x="548640" y="2574950"/>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If the driver turns at 900 rpm, what is the output speed?</a:t>
            </a:r>
          </a:p>
          <a:p>
            <a:r>
              <a:rPr sz="1800" b="1">
                <a:solidFill>
                  <a:srgbClr val="03306E"/>
                </a:solidFill>
                <a:latin typeface="Calibri"/>
              </a:rPr>
              <a:t>300 rpm.</a:t>
            </a:r>
          </a:p>
        </p:txBody>
      </p:sp>
      <p:sp>
        <p:nvSpPr>
          <p:cNvPr id="10" name="Oval 9"/>
          <p:cNvSpPr/>
          <p:nvPr/>
        </p:nvSpPr>
        <p:spPr>
          <a:xfrm>
            <a:off x="548640" y="3531412"/>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A pulley lifts 400 N with 100 N effort. MA?</a:t>
            </a:r>
          </a:p>
          <a:p>
            <a:r>
              <a:rPr sz="1800" b="1">
                <a:solidFill>
                  <a:srgbClr val="03306E"/>
                </a:solidFill>
                <a:latin typeface="Calibri"/>
              </a:rPr>
              <a:t>4.</a:t>
            </a:r>
          </a:p>
        </p:txBody>
      </p:sp>
      <p:sp>
        <p:nvSpPr>
          <p:cNvPr id="12" name="Oval 11"/>
          <p:cNvSpPr/>
          <p:nvPr/>
        </p:nvSpPr>
        <p:spPr>
          <a:xfrm>
            <a:off x="548640" y="4487875"/>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If VR is 5 and MA is 4, what is the efficiency?</a:t>
            </a:r>
          </a:p>
          <a:p>
            <a:r>
              <a:rPr sz="1800" b="1">
                <a:solidFill>
                  <a:srgbClr val="03306E"/>
                </a:solidFill>
                <a:latin typeface="Calibri"/>
              </a:rPr>
              <a:t>80%.</a:t>
            </a:r>
          </a:p>
        </p:txBody>
      </p:sp>
      <p:sp>
        <p:nvSpPr>
          <p:cNvPr id="14" name="Oval 13"/>
          <p:cNvSpPr/>
          <p:nvPr/>
        </p:nvSpPr>
        <p:spPr>
          <a:xfrm>
            <a:off x="548640" y="5444337"/>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Which lever class is a wheelbarrow?</a:t>
            </a:r>
          </a:p>
          <a:p>
            <a:r>
              <a:rPr sz="1800" b="1">
                <a:solidFill>
                  <a:srgbClr val="03306E"/>
                </a:solidFill>
                <a:latin typeface="Calibri"/>
              </a:rPr>
              <a:t>Class 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Design a winch</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Simple Machines and Mechanical Calculations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508760"/>
            <a:ext cx="2011680" cy="457200"/>
          </a:xfrm>
          <a:prstGeom prst="roundRect">
            <a:avLst>
              <a:gd name="adj" fmla="val 50000"/>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FFFFFF"/>
                </a:solidFill>
                <a:latin typeface="Calibri"/>
              </a:rPr>
              <a:t>35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A winch must lift 2,000 N using a 250 N effort.</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Design a compound gear train to achieve it.</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Calculate MA, VR and efficiency assuming 80% efficiency.</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Suggest where a ratchet is needed and why.</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Gear ratio calculated correctly</a:t>
            </a:r>
          </a:p>
          <a:p>
            <a:pPr marL="274320" indent="-274320">
              <a:spcAft>
                <a:spcPts val="810"/>
              </a:spcAft>
              <a:buClr>
                <a:srgbClr val="0645AD"/>
              </a:buClr>
              <a:buFont typeface="Arial"/>
              <a:buChar char="•"/>
            </a:pPr>
            <a:r>
              <a:rPr sz="1800" b="0">
                <a:solidFill>
                  <a:srgbClr val="202122"/>
                </a:solidFill>
                <a:latin typeface="Calibri"/>
              </a:rPr>
              <a:t>Efficiency accounted for</a:t>
            </a:r>
          </a:p>
          <a:p>
            <a:pPr marL="274320" indent="-274320">
              <a:spcAft>
                <a:spcPts val="810"/>
              </a:spcAft>
              <a:buClr>
                <a:srgbClr val="0645AD"/>
              </a:buClr>
              <a:buFont typeface="Arial"/>
              <a:buChar char="•"/>
            </a:pPr>
            <a:r>
              <a:rPr sz="1800" b="0">
                <a:solidFill>
                  <a:srgbClr val="202122"/>
                </a:solidFill>
                <a:latin typeface="Calibri"/>
              </a:rPr>
              <a:t>Ratchet placement justified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MECHANICAL ENGINEERING  ·  Mechanical: Knowledge criteria</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can't efficiency ever reach 100%?</a:t>
            </a:r>
          </a:p>
        </p:txBody>
      </p:sp>
      <p:sp>
        <p:nvSpPr>
          <p:cNvPr id="6" name="Oval 5"/>
          <p:cNvSpPr/>
          <p:nvPr/>
        </p:nvSpPr>
        <p:spPr>
          <a:xfrm>
            <a:off x="548640" y="26974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Which gear type changes the axis by 90 degrees?</a:t>
            </a:r>
          </a:p>
        </p:txBody>
      </p:sp>
      <p:sp>
        <p:nvSpPr>
          <p:cNvPr id="8" name="Oval 7"/>
          <p:cNvSpPr/>
          <p:nvPr/>
        </p:nvSpPr>
        <p:spPr>
          <a:xfrm>
            <a:off x="548640" y="365760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What does a cam follower do?</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Knowledge Criteria</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https://lana6478.github.io/T-level-Design-Development-Engineering-Manufacturing/#/02-occupational-specialism/01-knowledge-criteria.md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Machines and Mechanical Calculations</dc:title>
  <dc:subject>Design and Development for Engineering and Manufacturing T Level: Mechanical: Knowledge criteria</dc:subject>
  <dc:creator>Samuel O'Connell</dc:creator>
  <cp:keywords>T Level; Design and Development for Engineering and Manufacturing; lesson slides; 1.5, 1.6, 1.13</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