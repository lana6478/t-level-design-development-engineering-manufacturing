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commercial advantage, design for reuse, planned obsolescence and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Products developed in response to customer demand.</a:t>
            </a:r>
          </a:p>
          <a:p>
            <a:r>
              <a:t>2. New technology creating products that find a market.</a:t>
            </a:r>
          </a:p>
          <a:p>
            <a:r>
              <a:t>3. E.g. tools, materials, process capability, skills.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Materials, labour, overheads.</a:t>
            </a:r>
          </a:p>
          <a:p>
            <a:r>
              <a:t>2. 3 pounds.</a:t>
            </a:r>
          </a:p>
          <a:p>
            <a:r>
              <a:t>3. They set materials, parts and processes.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E0463A"/>
                </a:solidFill>
                <a:latin typeface="Calibri"/>
              </a:rPr>
              <a:t>MECHANICAL ENGINEERING</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Business Context, Constraints and Metrics in Design</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Mechanical: Knowledge criteria</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1.9</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Explain market pull and technology push.</a:t>
            </a:r>
          </a:p>
        </p:txBody>
      </p:sp>
      <p:sp>
        <p:nvSpPr>
          <p:cNvPr id="9" name="Oval 8"/>
          <p:cNvSpPr/>
          <p:nvPr/>
        </p:nvSpPr>
        <p:spPr>
          <a:xfrm>
            <a:off x="548640" y="327469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commercial and operational constraints on design.</a:t>
            </a:r>
          </a:p>
        </p:txBody>
      </p:sp>
      <p:sp>
        <p:nvSpPr>
          <p:cNvPr id="11" name="Oval 10"/>
          <p:cNvSpPr/>
          <p:nvPr/>
        </p:nvSpPr>
        <p:spPr>
          <a:xfrm>
            <a:off x="548640" y="431482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Calculate manufacturing cost and profit.</a:t>
            </a:r>
          </a:p>
        </p:txBody>
      </p:sp>
      <p:sp>
        <p:nvSpPr>
          <p:cNvPr id="13" name="Oval 12"/>
          <p:cNvSpPr/>
          <p:nvPr/>
        </p:nvSpPr>
        <p:spPr>
          <a:xfrm>
            <a:off x="548640" y="5354954"/>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Explain how commercial risk analysis affects design review.</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Was the smartphone created because people asked for it, or because the technology became possible?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Context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Market pull happens when customers create demand and designers respond to a known need, such as a lighter cordless drill.</a:t>
            </a:r>
          </a:p>
          <a:p>
            <a:pPr>
              <a:spcAft>
                <a:spcPts val="1320"/>
              </a:spcAft>
            </a:pPr>
            <a:r>
              <a:rPr sz="2200" b="0">
                <a:solidFill>
                  <a:srgbClr val="202122"/>
                </a:solidFill>
                <a:latin typeface="Calibri"/>
              </a:rPr>
              <a:t>Technology push happens when a new technology creates an opportunity and designers find a market for it, such as early 3D printers.</a:t>
            </a:r>
          </a:p>
          <a:p>
            <a:pPr>
              <a:spcAft>
                <a:spcPts val="1320"/>
              </a:spcAft>
            </a:pPr>
            <a:r>
              <a:rPr sz="2200" b="0">
                <a:solidFill>
                  <a:srgbClr val="202122"/>
                </a:solidFill>
                <a:latin typeface="Calibri"/>
              </a:rPr>
              <a:t>Context also includes commercial advantage, designing for reuse, planned obsolescence and sustainability. Constraints come from commercial factors (competition, profit), operational factors (tools, materials, process capability, skills), legal requirements and design for manufacture.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Customers wanted longer battery life (market pull); lithium-ion technology made it possible (technology push).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Context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Market pull</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Customers create demand</a:t>
            </a:r>
          </a:p>
          <a:p>
            <a:pPr marL="274320" indent="-274320">
              <a:spcAft>
                <a:spcPts val="990"/>
              </a:spcAft>
              <a:buClr>
                <a:srgbClr val="0645AD"/>
              </a:buClr>
              <a:buFont typeface="Arial"/>
              <a:buChar char="•"/>
            </a:pPr>
            <a:r>
              <a:rPr sz="2200" b="0">
                <a:solidFill>
                  <a:srgbClr val="202122"/>
                </a:solidFill>
                <a:latin typeface="Calibri"/>
              </a:rPr>
              <a:t>Designs respond to a known need</a:t>
            </a:r>
          </a:p>
          <a:p>
            <a:pPr marL="274320" indent="-274320">
              <a:spcAft>
                <a:spcPts val="990"/>
              </a:spcAft>
              <a:buClr>
                <a:srgbClr val="0645AD"/>
              </a:buClr>
              <a:buFont typeface="Arial"/>
              <a:buChar char="•"/>
            </a:pPr>
            <a:r>
              <a:rPr sz="2200" b="0">
                <a:solidFill>
                  <a:srgbClr val="202122"/>
                </a:solidFill>
                <a:latin typeface="Calibri"/>
              </a:rPr>
              <a:t>e.g. a lighter power tool</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Technology push</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New technology creates the opportunity</a:t>
            </a:r>
          </a:p>
          <a:p>
            <a:pPr marL="274320" indent="-274320">
              <a:spcAft>
                <a:spcPts val="990"/>
              </a:spcAft>
              <a:buClr>
                <a:srgbClr val="0645AD"/>
              </a:buClr>
              <a:buFont typeface="Arial"/>
              <a:buChar char="•"/>
            </a:pPr>
            <a:r>
              <a:rPr sz="2200" b="0">
                <a:solidFill>
                  <a:srgbClr val="202122"/>
                </a:solidFill>
                <a:latin typeface="Calibri"/>
              </a:rPr>
              <a:t>Designs find a market for it</a:t>
            </a:r>
          </a:p>
          <a:p>
            <a:pPr marL="274320" indent="-274320">
              <a:spcAft>
                <a:spcPts val="990"/>
              </a:spcAft>
              <a:buClr>
                <a:srgbClr val="0645AD"/>
              </a:buClr>
              <a:buFont typeface="Arial"/>
              <a:buChar char="•"/>
            </a:pPr>
            <a:r>
              <a:rPr sz="2200" b="0">
                <a:solidFill>
                  <a:srgbClr val="202122"/>
                </a:solidFill>
                <a:latin typeface="Calibri"/>
              </a:rPr>
              <a:t>e.g. the first 3D printers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Context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market pull?</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technology push?</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an operational constraint.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Constraints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Commercial</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Competition and profitability.</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Operational</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Tools, equipment, materials, process capability, people and training.</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Legal</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Regulations and confidentiality.</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Manufacture</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Design for manufacture.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Cost and profit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Manufacturing cost per unit = materials + labour + overheads.</a:t>
            </a:r>
          </a:p>
          <a:p>
            <a:pPr>
              <a:spcAft>
                <a:spcPts val="1320"/>
              </a:spcAft>
            </a:pPr>
            <a:r>
              <a:rPr sz="2200" b="0">
                <a:solidFill>
                  <a:srgbClr val="202122"/>
                </a:solidFill>
                <a:latin typeface="Calibri"/>
              </a:rPr>
              <a:t>Materials are the raw stock and bought-in parts. Labour is the workers' time. Overheads are the running costs of the business (rent, energy, admin) shared across the products.</a:t>
            </a:r>
          </a:p>
          <a:p>
            <a:pPr>
              <a:spcAft>
                <a:spcPts val="1320"/>
              </a:spcAft>
            </a:pPr>
            <a:r>
              <a:rPr sz="2200" b="0">
                <a:solidFill>
                  <a:srgbClr val="202122"/>
                </a:solidFill>
                <a:latin typeface="Calibri"/>
              </a:rPr>
              <a:t>Profit per unit = selling price - manufacturing cost.</a:t>
            </a:r>
          </a:p>
          <a:p>
            <a:pPr>
              <a:spcAft>
                <a:spcPts val="1320"/>
              </a:spcAft>
            </a:pPr>
            <a:r>
              <a:rPr sz="2200" b="0">
                <a:solidFill>
                  <a:srgbClr val="202122"/>
                </a:solidFill>
                <a:latin typeface="Calibri"/>
              </a:rPr>
              <a:t>Design decisions, such as choice of material, number of parts and process, drive most of a product's cost, so commercial risk analysis is part of every design review.</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Materials 3 pounds + labour 4.50 + overheads 2.50 = 10 pounds. Selling at 14 pounds gives 4 pounds profit, a 40% margin on cost.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Cost and profit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graphicFrame>
        <p:nvGraphicFramePr>
          <p:cNvPr id="6" name="Table 5"/>
          <p:cNvGraphicFramePr>
            <a:graphicFrameLocks noGrp="1"/>
          </p:cNvGraphicFramePr>
          <p:nvPr/>
        </p:nvGraphicFramePr>
        <p:xfrm>
          <a:off x="548640" y="1600200"/>
          <a:ext cx="11094415" cy="3977638"/>
        </p:xfrm>
        <a:graphic>
          <a:graphicData uri="http://schemas.openxmlformats.org/drawingml/2006/table">
            <a:tbl>
              <a:tblPr firstRow="1" bandRow="1">
                <a:tableStyleId>{5C22544A-7EE6-4342-B048-85BDC9FD1C3A}</a:tableStyleId>
              </a:tblPr>
              <a:tblGrid>
                <a:gridCol w="5160193"/>
                <a:gridCol w="5934222"/>
              </a:tblGrid>
              <a:tr h="568234">
                <a:tc>
                  <a:txBody>
                    <a:bodyPr wrap="square"/>
                    <a:lstStyle/>
                    <a:p>
                      <a:r>
                        <a:rPr sz="1600" b="1">
                          <a:solidFill>
                            <a:srgbClr val="FFFFFF"/>
                          </a:solidFill>
                          <a:latin typeface="Calibri"/>
                        </a:rPr>
                        <a:t>Item</a:t>
                      </a:r>
                    </a:p>
                  </a:txBody>
                  <a:tcPr marL="91440" marR="91440" anchor="ctr">
                    <a:solidFill>
                      <a:srgbClr val="03306E"/>
                    </a:solidFill>
                  </a:tcPr>
                </a:tc>
                <a:tc>
                  <a:txBody>
                    <a:bodyPr wrap="square"/>
                    <a:lstStyle/>
                    <a:p>
                      <a:r>
                        <a:rPr sz="1600" b="1">
                          <a:solidFill>
                            <a:srgbClr val="FFFFFF"/>
                          </a:solidFill>
                          <a:latin typeface="Calibri"/>
                        </a:rPr>
                        <a:t>Example per unit</a:t>
                      </a:r>
                    </a:p>
                  </a:txBody>
                  <a:tcPr marL="91440" marR="91440" anchor="ctr">
                    <a:solidFill>
                      <a:srgbClr val="03306E"/>
                    </a:solidFill>
                  </a:tcPr>
                </a:tc>
              </a:tr>
              <a:tr h="568234">
                <a:tc>
                  <a:txBody>
                    <a:bodyPr wrap="square"/>
                    <a:lstStyle/>
                    <a:p>
                      <a:r>
                        <a:rPr sz="1600" b="1">
                          <a:solidFill>
                            <a:srgbClr val="03306E"/>
                          </a:solidFill>
                          <a:latin typeface="Calibri"/>
                        </a:rPr>
                        <a:t>Materials</a:t>
                      </a:r>
                    </a:p>
                  </a:txBody>
                  <a:tcPr marL="91440" marR="91440" anchor="ctr">
                    <a:solidFill>
                      <a:srgbClr val="FFFFFF"/>
                    </a:solidFill>
                  </a:tcPr>
                </a:tc>
                <a:tc>
                  <a:txBody>
                    <a:bodyPr wrap="square"/>
                    <a:lstStyle/>
                    <a:p>
                      <a:r>
                        <a:rPr sz="1600" b="0">
                          <a:solidFill>
                            <a:srgbClr val="202122"/>
                          </a:solidFill>
                          <a:latin typeface="Calibri"/>
                        </a:rPr>
                        <a:t>3.00 pounds</a:t>
                      </a:r>
                    </a:p>
                  </a:txBody>
                  <a:tcPr marL="91440" marR="91440" anchor="ctr">
                    <a:solidFill>
                      <a:srgbClr val="FFFFFF"/>
                    </a:solidFill>
                  </a:tcPr>
                </a:tc>
              </a:tr>
              <a:tr h="568234">
                <a:tc>
                  <a:txBody>
                    <a:bodyPr wrap="square"/>
                    <a:lstStyle/>
                    <a:p>
                      <a:r>
                        <a:rPr sz="1600" b="1">
                          <a:solidFill>
                            <a:srgbClr val="03306E"/>
                          </a:solidFill>
                          <a:latin typeface="Calibri"/>
                        </a:rPr>
                        <a:t>Labour</a:t>
                      </a:r>
                    </a:p>
                  </a:txBody>
                  <a:tcPr marL="91440" marR="91440" anchor="ctr">
                    <a:solidFill>
                      <a:srgbClr val="EAF3FF"/>
                    </a:solidFill>
                  </a:tcPr>
                </a:tc>
                <a:tc>
                  <a:txBody>
                    <a:bodyPr wrap="square"/>
                    <a:lstStyle/>
                    <a:p>
                      <a:r>
                        <a:rPr sz="1600" b="0">
                          <a:solidFill>
                            <a:srgbClr val="202122"/>
                          </a:solidFill>
                          <a:latin typeface="Calibri"/>
                        </a:rPr>
                        <a:t>4.50 pounds</a:t>
                      </a:r>
                    </a:p>
                  </a:txBody>
                  <a:tcPr marL="91440" marR="91440" anchor="ctr">
                    <a:solidFill>
                      <a:srgbClr val="EAF3FF"/>
                    </a:solidFill>
                  </a:tcPr>
                </a:tc>
              </a:tr>
              <a:tr h="568234">
                <a:tc>
                  <a:txBody>
                    <a:bodyPr wrap="square"/>
                    <a:lstStyle/>
                    <a:p>
                      <a:r>
                        <a:rPr sz="1600" b="1">
                          <a:solidFill>
                            <a:srgbClr val="03306E"/>
                          </a:solidFill>
                          <a:latin typeface="Calibri"/>
                        </a:rPr>
                        <a:t>Overheads</a:t>
                      </a:r>
                    </a:p>
                  </a:txBody>
                  <a:tcPr marL="91440" marR="91440" anchor="ctr">
                    <a:solidFill>
                      <a:srgbClr val="FFFFFF"/>
                    </a:solidFill>
                  </a:tcPr>
                </a:tc>
                <a:tc>
                  <a:txBody>
                    <a:bodyPr wrap="square"/>
                    <a:lstStyle/>
                    <a:p>
                      <a:r>
                        <a:rPr sz="1600" b="0">
                          <a:solidFill>
                            <a:srgbClr val="202122"/>
                          </a:solidFill>
                          <a:latin typeface="Calibri"/>
                        </a:rPr>
                        <a:t>2.50 pounds</a:t>
                      </a:r>
                    </a:p>
                  </a:txBody>
                  <a:tcPr marL="91440" marR="91440" anchor="ctr">
                    <a:solidFill>
                      <a:srgbClr val="FFFFFF"/>
                    </a:solidFill>
                  </a:tcPr>
                </a:tc>
              </a:tr>
              <a:tr h="568234">
                <a:tc>
                  <a:txBody>
                    <a:bodyPr wrap="square"/>
                    <a:lstStyle/>
                    <a:p>
                      <a:r>
                        <a:rPr sz="1600" b="1">
                          <a:solidFill>
                            <a:srgbClr val="03306E"/>
                          </a:solidFill>
                          <a:latin typeface="Calibri"/>
                        </a:rPr>
                        <a:t>Total manufacturing cost</a:t>
                      </a:r>
                    </a:p>
                  </a:txBody>
                  <a:tcPr marL="91440" marR="91440" anchor="ctr">
                    <a:solidFill>
                      <a:srgbClr val="EAF3FF"/>
                    </a:solidFill>
                  </a:tcPr>
                </a:tc>
                <a:tc>
                  <a:txBody>
                    <a:bodyPr wrap="square"/>
                    <a:lstStyle/>
                    <a:p>
                      <a:r>
                        <a:rPr sz="1600" b="0">
                          <a:solidFill>
                            <a:srgbClr val="202122"/>
                          </a:solidFill>
                          <a:latin typeface="Calibri"/>
                        </a:rPr>
                        <a:t>10.00 pounds</a:t>
                      </a:r>
                    </a:p>
                  </a:txBody>
                  <a:tcPr marL="91440" marR="91440" anchor="ctr">
                    <a:solidFill>
                      <a:srgbClr val="EAF3FF"/>
                    </a:solidFill>
                  </a:tcPr>
                </a:tc>
              </a:tr>
              <a:tr h="568234">
                <a:tc>
                  <a:txBody>
                    <a:bodyPr wrap="square"/>
                    <a:lstStyle/>
                    <a:p>
                      <a:r>
                        <a:rPr sz="1600" b="1">
                          <a:solidFill>
                            <a:srgbClr val="03306E"/>
                          </a:solidFill>
                          <a:latin typeface="Calibri"/>
                        </a:rPr>
                        <a:t>Selling price</a:t>
                      </a:r>
                    </a:p>
                  </a:txBody>
                  <a:tcPr marL="91440" marR="91440" anchor="ctr">
                    <a:solidFill>
                      <a:srgbClr val="FFFFFF"/>
                    </a:solidFill>
                  </a:tcPr>
                </a:tc>
                <a:tc>
                  <a:txBody>
                    <a:bodyPr wrap="square"/>
                    <a:lstStyle/>
                    <a:p>
                      <a:r>
                        <a:rPr sz="1600" b="0">
                          <a:solidFill>
                            <a:srgbClr val="202122"/>
                          </a:solidFill>
                          <a:latin typeface="Calibri"/>
                        </a:rPr>
                        <a:t>14.00 pounds</a:t>
                      </a:r>
                    </a:p>
                  </a:txBody>
                  <a:tcPr marL="91440" marR="91440" anchor="ctr">
                    <a:solidFill>
                      <a:srgbClr val="FFFFFF"/>
                    </a:solidFill>
                  </a:tcPr>
                </a:tc>
              </a:tr>
              <a:tr h="568234">
                <a:tc>
                  <a:txBody>
                    <a:bodyPr wrap="square"/>
                    <a:lstStyle/>
                    <a:p>
                      <a:r>
                        <a:rPr sz="1600" b="1">
                          <a:solidFill>
                            <a:srgbClr val="03306E"/>
                          </a:solidFill>
                          <a:latin typeface="Calibri"/>
                        </a:rPr>
                        <a:t>Profit per unit</a:t>
                      </a:r>
                    </a:p>
                  </a:txBody>
                  <a:tcPr marL="91440" marR="91440" anchor="ctr">
                    <a:solidFill>
                      <a:srgbClr val="EAF3FF"/>
                    </a:solidFill>
                  </a:tcPr>
                </a:tc>
                <a:tc>
                  <a:txBody>
                    <a:bodyPr wrap="square"/>
                    <a:lstStyle/>
                    <a:p>
                      <a:r>
                        <a:rPr sz="1600" b="0">
                          <a:solidFill>
                            <a:srgbClr val="202122"/>
                          </a:solidFill>
                          <a:latin typeface="Calibri"/>
                        </a:rPr>
                        <a:t>4.00 pounds</a:t>
                      </a:r>
                    </a:p>
                  </a:txBody>
                  <a:tcPr marL="91440" marR="91440" anchor="ctr">
                    <a:solidFill>
                      <a:srgbClr val="EAF3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Metrics: budget, cost, profit and time. Commercial risk analysis feeds project design reviews.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Cost and profit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the three parts of manufacturing cost.</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Cost 12 pounds, price 15 pounds. Profit per unit?</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do design decisions affect cost so much?</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Is a customer-requested feature market pull or technology push?</a:t>
            </a:r>
          </a:p>
        </p:txBody>
      </p:sp>
      <p:sp>
        <p:nvSpPr>
          <p:cNvPr id="8" name="Oval 7"/>
          <p:cNvSpPr/>
          <p:nvPr/>
        </p:nvSpPr>
        <p:spPr>
          <a:xfrm>
            <a:off x="548640" y="2814066"/>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Name the three parts of manufacturing cost.</a:t>
            </a:r>
          </a:p>
        </p:txBody>
      </p:sp>
      <p:sp>
        <p:nvSpPr>
          <p:cNvPr id="10" name="Oval 9"/>
          <p:cNvSpPr/>
          <p:nvPr/>
        </p:nvSpPr>
        <p:spPr>
          <a:xfrm>
            <a:off x="548640" y="4009644"/>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A part costs 8 pounds to make and sells for 11. Profit per unit?</a:t>
            </a:r>
          </a:p>
        </p:txBody>
      </p:sp>
      <p:sp>
        <p:nvSpPr>
          <p:cNvPr id="12" name="Oval 11"/>
          <p:cNvSpPr/>
          <p:nvPr/>
        </p:nvSpPr>
        <p:spPr>
          <a:xfrm>
            <a:off x="548640" y="5205221"/>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Give one operational constraint.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Is a customer-requested feature market pull or technology push?</a:t>
            </a:r>
          </a:p>
          <a:p>
            <a:r>
              <a:rPr sz="1800" b="1">
                <a:solidFill>
                  <a:srgbClr val="03306E"/>
                </a:solidFill>
                <a:latin typeface="Calibri"/>
              </a:rPr>
              <a:t>Market pull.</a:t>
            </a:r>
          </a:p>
        </p:txBody>
      </p:sp>
      <p:sp>
        <p:nvSpPr>
          <p:cNvPr id="8" name="Oval 7"/>
          <p:cNvSpPr/>
          <p:nvPr/>
        </p:nvSpPr>
        <p:spPr>
          <a:xfrm>
            <a:off x="548640" y="2814066"/>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Name the three parts of manufacturing cost.</a:t>
            </a:r>
          </a:p>
          <a:p>
            <a:r>
              <a:rPr sz="1800" b="1">
                <a:solidFill>
                  <a:srgbClr val="03306E"/>
                </a:solidFill>
                <a:latin typeface="Calibri"/>
              </a:rPr>
              <a:t>Materials, labour, overheads.</a:t>
            </a:r>
          </a:p>
        </p:txBody>
      </p:sp>
      <p:sp>
        <p:nvSpPr>
          <p:cNvPr id="10" name="Oval 9"/>
          <p:cNvSpPr/>
          <p:nvPr/>
        </p:nvSpPr>
        <p:spPr>
          <a:xfrm>
            <a:off x="548640" y="4009644"/>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A part costs 8 pounds to make and sells for 11. Profit per unit?</a:t>
            </a:r>
          </a:p>
          <a:p>
            <a:r>
              <a:rPr sz="1800" b="1">
                <a:solidFill>
                  <a:srgbClr val="03306E"/>
                </a:solidFill>
                <a:latin typeface="Calibri"/>
              </a:rPr>
              <a:t>3 pounds.</a:t>
            </a:r>
          </a:p>
        </p:txBody>
      </p:sp>
      <p:sp>
        <p:nvSpPr>
          <p:cNvPr id="12" name="Oval 11"/>
          <p:cNvSpPr/>
          <p:nvPr/>
        </p:nvSpPr>
        <p:spPr>
          <a:xfrm>
            <a:off x="548640" y="5205221"/>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Give one operational constraint.</a:t>
            </a:r>
          </a:p>
          <a:p>
            <a:r>
              <a:rPr sz="1800" b="1">
                <a:solidFill>
                  <a:srgbClr val="03306E"/>
                </a:solidFill>
                <a:latin typeface="Calibri"/>
              </a:rPr>
              <a:t>E.g. tools, equipment, process capability, 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Cost a design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Business Context, Constraints and Metrics in Design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508760"/>
            <a:ext cx="2011680" cy="457200"/>
          </a:xfrm>
          <a:prstGeom prst="roundRect">
            <a:avLst>
              <a:gd name="adj" fmla="val 50000"/>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FFFFFF"/>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Use the material and labour data from your teacher for a steel bracket.</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Calculate the total manufacturing cost per unit.</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Set a selling price for a 25% profit margin.</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Identify one constraint and how to overcome it.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All three cost elements included</a:t>
            </a:r>
          </a:p>
          <a:p>
            <a:pPr marL="274320" indent="-274320">
              <a:spcAft>
                <a:spcPts val="810"/>
              </a:spcAft>
              <a:buClr>
                <a:srgbClr val="0645AD"/>
              </a:buClr>
              <a:buFont typeface="Arial"/>
              <a:buChar char="•"/>
            </a:pPr>
            <a:r>
              <a:rPr sz="1800" b="0">
                <a:solidFill>
                  <a:srgbClr val="202122"/>
                </a:solidFill>
                <a:latin typeface="Calibri"/>
              </a:rPr>
              <a:t>Price calculation correct</a:t>
            </a:r>
          </a:p>
          <a:p>
            <a:pPr marL="274320" indent="-274320">
              <a:spcAft>
                <a:spcPts val="810"/>
              </a:spcAft>
              <a:buClr>
                <a:srgbClr val="0645AD"/>
              </a:buClr>
              <a:buFont typeface="Arial"/>
              <a:buChar char="•"/>
            </a:pPr>
            <a:r>
              <a:rPr sz="1800" b="0">
                <a:solidFill>
                  <a:srgbClr val="202122"/>
                </a:solidFill>
                <a:latin typeface="Calibri"/>
              </a:rPr>
              <a:t>Constraint solution realistic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an example of technology push.</a:t>
            </a:r>
          </a:p>
        </p:txBody>
      </p:sp>
      <p:sp>
        <p:nvSpPr>
          <p:cNvPr id="6" name="Oval 5"/>
          <p:cNvSpPr/>
          <p:nvPr/>
        </p:nvSpPr>
        <p:spPr>
          <a:xfrm>
            <a:off x="548640" y="26974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might a company accept a lower profit?</a:t>
            </a:r>
          </a:p>
        </p:txBody>
      </p:sp>
      <p:sp>
        <p:nvSpPr>
          <p:cNvPr id="8" name="Oval 7"/>
          <p:cNvSpPr/>
          <p:nvPr/>
        </p:nvSpPr>
        <p:spPr>
          <a:xfrm>
            <a:off x="548640" y="365760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How can a constraint be overcome?</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Knowledge Criteria</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https://lana6478.github.io/T-level-Design-Development-Engineering-Manufacturing/#/02-occupational-specialism/01-knowledge-criteria.md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Context, Constraints and Metrics in Design</dc:title>
  <dc:subject>Design and Development for Engineering and Manufacturing T Level: Mechanical: Knowledge criteria</dc:subject>
  <dc:creator>Samuel O'Connell</dc:creator>
  <cp:keywords>T Level; Design and Development for Engineering and Manufacturing; lesson slides; 1.9</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